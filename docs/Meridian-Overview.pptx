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p:scale>
          <a:sx n="63" d="100"/>
          <a:sy n="63" d="100"/>
        </p:scale>
        <p:origin x="780"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181997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"This is Meridian — a working storefront we built on top of Salesforce, using Claude. The point of the demo is the PATTERN, not the coffee: Salesforce stays the system of record, the storefront is a fast modern web app, and a thin middleware connects them securely. Everything you'll see was built and verified against a real Salesforce org." Keep it to ~30 seconds, then move 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about 15 minutes of context, then a live demo where you can ask questions. Tell them the demo is the payoff — they'll see an order move through Salesforce and update the storefront in real time.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"headless/decoupled" in plain words: normally people think Salesforce commerce = Commerce Cloud. This shows you don't need that to start — you keep Salesforce as the brain, and put a best-of-breed experience in front of it. Meridian (a single-origin coffee DTC store) is just our reference build to make it concrete.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Browser: the UI, no secrets, one data module. Middleware (the "BFF" — backend-for-frontend): the only thing that knows the Salesforce credentials; it validates and computes money server-side so the client can't be trusted with prices. Salesforce: the Connected App uses OAuth Client Credentials — a server-to-server login, no user password. Key line: the same code runs fully offline in "mock" mode, so we can develop and demo without a live org, and flip one switch to go live.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audience cares this isn't a bolt-on schema — and the standard-first story only gets stronger. Almost everything is STANDARD Salesforce: Product2/Pricebook, Order/OrderItem, and now a standard OrderSummary (Order Management) per order that rolls up shipping and sales tax; Person Accounts for B2C identity; Case/CaseComment for support. Even things we once kept custom are standard now — Wishlist/WishlistItem, ContactPointAddress, and Coupon/Promotion. The ONLY custom object left is Product Reviews (no standard fit), plus a few justified Order fields. One script, one permission set provisions it all.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Stakeholders always ask about security, so lead with it. The pattern is "secure by construction": secrets never leave the server, the browser holds no tokens it can leak, and anything that involves money or trust is decided server-side against Salesforce. Call out the two customer-facing privacy guards: guest order tracking can't be brute-forced, and support ticket internal notes never reach the customer.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Narrate the lifecycle. When a shopper pays, we compute totals — including sales tax — server-side, take payment, then create a real Order in Salesforce (Draft, immediately Activated = paid) AND a standard OrderSummary that rolls up the product, shipping and tax amounts. From there the MERCHANT drives it in Salesforce — Status to Shipped, then Completed — and the storefront just reads Status back. The three chips are the trust points: money and stock are server-side, and payment is taken before the order is ever written.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are the "wow" of the demo. Person Accounts: the native Salesforce B2C model — one record that is both Account and Contact — so each shopper is a first-class customer. Live tracking: we enabled Change Data Capture on Order; when a merchant changes the status in Salesforce, that event streams to the browser over SSE and the page updates in real time. You'll literally watch it happen in the demo.</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Don't read every tile — scan a few and say 'sixteen features, each standard-first and each tested.' Call out the Salesforce depth: a standard OrderSummary per order (Order Management) with sales tax; live order tracking (CDC to SSE); support (Case + CaseComment); and the standard-first wins — Wishlist, saved addresses (ContactPointAddress) and promo codes (Coupon/Promotion) are all standard objects now, with Product Reviews the one custom object. Fully keyboard/screen-reader accessible, SEO, and a green end-to-end suite.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reframes "AI-built" from a risk into a strength. The workflow has guardrails a senior engineer would recognise: plans are approved up front, everything is verified against a REAL Salesforce org (not mocked-and-hoped), and nothing is committed unless tests, lint and build pass. The result is speed WITH an audit trail — plans, tests, docs and one clean commit per feature.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stakeholder pitch. The value isn't "a coffee site" — it's a repeatable way to put a great experience in front of Salesforce for many scenarios (storefront, self-service portal, partner ordering, internal catalog), for B2C or B2B, without committing to Commerce Cloud on day one. And AI makes delivering it dramatically faster. Read the four tags as "front doors onto the same Salesforce back end."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the live demo (use the demo script for the click-by-click). The one moment to nail: change an order's status in Salesforce and let the audience watch the storefront update on its own. Close on "next": this is a foundation — subscriptions, generative AI when the org is entitled, more channels, and production payments are all natural next steps.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0F11"/>
        </a:solidFill>
        <a:effectLst/>
      </p:bgPr>
    </p:bg>
    <p:spTree>
      <p:nvGrpSpPr>
        <p:cNvPr id="1" name=""/>
        <p:cNvGrpSpPr/>
        <p:nvPr/>
      </p:nvGrpSpPr>
      <p:grpSpPr>
        <a:xfrm>
          <a:off x="0" y="0"/>
          <a:ext cx="0" cy="0"/>
          <a:chOff x="0" y="0"/>
          <a:chExt cx="0" cy="0"/>
        </a:xfrm>
      </p:grpSpPr>
      <p:sp>
        <p:nvSpPr>
          <p:cNvPr id="2" name="Shape 0"/>
          <p:cNvSpPr/>
          <p:nvPr/>
        </p:nvSpPr>
        <p:spPr>
          <a:xfrm>
            <a:off x="0" y="0"/>
            <a:ext cx="4754880" cy="6858000"/>
          </a:xfrm>
          <a:prstGeom prst="rect">
            <a:avLst/>
          </a:prstGeom>
          <a:solidFill>
            <a:srgbClr val="111611"/>
          </a:solidFill>
          <a:ln/>
        </p:spPr>
        <p:txBody>
          <a:bodyPr/>
          <a:lstStyle/>
          <a:p>
            <a:endParaRPr lang="en-US"/>
          </a:p>
        </p:txBody>
      </p:sp>
      <p:sp>
        <p:nvSpPr>
          <p:cNvPr id="3" name="Text 1"/>
          <p:cNvSpPr/>
          <p:nvPr/>
        </p:nvSpPr>
        <p:spPr>
          <a:xfrm>
            <a:off x="566928" y="1371600"/>
            <a:ext cx="10058400" cy="365760"/>
          </a:xfrm>
          <a:prstGeom prst="rect">
            <a:avLst/>
          </a:prstGeom>
          <a:noFill/>
          <a:ln/>
        </p:spPr>
        <p:txBody>
          <a:bodyPr wrap="square" rtlCol="0" anchor="ctr"/>
          <a:lstStyle/>
          <a:p>
            <a:pPr marL="0" indent="0">
              <a:buNone/>
            </a:pPr>
            <a:r>
              <a:rPr lang="en-US" sz="1200" b="1" kern="0" spc="300" dirty="0">
                <a:solidFill>
                  <a:srgbClr val="86BC25"/>
                </a:solidFill>
                <a:latin typeface="Arial" pitchFamily="34" charset="0"/>
                <a:ea typeface="Arial" pitchFamily="34" charset="-122"/>
                <a:cs typeface="Arial" pitchFamily="34" charset="-120"/>
              </a:rPr>
              <a:t>SALESFORCE-POWERED COMMERCE · BUILT WITH CLAUDE</a:t>
            </a:r>
            <a:endParaRPr lang="en-US" sz="1200" dirty="0"/>
          </a:p>
        </p:txBody>
      </p:sp>
      <p:sp>
        <p:nvSpPr>
          <p:cNvPr id="4" name="Text 2"/>
          <p:cNvSpPr/>
          <p:nvPr/>
        </p:nvSpPr>
        <p:spPr>
          <a:xfrm>
            <a:off x="566928" y="1828800"/>
            <a:ext cx="10058400" cy="1737360"/>
          </a:xfrm>
          <a:prstGeom prst="rect">
            <a:avLst/>
          </a:prstGeom>
          <a:noFill/>
          <a:ln/>
        </p:spPr>
        <p:txBody>
          <a:bodyPr wrap="square" rtlCol="0" anchor="ctr"/>
          <a:lstStyle/>
          <a:p>
            <a:pPr marL="0" indent="0">
              <a:buNone/>
            </a:pPr>
            <a:r>
              <a:rPr lang="en-US" sz="8400" b="1" dirty="0">
                <a:solidFill>
                  <a:srgbClr val="F3F4F1"/>
                </a:solidFill>
                <a:latin typeface="Arial" pitchFamily="34" charset="0"/>
                <a:ea typeface="Arial" pitchFamily="34" charset="-122"/>
                <a:cs typeface="Arial" pitchFamily="34" charset="-120"/>
              </a:rPr>
              <a:t>Meridian</a:t>
            </a:r>
            <a:r>
              <a:rPr lang="en-US" sz="8400" b="1" dirty="0">
                <a:solidFill>
                  <a:srgbClr val="86BC25"/>
                </a:solidFill>
                <a:latin typeface="Arial" pitchFamily="34" charset="0"/>
                <a:ea typeface="Arial" pitchFamily="34" charset="-122"/>
                <a:cs typeface="Arial" pitchFamily="34" charset="-120"/>
              </a:rPr>
              <a:t>.</a:t>
            </a:r>
            <a:endParaRPr lang="en-US" sz="8400" dirty="0"/>
          </a:p>
        </p:txBody>
      </p:sp>
      <p:sp>
        <p:nvSpPr>
          <p:cNvPr id="5" name="Text 3"/>
          <p:cNvSpPr/>
          <p:nvPr/>
        </p:nvSpPr>
        <p:spPr>
          <a:xfrm>
            <a:off x="566928" y="3611880"/>
            <a:ext cx="8778240" cy="914400"/>
          </a:xfrm>
          <a:prstGeom prst="rect">
            <a:avLst/>
          </a:prstGeom>
          <a:noFill/>
          <a:ln/>
        </p:spPr>
        <p:txBody>
          <a:bodyPr wrap="square" rtlCol="0" anchor="t"/>
          <a:lstStyle/>
          <a:p>
            <a:pPr marL="0" indent="0">
              <a:lnSpc>
                <a:spcPct val="120000"/>
              </a:lnSpc>
              <a:buNone/>
            </a:pPr>
            <a:r>
              <a:rPr lang="en-US" sz="2200" dirty="0">
                <a:solidFill>
                  <a:srgbClr val="C4C8C0"/>
                </a:solidFill>
                <a:latin typeface="Arial" pitchFamily="34" charset="0"/>
                <a:ea typeface="Arial" pitchFamily="34" charset="-122"/>
                <a:cs typeface="Arial" pitchFamily="34" charset="-120"/>
              </a:rPr>
              <a:t>A modern storefront with </a:t>
            </a:r>
            <a:r>
              <a:rPr lang="en-US" sz="2200" b="1" dirty="0">
                <a:solidFill>
                  <a:srgbClr val="F3F4F1"/>
                </a:solidFill>
                <a:latin typeface="Arial" pitchFamily="34" charset="0"/>
                <a:ea typeface="Arial" pitchFamily="34" charset="-122"/>
                <a:cs typeface="Arial" pitchFamily="34" charset="-120"/>
              </a:rPr>
              <a:t>Salesforce as the system of record</a:t>
            </a:r>
            <a:r>
              <a:rPr lang="en-US" sz="2200" dirty="0">
                <a:solidFill>
                  <a:srgbClr val="C4C8C0"/>
                </a:solidFill>
                <a:latin typeface="Arial" pitchFamily="34" charset="0"/>
                <a:ea typeface="Arial" pitchFamily="34" charset="-122"/>
                <a:cs typeface="Arial" pitchFamily="34" charset="-120"/>
              </a:rPr>
              <a:t> — a decoupled commerce pattern.</a:t>
            </a:r>
            <a:endParaRPr lang="en-US" sz="2200" dirty="0"/>
          </a:p>
        </p:txBody>
      </p:sp>
      <p:sp>
        <p:nvSpPr>
          <p:cNvPr id="6" name="Text 4"/>
          <p:cNvSpPr/>
          <p:nvPr/>
        </p:nvSpPr>
        <p:spPr>
          <a:xfrm>
            <a:off x="566928" y="4526280"/>
            <a:ext cx="8229600" cy="365760"/>
          </a:xfrm>
          <a:prstGeom prst="rect">
            <a:avLst/>
          </a:prstGeom>
          <a:noFill/>
          <a:ln/>
        </p:spPr>
        <p:txBody>
          <a:bodyPr wrap="square" rtlCol="0" anchor="ctr"/>
          <a:lstStyle/>
          <a:p>
            <a:pPr marL="0" indent="0">
              <a:buNone/>
            </a:pPr>
            <a:r>
              <a:rPr lang="en-US" sz="1400" i="1" dirty="0">
                <a:solidFill>
                  <a:srgbClr val="8E948B"/>
                </a:solidFill>
                <a:latin typeface="Arial" pitchFamily="34" charset="0"/>
                <a:ea typeface="Arial" pitchFamily="34" charset="-122"/>
                <a:cs typeface="Arial" pitchFamily="34" charset="-120"/>
              </a:rPr>
              <a:t>“Single-origin coffee, roasted to its coordinates.”</a:t>
            </a:r>
            <a:endParaRPr lang="en-US" sz="1400" dirty="0"/>
          </a:p>
        </p:txBody>
      </p:sp>
      <p:sp>
        <p:nvSpPr>
          <p:cNvPr id="7" name="Shape 5"/>
          <p:cNvSpPr/>
          <p:nvPr/>
        </p:nvSpPr>
        <p:spPr>
          <a:xfrm>
            <a:off x="566928" y="5623560"/>
            <a:ext cx="11057839" cy="0"/>
          </a:xfrm>
          <a:prstGeom prst="line">
            <a:avLst/>
          </a:prstGeom>
          <a:noFill/>
          <a:ln w="12700">
            <a:solidFill>
              <a:srgbClr val="2C2F34"/>
            </a:solidFill>
            <a:prstDash val="solid"/>
          </a:ln>
        </p:spPr>
        <p:txBody>
          <a:bodyPr/>
          <a:lstStyle/>
          <a:p>
            <a:endParaRPr lang="en-US"/>
          </a:p>
        </p:txBody>
      </p:sp>
      <p:sp>
        <p:nvSpPr>
          <p:cNvPr id="8" name="Text 6"/>
          <p:cNvSpPr/>
          <p:nvPr/>
        </p:nvSpPr>
        <p:spPr>
          <a:xfrm>
            <a:off x="566928" y="5806440"/>
            <a:ext cx="2743200" cy="365760"/>
          </a:xfrm>
          <a:prstGeom prst="rect">
            <a:avLst/>
          </a:prstGeom>
          <a:noFill/>
          <a:ln/>
        </p:spPr>
        <p:txBody>
          <a:bodyPr wrap="square" rtlCol="0" anchor="ctr"/>
          <a:lstStyle/>
          <a:p>
            <a:pPr marL="0" indent="0">
              <a:buNone/>
            </a:pPr>
            <a:r>
              <a:rPr lang="en-US" sz="2200" b="1" dirty="0">
                <a:solidFill>
                  <a:srgbClr val="F3F4F1"/>
                </a:solidFill>
                <a:latin typeface="Arial" pitchFamily="34" charset="0"/>
                <a:ea typeface="Arial" pitchFamily="34" charset="-122"/>
                <a:cs typeface="Arial" pitchFamily="34" charset="-120"/>
              </a:rPr>
              <a:t>Deloitte</a:t>
            </a:r>
            <a:r>
              <a:rPr lang="en-US" sz="2200" b="1" dirty="0">
                <a:solidFill>
                  <a:srgbClr val="86BC25"/>
                </a:solidFill>
                <a:latin typeface="Arial" pitchFamily="34" charset="0"/>
                <a:ea typeface="Arial" pitchFamily="34" charset="-122"/>
                <a:cs typeface="Arial" pitchFamily="34" charset="-120"/>
              </a:rPr>
              <a:t>.</a:t>
            </a:r>
            <a:endParaRPr lang="en-US" sz="2200" dirty="0"/>
          </a:p>
        </p:txBody>
      </p:sp>
      <p:sp>
        <p:nvSpPr>
          <p:cNvPr id="9" name="Text 7"/>
          <p:cNvSpPr/>
          <p:nvPr/>
        </p:nvSpPr>
        <p:spPr>
          <a:xfrm>
            <a:off x="7052767" y="5760720"/>
            <a:ext cx="4572000" cy="640080"/>
          </a:xfrm>
          <a:prstGeom prst="rect">
            <a:avLst/>
          </a:prstGeom>
          <a:noFill/>
          <a:ln/>
        </p:spPr>
        <p:txBody>
          <a:bodyPr wrap="square" rtlCol="0" anchor="ctr"/>
          <a:lstStyle/>
          <a:p>
            <a:pPr marL="0" indent="0" algn="r">
              <a:lnSpc>
                <a:spcPct val="120000"/>
              </a:lnSpc>
              <a:buNone/>
            </a:pPr>
            <a:r>
              <a:rPr lang="en-US" sz="1100" dirty="0">
                <a:solidFill>
                  <a:srgbClr val="8E948B"/>
                </a:solidFill>
                <a:latin typeface="Arial" pitchFamily="34" charset="0"/>
                <a:ea typeface="Arial" pitchFamily="34" charset="-122"/>
                <a:cs typeface="Arial" pitchFamily="34" charset="-120"/>
              </a:rPr>
              <a:t>Internal enablement demo</a:t>
            </a:r>
            <a:endParaRPr lang="en-US" sz="1100" dirty="0"/>
          </a:p>
          <a:p>
            <a:pPr marL="0" indent="0" algn="r">
              <a:lnSpc>
                <a:spcPct val="120000"/>
              </a:lnSpc>
              <a:buNone/>
            </a:pPr>
            <a:r>
              <a:rPr lang="en-US" sz="1100" dirty="0">
                <a:solidFill>
                  <a:srgbClr val="8E948B"/>
                </a:solidFill>
                <a:latin typeface="Arial" pitchFamily="34" charset="0"/>
                <a:ea typeface="Arial" pitchFamily="34" charset="-122"/>
                <a:cs typeface="Arial" pitchFamily="34" charset="-120"/>
              </a:rPr>
              <a:t>Storefront · Connected App · AI-built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0F11"/>
        </a:solidFill>
        <a:effectLst/>
      </p:bgPr>
    </p:bg>
    <p:spTree>
      <p:nvGrpSpPr>
        <p:cNvPr id="1" name=""/>
        <p:cNvGrpSpPr/>
        <p:nvPr/>
      </p:nvGrpSpPr>
      <p:grpSpPr>
        <a:xfrm>
          <a:off x="0" y="0"/>
          <a:ext cx="0" cy="0"/>
          <a:chOff x="0" y="0"/>
          <a:chExt cx="0" cy="0"/>
        </a:xfrm>
      </p:grpSpPr>
      <p:sp>
        <p:nvSpPr>
          <p:cNvPr id="2" name="Text 0"/>
          <p:cNvSpPr/>
          <p:nvPr/>
        </p:nvSpPr>
        <p:spPr>
          <a:xfrm>
            <a:off x="566928" y="384048"/>
            <a:ext cx="7315200" cy="320040"/>
          </a:xfrm>
          <a:prstGeom prst="rect">
            <a:avLst/>
          </a:prstGeom>
          <a:noFill/>
          <a:ln/>
        </p:spPr>
        <p:txBody>
          <a:bodyPr wrap="square" rtlCol="0" anchor="ctr"/>
          <a:lstStyle/>
          <a:p>
            <a:pPr marL="0" indent="0">
              <a:buNone/>
            </a:pPr>
            <a:r>
              <a:rPr lang="en-US" sz="1100" b="1" kern="0" spc="300" dirty="0">
                <a:solidFill>
                  <a:srgbClr val="86BC25"/>
                </a:solidFill>
                <a:latin typeface="Arial" pitchFamily="34" charset="0"/>
                <a:ea typeface="Arial" pitchFamily="34" charset="-122"/>
                <a:cs typeface="Arial" pitchFamily="34" charset="-120"/>
              </a:rPr>
              <a:t>AGENDA</a:t>
            </a:r>
            <a:endParaRPr lang="en-US" sz="1100" dirty="0"/>
          </a:p>
        </p:txBody>
      </p:sp>
      <p:sp>
        <p:nvSpPr>
          <p:cNvPr id="3" name="Text 1"/>
          <p:cNvSpPr/>
          <p:nvPr/>
        </p:nvSpPr>
        <p:spPr>
          <a:xfrm>
            <a:off x="8881567" y="365760"/>
            <a:ext cx="2743200" cy="365760"/>
          </a:xfrm>
          <a:prstGeom prst="rect">
            <a:avLst/>
          </a:prstGeom>
          <a:noFill/>
          <a:ln/>
        </p:spPr>
        <p:txBody>
          <a:bodyPr wrap="square" rtlCol="0" anchor="ctr"/>
          <a:lstStyle/>
          <a:p>
            <a:pPr marL="0" indent="0" algn="r">
              <a:buNone/>
            </a:pPr>
            <a:r>
              <a:rPr lang="en-US" sz="1500" b="1" dirty="0">
                <a:solidFill>
                  <a:srgbClr val="F3F4F1"/>
                </a:solidFill>
                <a:latin typeface="Arial" pitchFamily="34" charset="0"/>
                <a:ea typeface="Arial" pitchFamily="34" charset="-122"/>
                <a:cs typeface="Arial" pitchFamily="34" charset="-120"/>
              </a:rPr>
              <a:t>Deloitte</a:t>
            </a:r>
            <a:r>
              <a:rPr lang="en-US" sz="1500" b="1" dirty="0">
                <a:solidFill>
                  <a:srgbClr val="86BC25"/>
                </a:solidFill>
                <a:latin typeface="Arial" pitchFamily="34" charset="0"/>
                <a:ea typeface="Arial" pitchFamily="34" charset="-122"/>
                <a:cs typeface="Arial" pitchFamily="34" charset="-120"/>
              </a:rPr>
              <a:t>.</a:t>
            </a:r>
            <a:endParaRPr lang="en-US" sz="1500" dirty="0"/>
          </a:p>
        </p:txBody>
      </p:sp>
      <p:sp>
        <p:nvSpPr>
          <p:cNvPr id="4" name="Shape 2"/>
          <p:cNvSpPr/>
          <p:nvPr/>
        </p:nvSpPr>
        <p:spPr>
          <a:xfrm>
            <a:off x="566928" y="841248"/>
            <a:ext cx="11057839" cy="0"/>
          </a:xfrm>
          <a:prstGeom prst="line">
            <a:avLst/>
          </a:prstGeom>
          <a:noFill/>
          <a:ln w="12700">
            <a:solidFill>
              <a:srgbClr val="2C2F34"/>
            </a:solidFill>
            <a:prstDash val="solid"/>
          </a:ln>
        </p:spPr>
        <p:txBody>
          <a:bodyPr/>
          <a:lstStyle/>
          <a:p>
            <a:endParaRPr lang="en-US"/>
          </a:p>
        </p:txBody>
      </p:sp>
      <p:sp>
        <p:nvSpPr>
          <p:cNvPr id="5" name="Text 3"/>
          <p:cNvSpPr/>
          <p:nvPr/>
        </p:nvSpPr>
        <p:spPr>
          <a:xfrm>
            <a:off x="566928" y="1024128"/>
            <a:ext cx="11057839" cy="914400"/>
          </a:xfrm>
          <a:prstGeom prst="rect">
            <a:avLst/>
          </a:prstGeom>
          <a:noFill/>
          <a:ln/>
        </p:spPr>
        <p:txBody>
          <a:bodyPr wrap="square" rtlCol="0" anchor="t"/>
          <a:lstStyle/>
          <a:p>
            <a:pPr marL="0" indent="0" algn="l">
              <a:buNone/>
            </a:pPr>
            <a:r>
              <a:rPr lang="en-US" sz="3000" b="1" dirty="0">
                <a:solidFill>
                  <a:srgbClr val="F3F4F1"/>
                </a:solidFill>
                <a:latin typeface="Arial" pitchFamily="34" charset="0"/>
                <a:ea typeface="Arial" pitchFamily="34" charset="-122"/>
                <a:cs typeface="Arial" pitchFamily="34" charset="-120"/>
              </a:rPr>
              <a:t>What we’ll cover</a:t>
            </a:r>
            <a:endParaRPr lang="en-US" sz="3000" dirty="0"/>
          </a:p>
        </p:txBody>
      </p:sp>
      <p:sp>
        <p:nvSpPr>
          <p:cNvPr id="6" name="Shape 4"/>
          <p:cNvSpPr/>
          <p:nvPr/>
        </p:nvSpPr>
        <p:spPr>
          <a:xfrm>
            <a:off x="566928" y="6291072"/>
            <a:ext cx="11057839" cy="0"/>
          </a:xfrm>
          <a:prstGeom prst="line">
            <a:avLst/>
          </a:prstGeom>
          <a:noFill/>
          <a:ln w="12700">
            <a:solidFill>
              <a:srgbClr val="2C2F34"/>
            </a:solidFill>
            <a:prstDash val="solid"/>
          </a:ln>
        </p:spPr>
        <p:txBody>
          <a:bodyPr/>
          <a:lstStyle/>
          <a:p>
            <a:endParaRPr lang="en-US"/>
          </a:p>
        </p:txBody>
      </p:sp>
      <p:sp>
        <p:nvSpPr>
          <p:cNvPr id="7" name="Text 5"/>
          <p:cNvSpPr/>
          <p:nvPr/>
        </p:nvSpPr>
        <p:spPr>
          <a:xfrm>
            <a:off x="566928" y="6355080"/>
            <a:ext cx="8229600" cy="274320"/>
          </a:xfrm>
          <a:prstGeom prst="rect">
            <a:avLst/>
          </a:prstGeom>
          <a:noFill/>
          <a:ln/>
        </p:spPr>
        <p:txBody>
          <a:bodyPr wrap="square" rtlCol="0" anchor="ctr"/>
          <a:lstStyle/>
          <a:p>
            <a:pPr marL="0" indent="0">
              <a:buNone/>
            </a:pPr>
            <a:r>
              <a:rPr lang="en-US" sz="950" kern="0" spc="100" dirty="0">
                <a:solidFill>
                  <a:srgbClr val="8E948B"/>
                </a:solidFill>
                <a:latin typeface="Arial" pitchFamily="34" charset="0"/>
                <a:ea typeface="Arial" pitchFamily="34" charset="-122"/>
                <a:cs typeface="Arial" pitchFamily="34" charset="-120"/>
              </a:rPr>
              <a:t>~15 min walkthrough + live demo</a:t>
            </a:r>
            <a:endParaRPr lang="en-US" sz="950" dirty="0"/>
          </a:p>
        </p:txBody>
      </p:sp>
      <p:sp>
        <p:nvSpPr>
          <p:cNvPr id="8" name="Text 6"/>
          <p:cNvSpPr/>
          <p:nvPr/>
        </p:nvSpPr>
        <p:spPr>
          <a:xfrm>
            <a:off x="9795967" y="6355080"/>
            <a:ext cx="1828800" cy="274320"/>
          </a:xfrm>
          <a:prstGeom prst="rect">
            <a:avLst/>
          </a:prstGeom>
          <a:noFill/>
          <a:ln/>
        </p:spPr>
        <p:txBody>
          <a:bodyPr wrap="square" rtlCol="0" anchor="ctr"/>
          <a:lstStyle/>
          <a:p>
            <a:pPr marL="0" indent="0" algn="r">
              <a:buNone/>
            </a:pPr>
            <a:r>
              <a:rPr lang="en-US" sz="950" dirty="0">
                <a:solidFill>
                  <a:srgbClr val="8E948B"/>
                </a:solidFill>
                <a:latin typeface="Arial" pitchFamily="34" charset="0"/>
                <a:ea typeface="Arial" pitchFamily="34" charset="-122"/>
                <a:cs typeface="Arial" pitchFamily="34" charset="-120"/>
              </a:rPr>
              <a:t>2 / 12</a:t>
            </a:r>
            <a:endParaRPr lang="en-US" sz="950" dirty="0"/>
          </a:p>
        </p:txBody>
      </p:sp>
      <p:sp>
        <p:nvSpPr>
          <p:cNvPr id="9" name="Shape 7"/>
          <p:cNvSpPr/>
          <p:nvPr/>
        </p:nvSpPr>
        <p:spPr>
          <a:xfrm>
            <a:off x="566928" y="6748272"/>
            <a:ext cx="1842973" cy="45720"/>
          </a:xfrm>
          <a:prstGeom prst="rect">
            <a:avLst/>
          </a:prstGeom>
          <a:solidFill>
            <a:srgbClr val="86BC25"/>
          </a:solidFill>
          <a:ln/>
        </p:spPr>
        <p:txBody>
          <a:bodyPr/>
          <a:lstStyle/>
          <a:p>
            <a:endParaRPr lang="en-US"/>
          </a:p>
        </p:txBody>
      </p:sp>
      <p:sp>
        <p:nvSpPr>
          <p:cNvPr id="10" name="Shape 8"/>
          <p:cNvSpPr/>
          <p:nvPr/>
        </p:nvSpPr>
        <p:spPr>
          <a:xfrm>
            <a:off x="566928" y="2148840"/>
            <a:ext cx="5486400" cy="1051560"/>
          </a:xfrm>
          <a:prstGeom prst="roundRect">
            <a:avLst>
              <a:gd name="adj" fmla="val 5217"/>
            </a:avLst>
          </a:prstGeom>
          <a:solidFill>
            <a:srgbClr val="16181C"/>
          </a:solidFill>
          <a:ln w="12700">
            <a:solidFill>
              <a:srgbClr val="2C2F34"/>
            </a:solidFill>
            <a:prstDash val="solid"/>
          </a:ln>
        </p:spPr>
        <p:txBody>
          <a:bodyPr/>
          <a:lstStyle/>
          <a:p>
            <a:endParaRPr lang="en-US"/>
          </a:p>
        </p:txBody>
      </p:sp>
      <p:sp>
        <p:nvSpPr>
          <p:cNvPr id="11" name="Text 9"/>
          <p:cNvSpPr/>
          <p:nvPr/>
        </p:nvSpPr>
        <p:spPr>
          <a:xfrm>
            <a:off x="768096" y="2313432"/>
            <a:ext cx="5084064" cy="722376"/>
          </a:xfrm>
          <a:prstGeom prst="rect">
            <a:avLst/>
          </a:prstGeom>
          <a:noFill/>
          <a:ln/>
        </p:spPr>
        <p:txBody>
          <a:bodyPr wrap="square" rtlCol="0" anchor="t"/>
          <a:lstStyle/>
          <a:p>
            <a:pPr marL="0" indent="0">
              <a:lnSpc>
                <a:spcPct val="106000"/>
              </a:lnSpc>
              <a:buNone/>
            </a:pPr>
            <a:r>
              <a:rPr lang="en-US" sz="1000" b="1" kern="0" spc="200" dirty="0">
                <a:solidFill>
                  <a:srgbClr val="86BC25"/>
                </a:solidFill>
                <a:latin typeface="Arial" pitchFamily="34" charset="0"/>
                <a:ea typeface="Arial" pitchFamily="34" charset="-122"/>
                <a:cs typeface="Arial" pitchFamily="34" charset="-120"/>
              </a:rPr>
              <a:t>01
</a:t>
            </a:r>
            <a:r>
              <a:rPr lang="en-US" sz="1500" b="1" dirty="0">
                <a:solidFill>
                  <a:srgbClr val="F3F4F1"/>
                </a:solidFill>
                <a:latin typeface="Arial" pitchFamily="34" charset="0"/>
                <a:ea typeface="Arial" pitchFamily="34" charset="-122"/>
                <a:cs typeface="Arial" pitchFamily="34" charset="-120"/>
              </a:rPr>
              <a:t>The idea
</a:t>
            </a:r>
            <a:r>
              <a:rPr lang="en-US" sz="1150" dirty="0">
                <a:solidFill>
                  <a:srgbClr val="8E948B"/>
                </a:solidFill>
                <a:latin typeface="Arial" pitchFamily="34" charset="0"/>
                <a:ea typeface="Arial" pitchFamily="34" charset="-122"/>
                <a:cs typeface="Arial" pitchFamily="34" charset="-120"/>
              </a:rPr>
              <a:t>Commerce on Salesforce, without Commerce Cloud</a:t>
            </a:r>
            <a:endParaRPr lang="en-US" sz="1000" dirty="0"/>
          </a:p>
        </p:txBody>
      </p:sp>
      <p:sp>
        <p:nvSpPr>
          <p:cNvPr id="12" name="Shape 10"/>
          <p:cNvSpPr/>
          <p:nvPr/>
        </p:nvSpPr>
        <p:spPr>
          <a:xfrm>
            <a:off x="6144768" y="2148840"/>
            <a:ext cx="5486400" cy="1051560"/>
          </a:xfrm>
          <a:prstGeom prst="roundRect">
            <a:avLst>
              <a:gd name="adj" fmla="val 5217"/>
            </a:avLst>
          </a:prstGeom>
          <a:solidFill>
            <a:srgbClr val="16181C"/>
          </a:solidFill>
          <a:ln w="12700">
            <a:solidFill>
              <a:srgbClr val="2C2F34"/>
            </a:solidFill>
            <a:prstDash val="solid"/>
          </a:ln>
        </p:spPr>
        <p:txBody>
          <a:bodyPr/>
          <a:lstStyle/>
          <a:p>
            <a:endParaRPr lang="en-US"/>
          </a:p>
        </p:txBody>
      </p:sp>
      <p:sp>
        <p:nvSpPr>
          <p:cNvPr id="13" name="Text 11"/>
          <p:cNvSpPr/>
          <p:nvPr/>
        </p:nvSpPr>
        <p:spPr>
          <a:xfrm>
            <a:off x="6345936" y="2313432"/>
            <a:ext cx="5084064" cy="722376"/>
          </a:xfrm>
          <a:prstGeom prst="rect">
            <a:avLst/>
          </a:prstGeom>
          <a:noFill/>
          <a:ln/>
        </p:spPr>
        <p:txBody>
          <a:bodyPr wrap="square" rtlCol="0" anchor="t"/>
          <a:lstStyle/>
          <a:p>
            <a:pPr marL="0" indent="0">
              <a:lnSpc>
                <a:spcPct val="106000"/>
              </a:lnSpc>
              <a:buNone/>
            </a:pPr>
            <a:r>
              <a:rPr lang="en-US" sz="1000" b="1" kern="0" spc="200" dirty="0">
                <a:solidFill>
                  <a:srgbClr val="86BC25"/>
                </a:solidFill>
                <a:latin typeface="Arial" pitchFamily="34" charset="0"/>
                <a:ea typeface="Arial" pitchFamily="34" charset="-122"/>
                <a:cs typeface="Arial" pitchFamily="34" charset="-120"/>
              </a:rPr>
              <a:t>02
</a:t>
            </a:r>
            <a:r>
              <a:rPr lang="en-US" sz="1500" b="1" dirty="0">
                <a:solidFill>
                  <a:srgbClr val="F3F4F1"/>
                </a:solidFill>
                <a:latin typeface="Arial" pitchFamily="34" charset="0"/>
                <a:ea typeface="Arial" pitchFamily="34" charset="-122"/>
                <a:cs typeface="Arial" pitchFamily="34" charset="-120"/>
              </a:rPr>
              <a:t>Architecture
</a:t>
            </a:r>
            <a:r>
              <a:rPr lang="en-US" sz="1150" dirty="0">
                <a:solidFill>
                  <a:srgbClr val="8E948B"/>
                </a:solidFill>
                <a:latin typeface="Arial" pitchFamily="34" charset="0"/>
                <a:ea typeface="Arial" pitchFamily="34" charset="-122"/>
                <a:cs typeface="Arial" pitchFamily="34" charset="-120"/>
              </a:rPr>
              <a:t>Three tiers — SPA, middleware, Salesforce</a:t>
            </a:r>
            <a:endParaRPr lang="en-US" sz="1000" dirty="0"/>
          </a:p>
        </p:txBody>
      </p:sp>
      <p:sp>
        <p:nvSpPr>
          <p:cNvPr id="14" name="Shape 12"/>
          <p:cNvSpPr/>
          <p:nvPr/>
        </p:nvSpPr>
        <p:spPr>
          <a:xfrm>
            <a:off x="566928" y="3383280"/>
            <a:ext cx="5486400" cy="1051560"/>
          </a:xfrm>
          <a:prstGeom prst="roundRect">
            <a:avLst>
              <a:gd name="adj" fmla="val 5217"/>
            </a:avLst>
          </a:prstGeom>
          <a:solidFill>
            <a:srgbClr val="16181C"/>
          </a:solidFill>
          <a:ln w="12700">
            <a:solidFill>
              <a:srgbClr val="2C2F34"/>
            </a:solidFill>
            <a:prstDash val="solid"/>
          </a:ln>
        </p:spPr>
        <p:txBody>
          <a:bodyPr/>
          <a:lstStyle/>
          <a:p>
            <a:endParaRPr lang="en-US"/>
          </a:p>
        </p:txBody>
      </p:sp>
      <p:sp>
        <p:nvSpPr>
          <p:cNvPr id="15" name="Text 13"/>
          <p:cNvSpPr/>
          <p:nvPr/>
        </p:nvSpPr>
        <p:spPr>
          <a:xfrm>
            <a:off x="768096" y="3547872"/>
            <a:ext cx="5084064" cy="722376"/>
          </a:xfrm>
          <a:prstGeom prst="rect">
            <a:avLst/>
          </a:prstGeom>
          <a:noFill/>
          <a:ln/>
        </p:spPr>
        <p:txBody>
          <a:bodyPr wrap="square" rtlCol="0" anchor="t"/>
          <a:lstStyle/>
          <a:p>
            <a:pPr marL="0" indent="0">
              <a:lnSpc>
                <a:spcPct val="106000"/>
              </a:lnSpc>
              <a:buNone/>
            </a:pPr>
            <a:r>
              <a:rPr lang="en-US" sz="1000" b="1" kern="0" spc="200" dirty="0">
                <a:solidFill>
                  <a:srgbClr val="86BC25"/>
                </a:solidFill>
                <a:latin typeface="Arial" pitchFamily="34" charset="0"/>
                <a:ea typeface="Arial" pitchFamily="34" charset="-122"/>
                <a:cs typeface="Arial" pitchFamily="34" charset="-120"/>
              </a:rPr>
              <a:t>03
</a:t>
            </a:r>
            <a:r>
              <a:rPr lang="en-US" sz="1500" b="1" dirty="0">
                <a:solidFill>
                  <a:srgbClr val="F3F4F1"/>
                </a:solidFill>
                <a:latin typeface="Arial" pitchFamily="34" charset="0"/>
                <a:ea typeface="Arial" pitchFamily="34" charset="-122"/>
                <a:cs typeface="Arial" pitchFamily="34" charset="-120"/>
              </a:rPr>
              <a:t>The Salesforce side
</a:t>
            </a:r>
            <a:r>
              <a:rPr lang="en-US" sz="1150" dirty="0">
                <a:solidFill>
                  <a:srgbClr val="8E948B"/>
                </a:solidFill>
                <a:latin typeface="Arial" pitchFamily="34" charset="0"/>
                <a:ea typeface="Arial" pitchFamily="34" charset="-122"/>
                <a:cs typeface="Arial" pitchFamily="34" charset="-120"/>
              </a:rPr>
              <a:t>Standard-first data model + Connected App</a:t>
            </a:r>
            <a:endParaRPr lang="en-US" sz="1000" dirty="0"/>
          </a:p>
        </p:txBody>
      </p:sp>
      <p:sp>
        <p:nvSpPr>
          <p:cNvPr id="16" name="Shape 14"/>
          <p:cNvSpPr/>
          <p:nvPr/>
        </p:nvSpPr>
        <p:spPr>
          <a:xfrm>
            <a:off x="6144768" y="3383280"/>
            <a:ext cx="5486400" cy="1051560"/>
          </a:xfrm>
          <a:prstGeom prst="roundRect">
            <a:avLst>
              <a:gd name="adj" fmla="val 5217"/>
            </a:avLst>
          </a:prstGeom>
          <a:solidFill>
            <a:srgbClr val="16181C"/>
          </a:solidFill>
          <a:ln w="12700">
            <a:solidFill>
              <a:srgbClr val="2C2F34"/>
            </a:solidFill>
            <a:prstDash val="solid"/>
          </a:ln>
        </p:spPr>
        <p:txBody>
          <a:bodyPr/>
          <a:lstStyle/>
          <a:p>
            <a:endParaRPr lang="en-US"/>
          </a:p>
        </p:txBody>
      </p:sp>
      <p:sp>
        <p:nvSpPr>
          <p:cNvPr id="17" name="Text 15"/>
          <p:cNvSpPr/>
          <p:nvPr/>
        </p:nvSpPr>
        <p:spPr>
          <a:xfrm>
            <a:off x="6345936" y="3547872"/>
            <a:ext cx="5084064" cy="722376"/>
          </a:xfrm>
          <a:prstGeom prst="rect">
            <a:avLst/>
          </a:prstGeom>
          <a:noFill/>
          <a:ln/>
        </p:spPr>
        <p:txBody>
          <a:bodyPr wrap="square" rtlCol="0" anchor="t"/>
          <a:lstStyle/>
          <a:p>
            <a:pPr marL="0" indent="0">
              <a:lnSpc>
                <a:spcPct val="106000"/>
              </a:lnSpc>
              <a:buNone/>
            </a:pPr>
            <a:r>
              <a:rPr lang="en-US" sz="1000" b="1" kern="0" spc="200" dirty="0">
                <a:solidFill>
                  <a:srgbClr val="86BC25"/>
                </a:solidFill>
                <a:latin typeface="Arial" pitchFamily="34" charset="0"/>
                <a:ea typeface="Arial" pitchFamily="34" charset="-122"/>
                <a:cs typeface="Arial" pitchFamily="34" charset="-120"/>
              </a:rPr>
              <a:t>04
</a:t>
            </a:r>
            <a:r>
              <a:rPr lang="en-US" sz="1500" b="1" dirty="0">
                <a:solidFill>
                  <a:srgbClr val="F3F4F1"/>
                </a:solidFill>
                <a:latin typeface="Arial" pitchFamily="34" charset="0"/>
                <a:ea typeface="Arial" pitchFamily="34" charset="-122"/>
                <a:cs typeface="Arial" pitchFamily="34" charset="-120"/>
              </a:rPr>
              <a:t>Security &amp; governance
</a:t>
            </a:r>
            <a:r>
              <a:rPr lang="en-US" sz="1150" dirty="0">
                <a:solidFill>
                  <a:srgbClr val="8E948B"/>
                </a:solidFill>
                <a:latin typeface="Arial" pitchFamily="34" charset="0"/>
                <a:ea typeface="Arial" pitchFamily="34" charset="-122"/>
                <a:cs typeface="Arial" pitchFamily="34" charset="-120"/>
              </a:rPr>
              <a:t>Where the guardrails live</a:t>
            </a:r>
            <a:endParaRPr lang="en-US" sz="1000" dirty="0"/>
          </a:p>
        </p:txBody>
      </p:sp>
      <p:sp>
        <p:nvSpPr>
          <p:cNvPr id="18" name="Shape 16"/>
          <p:cNvSpPr/>
          <p:nvPr/>
        </p:nvSpPr>
        <p:spPr>
          <a:xfrm>
            <a:off x="566928" y="4617720"/>
            <a:ext cx="5486400" cy="1051560"/>
          </a:xfrm>
          <a:prstGeom prst="roundRect">
            <a:avLst>
              <a:gd name="adj" fmla="val 5217"/>
            </a:avLst>
          </a:prstGeom>
          <a:solidFill>
            <a:srgbClr val="16181C"/>
          </a:solidFill>
          <a:ln w="12700">
            <a:solidFill>
              <a:srgbClr val="2C2F34"/>
            </a:solidFill>
            <a:prstDash val="solid"/>
          </a:ln>
        </p:spPr>
        <p:txBody>
          <a:bodyPr/>
          <a:lstStyle/>
          <a:p>
            <a:endParaRPr lang="en-US"/>
          </a:p>
        </p:txBody>
      </p:sp>
      <p:sp>
        <p:nvSpPr>
          <p:cNvPr id="19" name="Text 17"/>
          <p:cNvSpPr/>
          <p:nvPr/>
        </p:nvSpPr>
        <p:spPr>
          <a:xfrm>
            <a:off x="768096" y="4782312"/>
            <a:ext cx="5084064" cy="722376"/>
          </a:xfrm>
          <a:prstGeom prst="rect">
            <a:avLst/>
          </a:prstGeom>
          <a:noFill/>
          <a:ln/>
        </p:spPr>
        <p:txBody>
          <a:bodyPr wrap="square" rtlCol="0" anchor="t"/>
          <a:lstStyle/>
          <a:p>
            <a:pPr marL="0" indent="0">
              <a:lnSpc>
                <a:spcPct val="106000"/>
              </a:lnSpc>
              <a:buNone/>
            </a:pPr>
            <a:r>
              <a:rPr lang="en-US" sz="1000" b="1" kern="0" spc="200" dirty="0">
                <a:solidFill>
                  <a:srgbClr val="86BC25"/>
                </a:solidFill>
                <a:latin typeface="Arial" pitchFamily="34" charset="0"/>
                <a:ea typeface="Arial" pitchFamily="34" charset="-122"/>
                <a:cs typeface="Arial" pitchFamily="34" charset="-120"/>
              </a:rPr>
              <a:t>05
</a:t>
            </a:r>
            <a:r>
              <a:rPr lang="en-US" sz="1500" b="1" dirty="0">
                <a:solidFill>
                  <a:srgbClr val="F3F4F1"/>
                </a:solidFill>
                <a:latin typeface="Arial" pitchFamily="34" charset="0"/>
                <a:ea typeface="Arial" pitchFamily="34" charset="-122"/>
                <a:cs typeface="Arial" pitchFamily="34" charset="-120"/>
              </a:rPr>
              <a:t>Flows &amp; features
</a:t>
            </a:r>
            <a:r>
              <a:rPr lang="en-US" sz="1150" dirty="0">
                <a:solidFill>
                  <a:srgbClr val="8E948B"/>
                </a:solidFill>
                <a:latin typeface="Arial" pitchFamily="34" charset="0"/>
                <a:ea typeface="Arial" pitchFamily="34" charset="-122"/>
                <a:cs typeface="Arial" pitchFamily="34" charset="-120"/>
              </a:rPr>
              <a:t>Order lifecycle, real-time, what it does</a:t>
            </a:r>
            <a:endParaRPr lang="en-US" sz="1000" dirty="0"/>
          </a:p>
        </p:txBody>
      </p:sp>
      <p:sp>
        <p:nvSpPr>
          <p:cNvPr id="20" name="Shape 18"/>
          <p:cNvSpPr/>
          <p:nvPr/>
        </p:nvSpPr>
        <p:spPr>
          <a:xfrm>
            <a:off x="6144768" y="4617720"/>
            <a:ext cx="5486400" cy="1051560"/>
          </a:xfrm>
          <a:prstGeom prst="roundRect">
            <a:avLst>
              <a:gd name="adj" fmla="val 5217"/>
            </a:avLst>
          </a:prstGeom>
          <a:solidFill>
            <a:srgbClr val="16181C"/>
          </a:solidFill>
          <a:ln w="12700">
            <a:solidFill>
              <a:srgbClr val="2C2F34"/>
            </a:solidFill>
            <a:prstDash val="solid"/>
          </a:ln>
        </p:spPr>
        <p:txBody>
          <a:bodyPr/>
          <a:lstStyle/>
          <a:p>
            <a:endParaRPr lang="en-US"/>
          </a:p>
        </p:txBody>
      </p:sp>
      <p:sp>
        <p:nvSpPr>
          <p:cNvPr id="21" name="Text 19"/>
          <p:cNvSpPr/>
          <p:nvPr/>
        </p:nvSpPr>
        <p:spPr>
          <a:xfrm>
            <a:off x="6345936" y="4782312"/>
            <a:ext cx="5084064" cy="722376"/>
          </a:xfrm>
          <a:prstGeom prst="rect">
            <a:avLst/>
          </a:prstGeom>
          <a:noFill/>
          <a:ln/>
        </p:spPr>
        <p:txBody>
          <a:bodyPr wrap="square" rtlCol="0" anchor="t"/>
          <a:lstStyle/>
          <a:p>
            <a:pPr marL="0" indent="0">
              <a:lnSpc>
                <a:spcPct val="106000"/>
              </a:lnSpc>
              <a:buNone/>
            </a:pPr>
            <a:r>
              <a:rPr lang="en-US" sz="1000" b="1" kern="0" spc="200" dirty="0">
                <a:solidFill>
                  <a:srgbClr val="86BC25"/>
                </a:solidFill>
                <a:latin typeface="Arial" pitchFamily="34" charset="0"/>
                <a:ea typeface="Arial" pitchFamily="34" charset="-122"/>
                <a:cs typeface="Arial" pitchFamily="34" charset="-120"/>
              </a:rPr>
              <a:t>06
</a:t>
            </a:r>
            <a:r>
              <a:rPr lang="en-US" sz="1500" b="1" dirty="0">
                <a:solidFill>
                  <a:srgbClr val="F3F4F1"/>
                </a:solidFill>
                <a:latin typeface="Arial" pitchFamily="34" charset="0"/>
                <a:ea typeface="Arial" pitchFamily="34" charset="-122"/>
                <a:cs typeface="Arial" pitchFamily="34" charset="-120"/>
              </a:rPr>
              <a:t>Built with AI + why it matters
</a:t>
            </a:r>
            <a:r>
              <a:rPr lang="en-US" sz="1150" dirty="0">
                <a:solidFill>
                  <a:srgbClr val="8E948B"/>
                </a:solidFill>
                <a:latin typeface="Arial" pitchFamily="34" charset="0"/>
                <a:ea typeface="Arial" pitchFamily="34" charset="-122"/>
                <a:cs typeface="Arial" pitchFamily="34" charset="-120"/>
              </a:rPr>
              <a:t>The process, then a live demo</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0F11"/>
        </a:solidFill>
        <a:effectLst/>
      </p:bgPr>
    </p:bg>
    <p:spTree>
      <p:nvGrpSpPr>
        <p:cNvPr id="1" name=""/>
        <p:cNvGrpSpPr/>
        <p:nvPr/>
      </p:nvGrpSpPr>
      <p:grpSpPr>
        <a:xfrm>
          <a:off x="0" y="0"/>
          <a:ext cx="0" cy="0"/>
          <a:chOff x="0" y="0"/>
          <a:chExt cx="0" cy="0"/>
        </a:xfrm>
      </p:grpSpPr>
      <p:sp>
        <p:nvSpPr>
          <p:cNvPr id="2" name="Text 0"/>
          <p:cNvSpPr/>
          <p:nvPr/>
        </p:nvSpPr>
        <p:spPr>
          <a:xfrm>
            <a:off x="566928" y="384048"/>
            <a:ext cx="7315200" cy="320040"/>
          </a:xfrm>
          <a:prstGeom prst="rect">
            <a:avLst/>
          </a:prstGeom>
          <a:noFill/>
          <a:ln/>
        </p:spPr>
        <p:txBody>
          <a:bodyPr wrap="square" rtlCol="0" anchor="ctr"/>
          <a:lstStyle/>
          <a:p>
            <a:pPr marL="0" indent="0">
              <a:buNone/>
            </a:pPr>
            <a:r>
              <a:rPr lang="en-US" sz="1100" b="1" kern="0" spc="300" dirty="0">
                <a:solidFill>
                  <a:srgbClr val="86BC25"/>
                </a:solidFill>
                <a:latin typeface="Arial" pitchFamily="34" charset="0"/>
                <a:ea typeface="Arial" pitchFamily="34" charset="-122"/>
                <a:cs typeface="Arial" pitchFamily="34" charset="-120"/>
              </a:rPr>
              <a:t>THE IDEA</a:t>
            </a:r>
            <a:endParaRPr lang="en-US" sz="1100" dirty="0"/>
          </a:p>
        </p:txBody>
      </p:sp>
      <p:sp>
        <p:nvSpPr>
          <p:cNvPr id="3" name="Text 1"/>
          <p:cNvSpPr/>
          <p:nvPr/>
        </p:nvSpPr>
        <p:spPr>
          <a:xfrm>
            <a:off x="8881567" y="365760"/>
            <a:ext cx="2743200" cy="365760"/>
          </a:xfrm>
          <a:prstGeom prst="rect">
            <a:avLst/>
          </a:prstGeom>
          <a:noFill/>
          <a:ln/>
        </p:spPr>
        <p:txBody>
          <a:bodyPr wrap="square" rtlCol="0" anchor="ctr"/>
          <a:lstStyle/>
          <a:p>
            <a:pPr marL="0" indent="0" algn="r">
              <a:buNone/>
            </a:pPr>
            <a:r>
              <a:rPr lang="en-US" sz="1500" b="1" dirty="0">
                <a:solidFill>
                  <a:srgbClr val="F3F4F1"/>
                </a:solidFill>
                <a:latin typeface="Arial" pitchFamily="34" charset="0"/>
                <a:ea typeface="Arial" pitchFamily="34" charset="-122"/>
                <a:cs typeface="Arial" pitchFamily="34" charset="-120"/>
              </a:rPr>
              <a:t>Deloitte</a:t>
            </a:r>
            <a:r>
              <a:rPr lang="en-US" sz="1500" b="1" dirty="0">
                <a:solidFill>
                  <a:srgbClr val="86BC25"/>
                </a:solidFill>
                <a:latin typeface="Arial" pitchFamily="34" charset="0"/>
                <a:ea typeface="Arial" pitchFamily="34" charset="-122"/>
                <a:cs typeface="Arial" pitchFamily="34" charset="-120"/>
              </a:rPr>
              <a:t>.</a:t>
            </a:r>
            <a:endParaRPr lang="en-US" sz="1500" dirty="0"/>
          </a:p>
        </p:txBody>
      </p:sp>
      <p:sp>
        <p:nvSpPr>
          <p:cNvPr id="4" name="Shape 2"/>
          <p:cNvSpPr/>
          <p:nvPr/>
        </p:nvSpPr>
        <p:spPr>
          <a:xfrm>
            <a:off x="566928" y="841248"/>
            <a:ext cx="11057839" cy="0"/>
          </a:xfrm>
          <a:prstGeom prst="line">
            <a:avLst/>
          </a:prstGeom>
          <a:noFill/>
          <a:ln w="12700">
            <a:solidFill>
              <a:srgbClr val="2C2F34"/>
            </a:solidFill>
            <a:prstDash val="solid"/>
          </a:ln>
        </p:spPr>
        <p:txBody>
          <a:bodyPr/>
          <a:lstStyle/>
          <a:p>
            <a:endParaRPr lang="en-US"/>
          </a:p>
        </p:txBody>
      </p:sp>
      <p:sp>
        <p:nvSpPr>
          <p:cNvPr id="5" name="Text 3"/>
          <p:cNvSpPr/>
          <p:nvPr/>
        </p:nvSpPr>
        <p:spPr>
          <a:xfrm>
            <a:off x="566928" y="1024128"/>
            <a:ext cx="11057839" cy="914400"/>
          </a:xfrm>
          <a:prstGeom prst="rect">
            <a:avLst/>
          </a:prstGeom>
          <a:noFill/>
          <a:ln/>
        </p:spPr>
        <p:txBody>
          <a:bodyPr wrap="square" rtlCol="0" anchor="t"/>
          <a:lstStyle/>
          <a:p>
            <a:pPr marL="0" indent="0" algn="l">
              <a:buNone/>
            </a:pPr>
            <a:r>
              <a:rPr lang="en-US" sz="3000" b="1" dirty="0">
                <a:solidFill>
                  <a:srgbClr val="F3F4F1"/>
                </a:solidFill>
                <a:latin typeface="Arial" pitchFamily="34" charset="0"/>
                <a:ea typeface="Arial" pitchFamily="34" charset="-122"/>
                <a:cs typeface="Arial" pitchFamily="34" charset="-120"/>
              </a:rPr>
              <a:t>Commerce on Salesforce — without Commerce Cloud</a:t>
            </a:r>
            <a:endParaRPr lang="en-US" sz="3000" dirty="0"/>
          </a:p>
        </p:txBody>
      </p:sp>
      <p:sp>
        <p:nvSpPr>
          <p:cNvPr id="6" name="Shape 4"/>
          <p:cNvSpPr/>
          <p:nvPr/>
        </p:nvSpPr>
        <p:spPr>
          <a:xfrm>
            <a:off x="566928" y="6291072"/>
            <a:ext cx="11057839" cy="0"/>
          </a:xfrm>
          <a:prstGeom prst="line">
            <a:avLst/>
          </a:prstGeom>
          <a:noFill/>
          <a:ln w="12700">
            <a:solidFill>
              <a:srgbClr val="2C2F34"/>
            </a:solidFill>
            <a:prstDash val="solid"/>
          </a:ln>
        </p:spPr>
        <p:txBody>
          <a:bodyPr/>
          <a:lstStyle/>
          <a:p>
            <a:endParaRPr lang="en-US"/>
          </a:p>
        </p:txBody>
      </p:sp>
      <p:sp>
        <p:nvSpPr>
          <p:cNvPr id="7" name="Text 5"/>
          <p:cNvSpPr/>
          <p:nvPr/>
        </p:nvSpPr>
        <p:spPr>
          <a:xfrm>
            <a:off x="566928" y="6355080"/>
            <a:ext cx="8229600" cy="274320"/>
          </a:xfrm>
          <a:prstGeom prst="rect">
            <a:avLst/>
          </a:prstGeom>
          <a:noFill/>
          <a:ln/>
        </p:spPr>
        <p:txBody>
          <a:bodyPr wrap="square" rtlCol="0" anchor="ctr"/>
          <a:lstStyle/>
          <a:p>
            <a:pPr marL="0" indent="0">
              <a:buNone/>
            </a:pPr>
            <a:r>
              <a:rPr lang="en-US" sz="950" kern="0" spc="100" dirty="0">
                <a:solidFill>
                  <a:srgbClr val="8E948B"/>
                </a:solidFill>
                <a:latin typeface="Arial" pitchFamily="34" charset="0"/>
                <a:ea typeface="Arial" pitchFamily="34" charset="-122"/>
                <a:cs typeface="Arial" pitchFamily="34" charset="-120"/>
              </a:rPr>
              <a:t>Decoupled / “headless” commerce</a:t>
            </a:r>
            <a:endParaRPr lang="en-US" sz="950" dirty="0"/>
          </a:p>
        </p:txBody>
      </p:sp>
      <p:sp>
        <p:nvSpPr>
          <p:cNvPr id="8" name="Text 6"/>
          <p:cNvSpPr/>
          <p:nvPr/>
        </p:nvSpPr>
        <p:spPr>
          <a:xfrm>
            <a:off x="9795967" y="6355080"/>
            <a:ext cx="1828800" cy="274320"/>
          </a:xfrm>
          <a:prstGeom prst="rect">
            <a:avLst/>
          </a:prstGeom>
          <a:noFill/>
          <a:ln/>
        </p:spPr>
        <p:txBody>
          <a:bodyPr wrap="square" rtlCol="0" anchor="ctr"/>
          <a:lstStyle/>
          <a:p>
            <a:pPr marL="0" indent="0" algn="r">
              <a:buNone/>
            </a:pPr>
            <a:r>
              <a:rPr lang="en-US" sz="950" dirty="0">
                <a:solidFill>
                  <a:srgbClr val="8E948B"/>
                </a:solidFill>
                <a:latin typeface="Arial" pitchFamily="34" charset="0"/>
                <a:ea typeface="Arial" pitchFamily="34" charset="-122"/>
                <a:cs typeface="Arial" pitchFamily="34" charset="-120"/>
              </a:rPr>
              <a:t>3 / 12</a:t>
            </a:r>
            <a:endParaRPr lang="en-US" sz="950" dirty="0"/>
          </a:p>
        </p:txBody>
      </p:sp>
      <p:sp>
        <p:nvSpPr>
          <p:cNvPr id="9" name="Shape 7"/>
          <p:cNvSpPr/>
          <p:nvPr/>
        </p:nvSpPr>
        <p:spPr>
          <a:xfrm>
            <a:off x="566928" y="6748272"/>
            <a:ext cx="2764460" cy="45720"/>
          </a:xfrm>
          <a:prstGeom prst="rect">
            <a:avLst/>
          </a:prstGeom>
          <a:solidFill>
            <a:srgbClr val="86BC25"/>
          </a:solidFill>
          <a:ln/>
        </p:spPr>
        <p:txBody>
          <a:bodyPr/>
          <a:lstStyle/>
          <a:p>
            <a:endParaRPr lang="en-US"/>
          </a:p>
        </p:txBody>
      </p:sp>
      <p:sp>
        <p:nvSpPr>
          <p:cNvPr id="10" name="Text 8"/>
          <p:cNvSpPr/>
          <p:nvPr/>
        </p:nvSpPr>
        <p:spPr>
          <a:xfrm>
            <a:off x="566928" y="1965960"/>
            <a:ext cx="10058400" cy="731520"/>
          </a:xfrm>
          <a:prstGeom prst="rect">
            <a:avLst/>
          </a:prstGeom>
          <a:noFill/>
          <a:ln/>
        </p:spPr>
        <p:txBody>
          <a:bodyPr wrap="square" rtlCol="0" anchor="t"/>
          <a:lstStyle/>
          <a:p>
            <a:pPr marL="0" indent="0">
              <a:lnSpc>
                <a:spcPct val="120000"/>
              </a:lnSpc>
              <a:buNone/>
            </a:pPr>
            <a:r>
              <a:rPr lang="en-US" sz="1500" dirty="0">
                <a:solidFill>
                  <a:srgbClr val="C4C8C0"/>
                </a:solidFill>
                <a:latin typeface="Arial" pitchFamily="34" charset="0"/>
                <a:ea typeface="Arial" pitchFamily="34" charset="-122"/>
                <a:cs typeface="Arial" pitchFamily="34" charset="-120"/>
              </a:rPr>
              <a:t>Real orders, customers and cases live in Salesforce. The storefront is a fast, on-brand web app on any stack. A thin middleware brokers the two — securely.</a:t>
            </a:r>
            <a:endParaRPr lang="en-US" sz="1500" dirty="0"/>
          </a:p>
        </p:txBody>
      </p:sp>
      <p:sp>
        <p:nvSpPr>
          <p:cNvPr id="11" name="Shape 9"/>
          <p:cNvSpPr/>
          <p:nvPr/>
        </p:nvSpPr>
        <p:spPr>
          <a:xfrm>
            <a:off x="566928" y="2926080"/>
            <a:ext cx="3566160" cy="2468880"/>
          </a:xfrm>
          <a:prstGeom prst="roundRect">
            <a:avLst>
              <a:gd name="adj" fmla="val 2222"/>
            </a:avLst>
          </a:prstGeom>
          <a:solidFill>
            <a:srgbClr val="16181C"/>
          </a:solidFill>
          <a:ln w="12700">
            <a:solidFill>
              <a:srgbClr val="2C2F34"/>
            </a:solidFill>
            <a:prstDash val="solid"/>
          </a:ln>
        </p:spPr>
        <p:txBody>
          <a:bodyPr/>
          <a:lstStyle/>
          <a:p>
            <a:endParaRPr lang="en-US"/>
          </a:p>
        </p:txBody>
      </p:sp>
      <p:sp>
        <p:nvSpPr>
          <p:cNvPr id="12" name="Text 10"/>
          <p:cNvSpPr/>
          <p:nvPr/>
        </p:nvSpPr>
        <p:spPr>
          <a:xfrm>
            <a:off x="768096" y="3090672"/>
            <a:ext cx="3163824" cy="2139696"/>
          </a:xfrm>
          <a:prstGeom prst="rect">
            <a:avLst/>
          </a:prstGeom>
          <a:noFill/>
          <a:ln/>
        </p:spPr>
        <p:txBody>
          <a:bodyPr wrap="square" rtlCol="0" anchor="t"/>
          <a:lstStyle/>
          <a:p>
            <a:pPr marL="0" indent="0">
              <a:lnSpc>
                <a:spcPct val="106000"/>
              </a:lnSpc>
              <a:buNone/>
            </a:pPr>
            <a:r>
              <a:rPr lang="en-US" sz="1000" b="1" kern="0" spc="200" dirty="0">
                <a:solidFill>
                  <a:srgbClr val="86BC25"/>
                </a:solidFill>
                <a:latin typeface="Arial" pitchFamily="34" charset="0"/>
                <a:ea typeface="Arial" pitchFamily="34" charset="-122"/>
                <a:cs typeface="Arial" pitchFamily="34" charset="-120"/>
              </a:rPr>
              <a:t>01
</a:t>
            </a:r>
            <a:r>
              <a:rPr lang="en-US" sz="1500" b="1" dirty="0">
                <a:solidFill>
                  <a:srgbClr val="F3F4F1"/>
                </a:solidFill>
                <a:latin typeface="Arial" pitchFamily="34" charset="0"/>
                <a:ea typeface="Arial" pitchFamily="34" charset="-122"/>
                <a:cs typeface="Arial" pitchFamily="34" charset="-120"/>
              </a:rPr>
              <a:t>Salesforce is the source of truth
</a:t>
            </a:r>
            <a:r>
              <a:rPr lang="en-US" sz="1150" dirty="0">
                <a:solidFill>
                  <a:srgbClr val="8E948B"/>
                </a:solidFill>
                <a:latin typeface="Arial" pitchFamily="34" charset="0"/>
                <a:ea typeface="Arial" pitchFamily="34" charset="-122"/>
                <a:cs typeface="Arial" pitchFamily="34" charset="-120"/>
              </a:rPr>
              <a:t>Products, pricing, orders, customers and support are all standard Salesforce objects — one place, no data silo.</a:t>
            </a:r>
            <a:endParaRPr lang="en-US" sz="1000" dirty="0"/>
          </a:p>
        </p:txBody>
      </p:sp>
      <p:sp>
        <p:nvSpPr>
          <p:cNvPr id="13" name="Shape 11"/>
          <p:cNvSpPr/>
          <p:nvPr/>
        </p:nvSpPr>
        <p:spPr>
          <a:xfrm>
            <a:off x="4297680" y="2926080"/>
            <a:ext cx="3566160" cy="2468880"/>
          </a:xfrm>
          <a:prstGeom prst="roundRect">
            <a:avLst>
              <a:gd name="adj" fmla="val 2222"/>
            </a:avLst>
          </a:prstGeom>
          <a:solidFill>
            <a:srgbClr val="16181C"/>
          </a:solidFill>
          <a:ln w="12700">
            <a:solidFill>
              <a:srgbClr val="2C2F34"/>
            </a:solidFill>
            <a:prstDash val="solid"/>
          </a:ln>
        </p:spPr>
        <p:txBody>
          <a:bodyPr/>
          <a:lstStyle/>
          <a:p>
            <a:endParaRPr lang="en-US"/>
          </a:p>
        </p:txBody>
      </p:sp>
      <p:sp>
        <p:nvSpPr>
          <p:cNvPr id="14" name="Text 12"/>
          <p:cNvSpPr/>
          <p:nvPr/>
        </p:nvSpPr>
        <p:spPr>
          <a:xfrm>
            <a:off x="4498848" y="3090672"/>
            <a:ext cx="3163824" cy="2139696"/>
          </a:xfrm>
          <a:prstGeom prst="rect">
            <a:avLst/>
          </a:prstGeom>
          <a:noFill/>
          <a:ln/>
        </p:spPr>
        <p:txBody>
          <a:bodyPr wrap="square" rtlCol="0" anchor="t"/>
          <a:lstStyle/>
          <a:p>
            <a:pPr marL="0" indent="0">
              <a:lnSpc>
                <a:spcPct val="106000"/>
              </a:lnSpc>
              <a:buNone/>
            </a:pPr>
            <a:r>
              <a:rPr lang="en-US" sz="1000" b="1" kern="0" spc="200" dirty="0">
                <a:solidFill>
                  <a:srgbClr val="86BC25"/>
                </a:solidFill>
                <a:latin typeface="Arial" pitchFamily="34" charset="0"/>
                <a:ea typeface="Arial" pitchFamily="34" charset="-122"/>
                <a:cs typeface="Arial" pitchFamily="34" charset="-120"/>
              </a:rPr>
              <a:t>02
</a:t>
            </a:r>
            <a:r>
              <a:rPr lang="en-US" sz="1500" b="1" dirty="0">
                <a:solidFill>
                  <a:srgbClr val="F3F4F1"/>
                </a:solidFill>
                <a:latin typeface="Arial" pitchFamily="34" charset="0"/>
                <a:ea typeface="Arial" pitchFamily="34" charset="-122"/>
                <a:cs typeface="Arial" pitchFamily="34" charset="-120"/>
              </a:rPr>
              <a:t>Any modern frontend
</a:t>
            </a:r>
            <a:r>
              <a:rPr lang="en-US" sz="1150" dirty="0">
                <a:solidFill>
                  <a:srgbClr val="8E948B"/>
                </a:solidFill>
                <a:latin typeface="Arial" pitchFamily="34" charset="0"/>
                <a:ea typeface="Arial" pitchFamily="34" charset="-122"/>
                <a:cs typeface="Arial" pitchFamily="34" charset="-120"/>
              </a:rPr>
              <a:t>Here a React + Vite SPA — but the pattern works with any framework, and the same middleware can feed other channels.</a:t>
            </a:r>
            <a:endParaRPr lang="en-US" sz="1000" dirty="0"/>
          </a:p>
        </p:txBody>
      </p:sp>
      <p:sp>
        <p:nvSpPr>
          <p:cNvPr id="15" name="Shape 13"/>
          <p:cNvSpPr/>
          <p:nvPr/>
        </p:nvSpPr>
        <p:spPr>
          <a:xfrm>
            <a:off x="8028432" y="2926080"/>
            <a:ext cx="3566160" cy="2468880"/>
          </a:xfrm>
          <a:prstGeom prst="roundRect">
            <a:avLst>
              <a:gd name="adj" fmla="val 2222"/>
            </a:avLst>
          </a:prstGeom>
          <a:solidFill>
            <a:srgbClr val="16181C"/>
          </a:solidFill>
          <a:ln w="12700">
            <a:solidFill>
              <a:srgbClr val="2C2F34"/>
            </a:solidFill>
            <a:prstDash val="solid"/>
          </a:ln>
        </p:spPr>
        <p:txBody>
          <a:bodyPr/>
          <a:lstStyle/>
          <a:p>
            <a:endParaRPr lang="en-US"/>
          </a:p>
        </p:txBody>
      </p:sp>
      <p:sp>
        <p:nvSpPr>
          <p:cNvPr id="16" name="Text 14"/>
          <p:cNvSpPr/>
          <p:nvPr/>
        </p:nvSpPr>
        <p:spPr>
          <a:xfrm>
            <a:off x="8229600" y="3090672"/>
            <a:ext cx="3163824" cy="2139696"/>
          </a:xfrm>
          <a:prstGeom prst="rect">
            <a:avLst/>
          </a:prstGeom>
          <a:noFill/>
          <a:ln/>
        </p:spPr>
        <p:txBody>
          <a:bodyPr wrap="square" rtlCol="0" anchor="t"/>
          <a:lstStyle/>
          <a:p>
            <a:pPr marL="0" indent="0">
              <a:lnSpc>
                <a:spcPct val="106000"/>
              </a:lnSpc>
              <a:buNone/>
            </a:pPr>
            <a:r>
              <a:rPr lang="en-US" sz="1000" b="1" kern="0" spc="200" dirty="0">
                <a:solidFill>
                  <a:srgbClr val="86BC25"/>
                </a:solidFill>
                <a:latin typeface="Arial" pitchFamily="34" charset="0"/>
                <a:ea typeface="Arial" pitchFamily="34" charset="-122"/>
                <a:cs typeface="Arial" pitchFamily="34" charset="-120"/>
              </a:rPr>
              <a:t>03
</a:t>
            </a:r>
            <a:r>
              <a:rPr lang="en-US" sz="1500" b="1" dirty="0">
                <a:solidFill>
                  <a:srgbClr val="F3F4F1"/>
                </a:solidFill>
                <a:latin typeface="Arial" pitchFamily="34" charset="0"/>
                <a:ea typeface="Arial" pitchFamily="34" charset="-122"/>
                <a:cs typeface="Arial" pitchFamily="34" charset="-120"/>
              </a:rPr>
              <a:t>A thin, secure middleware
</a:t>
            </a:r>
            <a:r>
              <a:rPr lang="en-US" sz="1150" dirty="0">
                <a:solidFill>
                  <a:srgbClr val="8E948B"/>
                </a:solidFill>
                <a:latin typeface="Arial" pitchFamily="34" charset="0"/>
                <a:ea typeface="Arial" pitchFamily="34" charset="-122"/>
                <a:cs typeface="Arial" pitchFamily="34" charset="-120"/>
              </a:rPr>
              <a:t>A small Node service holds the credentials and talks to Salesforce. Nothing secret ever reaches the browser.</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0F11"/>
        </a:solidFill>
        <a:effectLst/>
      </p:bgPr>
    </p:bg>
    <p:spTree>
      <p:nvGrpSpPr>
        <p:cNvPr id="1" name=""/>
        <p:cNvGrpSpPr/>
        <p:nvPr/>
      </p:nvGrpSpPr>
      <p:grpSpPr>
        <a:xfrm>
          <a:off x="0" y="0"/>
          <a:ext cx="0" cy="0"/>
          <a:chOff x="0" y="0"/>
          <a:chExt cx="0" cy="0"/>
        </a:xfrm>
      </p:grpSpPr>
      <p:sp>
        <p:nvSpPr>
          <p:cNvPr id="2" name="Text 0"/>
          <p:cNvSpPr/>
          <p:nvPr/>
        </p:nvSpPr>
        <p:spPr>
          <a:xfrm>
            <a:off x="566928" y="384048"/>
            <a:ext cx="7315200" cy="320040"/>
          </a:xfrm>
          <a:prstGeom prst="rect">
            <a:avLst/>
          </a:prstGeom>
          <a:noFill/>
          <a:ln/>
        </p:spPr>
        <p:txBody>
          <a:bodyPr wrap="square" rtlCol="0" anchor="ctr"/>
          <a:lstStyle/>
          <a:p>
            <a:pPr marL="0" indent="0">
              <a:buNone/>
            </a:pPr>
            <a:r>
              <a:rPr lang="en-US" sz="1100" b="1" kern="0" spc="300" dirty="0">
                <a:solidFill>
                  <a:srgbClr val="86BC25"/>
                </a:solidFill>
                <a:latin typeface="Arial" pitchFamily="34" charset="0"/>
                <a:ea typeface="Arial" pitchFamily="34" charset="-122"/>
                <a:cs typeface="Arial" pitchFamily="34" charset="-120"/>
              </a:rPr>
              <a:t>ARCHITECTURE</a:t>
            </a:r>
            <a:endParaRPr lang="en-US" sz="1100" dirty="0"/>
          </a:p>
        </p:txBody>
      </p:sp>
      <p:sp>
        <p:nvSpPr>
          <p:cNvPr id="3" name="Text 1"/>
          <p:cNvSpPr/>
          <p:nvPr/>
        </p:nvSpPr>
        <p:spPr>
          <a:xfrm>
            <a:off x="8881567" y="365760"/>
            <a:ext cx="2743200" cy="365760"/>
          </a:xfrm>
          <a:prstGeom prst="rect">
            <a:avLst/>
          </a:prstGeom>
          <a:noFill/>
          <a:ln/>
        </p:spPr>
        <p:txBody>
          <a:bodyPr wrap="square" rtlCol="0" anchor="ctr"/>
          <a:lstStyle/>
          <a:p>
            <a:pPr marL="0" indent="0" algn="r">
              <a:buNone/>
            </a:pPr>
            <a:r>
              <a:rPr lang="en-US" sz="1500" b="1" dirty="0">
                <a:solidFill>
                  <a:srgbClr val="F3F4F1"/>
                </a:solidFill>
                <a:latin typeface="Arial" pitchFamily="34" charset="0"/>
                <a:ea typeface="Arial" pitchFamily="34" charset="-122"/>
                <a:cs typeface="Arial" pitchFamily="34" charset="-120"/>
              </a:rPr>
              <a:t>Deloitte</a:t>
            </a:r>
            <a:r>
              <a:rPr lang="en-US" sz="1500" b="1" dirty="0">
                <a:solidFill>
                  <a:srgbClr val="86BC25"/>
                </a:solidFill>
                <a:latin typeface="Arial" pitchFamily="34" charset="0"/>
                <a:ea typeface="Arial" pitchFamily="34" charset="-122"/>
                <a:cs typeface="Arial" pitchFamily="34" charset="-120"/>
              </a:rPr>
              <a:t>.</a:t>
            </a:r>
            <a:endParaRPr lang="en-US" sz="1500" dirty="0"/>
          </a:p>
        </p:txBody>
      </p:sp>
      <p:sp>
        <p:nvSpPr>
          <p:cNvPr id="4" name="Shape 2"/>
          <p:cNvSpPr/>
          <p:nvPr/>
        </p:nvSpPr>
        <p:spPr>
          <a:xfrm>
            <a:off x="566928" y="841248"/>
            <a:ext cx="11057839" cy="0"/>
          </a:xfrm>
          <a:prstGeom prst="line">
            <a:avLst/>
          </a:prstGeom>
          <a:noFill/>
          <a:ln w="12700">
            <a:solidFill>
              <a:srgbClr val="2C2F34"/>
            </a:solidFill>
            <a:prstDash val="solid"/>
          </a:ln>
        </p:spPr>
        <p:txBody>
          <a:bodyPr/>
          <a:lstStyle/>
          <a:p>
            <a:endParaRPr lang="en-US"/>
          </a:p>
        </p:txBody>
      </p:sp>
      <p:sp>
        <p:nvSpPr>
          <p:cNvPr id="5" name="Text 3"/>
          <p:cNvSpPr/>
          <p:nvPr/>
        </p:nvSpPr>
        <p:spPr>
          <a:xfrm>
            <a:off x="566928" y="1024128"/>
            <a:ext cx="11057839" cy="914400"/>
          </a:xfrm>
          <a:prstGeom prst="rect">
            <a:avLst/>
          </a:prstGeom>
          <a:noFill/>
          <a:ln/>
        </p:spPr>
        <p:txBody>
          <a:bodyPr wrap="square" rtlCol="0" anchor="t"/>
          <a:lstStyle/>
          <a:p>
            <a:pPr marL="0" indent="0" algn="l">
              <a:buNone/>
            </a:pPr>
            <a:r>
              <a:rPr lang="en-US" sz="2600" b="1" dirty="0">
                <a:solidFill>
                  <a:srgbClr val="F3F4F1"/>
                </a:solidFill>
                <a:latin typeface="Arial" pitchFamily="34" charset="0"/>
                <a:ea typeface="Arial" pitchFamily="34" charset="-122"/>
                <a:cs typeface="Arial" pitchFamily="34" charset="-120"/>
              </a:rPr>
              <a:t>Three tiers, one clean seam between each</a:t>
            </a:r>
            <a:endParaRPr lang="en-US" sz="2600" dirty="0"/>
          </a:p>
        </p:txBody>
      </p:sp>
      <p:sp>
        <p:nvSpPr>
          <p:cNvPr id="6" name="Shape 4"/>
          <p:cNvSpPr/>
          <p:nvPr/>
        </p:nvSpPr>
        <p:spPr>
          <a:xfrm>
            <a:off x="566928" y="6291072"/>
            <a:ext cx="11057839" cy="0"/>
          </a:xfrm>
          <a:prstGeom prst="line">
            <a:avLst/>
          </a:prstGeom>
          <a:noFill/>
          <a:ln w="12700">
            <a:solidFill>
              <a:srgbClr val="2C2F34"/>
            </a:solidFill>
            <a:prstDash val="solid"/>
          </a:ln>
        </p:spPr>
        <p:txBody>
          <a:bodyPr/>
          <a:lstStyle/>
          <a:p>
            <a:endParaRPr lang="en-US"/>
          </a:p>
        </p:txBody>
      </p:sp>
      <p:sp>
        <p:nvSpPr>
          <p:cNvPr id="7" name="Text 5"/>
          <p:cNvSpPr/>
          <p:nvPr/>
        </p:nvSpPr>
        <p:spPr>
          <a:xfrm>
            <a:off x="566928" y="6355080"/>
            <a:ext cx="8229600" cy="274320"/>
          </a:xfrm>
          <a:prstGeom prst="rect">
            <a:avLst/>
          </a:prstGeom>
          <a:noFill/>
          <a:ln/>
        </p:spPr>
        <p:txBody>
          <a:bodyPr wrap="square" rtlCol="0" anchor="ctr"/>
          <a:lstStyle/>
          <a:p>
            <a:pPr marL="0" indent="0">
              <a:buNone/>
            </a:pPr>
            <a:r>
              <a:rPr lang="en-US" sz="950" kern="0" spc="100" dirty="0">
                <a:solidFill>
                  <a:srgbClr val="8E948B"/>
                </a:solidFill>
                <a:latin typeface="Arial" pitchFamily="34" charset="0"/>
                <a:ea typeface="Arial" pitchFamily="34" charset="-122"/>
                <a:cs typeface="Arial" pitchFamily="34" charset="-120"/>
              </a:rPr>
              <a:t>Connected App · OAuth Client Credentials · jsforce</a:t>
            </a:r>
            <a:endParaRPr lang="en-US" sz="950" dirty="0"/>
          </a:p>
        </p:txBody>
      </p:sp>
      <p:sp>
        <p:nvSpPr>
          <p:cNvPr id="8" name="Text 6"/>
          <p:cNvSpPr/>
          <p:nvPr/>
        </p:nvSpPr>
        <p:spPr>
          <a:xfrm>
            <a:off x="9795967" y="6355080"/>
            <a:ext cx="1828800" cy="274320"/>
          </a:xfrm>
          <a:prstGeom prst="rect">
            <a:avLst/>
          </a:prstGeom>
          <a:noFill/>
          <a:ln/>
        </p:spPr>
        <p:txBody>
          <a:bodyPr wrap="square" rtlCol="0" anchor="ctr"/>
          <a:lstStyle/>
          <a:p>
            <a:pPr marL="0" indent="0" algn="r">
              <a:buNone/>
            </a:pPr>
            <a:r>
              <a:rPr lang="en-US" sz="950" dirty="0">
                <a:solidFill>
                  <a:srgbClr val="8E948B"/>
                </a:solidFill>
                <a:latin typeface="Arial" pitchFamily="34" charset="0"/>
                <a:ea typeface="Arial" pitchFamily="34" charset="-122"/>
                <a:cs typeface="Arial" pitchFamily="34" charset="-120"/>
              </a:rPr>
              <a:t>4 / 12</a:t>
            </a:r>
            <a:endParaRPr lang="en-US" sz="950" dirty="0"/>
          </a:p>
        </p:txBody>
      </p:sp>
      <p:sp>
        <p:nvSpPr>
          <p:cNvPr id="9" name="Shape 7"/>
          <p:cNvSpPr/>
          <p:nvPr/>
        </p:nvSpPr>
        <p:spPr>
          <a:xfrm>
            <a:off x="566928" y="6748272"/>
            <a:ext cx="3685946" cy="45720"/>
          </a:xfrm>
          <a:prstGeom prst="rect">
            <a:avLst/>
          </a:prstGeom>
          <a:solidFill>
            <a:srgbClr val="86BC25"/>
          </a:solidFill>
          <a:ln/>
        </p:spPr>
        <p:txBody>
          <a:bodyPr/>
          <a:lstStyle/>
          <a:p>
            <a:endParaRPr lang="en-US"/>
          </a:p>
        </p:txBody>
      </p:sp>
      <p:sp>
        <p:nvSpPr>
          <p:cNvPr id="10" name="Shape 8"/>
          <p:cNvSpPr/>
          <p:nvPr/>
        </p:nvSpPr>
        <p:spPr>
          <a:xfrm>
            <a:off x="566928" y="2286000"/>
            <a:ext cx="3383280" cy="1965960"/>
          </a:xfrm>
          <a:prstGeom prst="roundRect">
            <a:avLst>
              <a:gd name="adj" fmla="val 2791"/>
            </a:avLst>
          </a:prstGeom>
          <a:solidFill>
            <a:srgbClr val="16181C"/>
          </a:solidFill>
          <a:ln w="12700">
            <a:solidFill>
              <a:srgbClr val="2C2F34"/>
            </a:solidFill>
            <a:prstDash val="solid"/>
          </a:ln>
        </p:spPr>
        <p:txBody>
          <a:bodyPr/>
          <a:lstStyle/>
          <a:p>
            <a:endParaRPr lang="en-US"/>
          </a:p>
        </p:txBody>
      </p:sp>
      <p:sp>
        <p:nvSpPr>
          <p:cNvPr id="11" name="Text 9"/>
          <p:cNvSpPr/>
          <p:nvPr/>
        </p:nvSpPr>
        <p:spPr>
          <a:xfrm>
            <a:off x="768096" y="2450592"/>
            <a:ext cx="2980944" cy="1636776"/>
          </a:xfrm>
          <a:prstGeom prst="rect">
            <a:avLst/>
          </a:prstGeom>
          <a:noFill/>
          <a:ln/>
        </p:spPr>
        <p:txBody>
          <a:bodyPr wrap="square" rtlCol="0" anchor="t"/>
          <a:lstStyle/>
          <a:p>
            <a:pPr marL="0" indent="0">
              <a:lnSpc>
                <a:spcPct val="106000"/>
              </a:lnSpc>
              <a:buNone/>
            </a:pPr>
            <a:r>
              <a:rPr lang="en-US" sz="1000" b="1" kern="0" spc="200" dirty="0">
                <a:solidFill>
                  <a:srgbClr val="86BC25"/>
                </a:solidFill>
                <a:latin typeface="Arial" pitchFamily="34" charset="0"/>
                <a:ea typeface="Arial" pitchFamily="34" charset="-122"/>
                <a:cs typeface="Arial" pitchFamily="34" charset="-120"/>
              </a:rPr>
              <a:t>BROWSER</a:t>
            </a:r>
          </a:p>
          <a:p>
            <a:pPr marL="0" indent="0">
              <a:lnSpc>
                <a:spcPct val="106000"/>
              </a:lnSpc>
              <a:buNone/>
            </a:pPr>
            <a:r>
              <a:rPr lang="en-US" sz="1000" b="1" kern="0" spc="200" dirty="0">
                <a:solidFill>
                  <a:srgbClr val="86BC25"/>
                </a:solidFill>
                <a:latin typeface="Arial" pitchFamily="34" charset="0"/>
                <a:ea typeface="Arial" pitchFamily="34" charset="-122"/>
                <a:cs typeface="Arial" pitchFamily="34" charset="-120"/>
              </a:rPr>
              <a:t>
</a:t>
            </a:r>
            <a:r>
              <a:rPr lang="en-US" sz="1500" b="1" dirty="0">
                <a:solidFill>
                  <a:srgbClr val="F3F4F1"/>
                </a:solidFill>
                <a:latin typeface="Arial" pitchFamily="34" charset="0"/>
                <a:ea typeface="Arial" pitchFamily="34" charset="-122"/>
                <a:cs typeface="Arial" pitchFamily="34" charset="-120"/>
              </a:rPr>
              <a:t>React SPA (Vite)
</a:t>
            </a:r>
            <a:r>
              <a:rPr lang="en-US" sz="1150" dirty="0">
                <a:solidFill>
                  <a:srgbClr val="8E948B"/>
                </a:solidFill>
                <a:latin typeface="Arial" pitchFamily="34" charset="0"/>
                <a:ea typeface="Arial" pitchFamily="34" charset="-122"/>
                <a:cs typeface="Arial" pitchFamily="34" charset="-120"/>
              </a:rPr>
              <a:t>Storefront UI. Every data call goes through one module — it never talks to Salesforce directly.</a:t>
            </a:r>
            <a:endParaRPr lang="en-US" sz="1000" dirty="0"/>
          </a:p>
        </p:txBody>
      </p:sp>
      <p:sp>
        <p:nvSpPr>
          <p:cNvPr id="12" name="Text 10"/>
          <p:cNvSpPr/>
          <p:nvPr/>
        </p:nvSpPr>
        <p:spPr>
          <a:xfrm>
            <a:off x="3968496" y="2994660"/>
            <a:ext cx="530352" cy="548640"/>
          </a:xfrm>
          <a:prstGeom prst="rect">
            <a:avLst/>
          </a:prstGeom>
          <a:noFill/>
          <a:ln/>
        </p:spPr>
        <p:txBody>
          <a:bodyPr wrap="square" rtlCol="0" anchor="ctr"/>
          <a:lstStyle/>
          <a:p>
            <a:pPr marL="0" indent="0" algn="ctr">
              <a:buNone/>
            </a:pPr>
            <a:r>
              <a:rPr lang="en-US" sz="1800" dirty="0">
                <a:solidFill>
                  <a:srgbClr val="86BC25"/>
                </a:solidFill>
                <a:latin typeface="Arial" pitchFamily="34" charset="0"/>
                <a:ea typeface="Arial" pitchFamily="34" charset="-122"/>
                <a:cs typeface="Arial" pitchFamily="34" charset="-120"/>
              </a:rPr>
              <a:t>▶</a:t>
            </a:r>
            <a:endParaRPr lang="en-US" sz="1800" dirty="0"/>
          </a:p>
        </p:txBody>
      </p:sp>
      <p:sp>
        <p:nvSpPr>
          <p:cNvPr id="13" name="Shape 11"/>
          <p:cNvSpPr/>
          <p:nvPr/>
        </p:nvSpPr>
        <p:spPr>
          <a:xfrm>
            <a:off x="4517136" y="2286000"/>
            <a:ext cx="3383280" cy="1965960"/>
          </a:xfrm>
          <a:prstGeom prst="roundRect">
            <a:avLst>
              <a:gd name="adj" fmla="val 2791"/>
            </a:avLst>
          </a:prstGeom>
          <a:solidFill>
            <a:srgbClr val="16181C"/>
          </a:solidFill>
          <a:ln w="12700">
            <a:solidFill>
              <a:srgbClr val="2C2F34"/>
            </a:solidFill>
            <a:prstDash val="solid"/>
          </a:ln>
        </p:spPr>
        <p:txBody>
          <a:bodyPr/>
          <a:lstStyle/>
          <a:p>
            <a:endParaRPr lang="en-US"/>
          </a:p>
        </p:txBody>
      </p:sp>
      <p:sp>
        <p:nvSpPr>
          <p:cNvPr id="14" name="Text 12"/>
          <p:cNvSpPr/>
          <p:nvPr/>
        </p:nvSpPr>
        <p:spPr>
          <a:xfrm>
            <a:off x="4718304" y="2450592"/>
            <a:ext cx="2980944" cy="1636776"/>
          </a:xfrm>
          <a:prstGeom prst="rect">
            <a:avLst/>
          </a:prstGeom>
          <a:noFill/>
          <a:ln/>
        </p:spPr>
        <p:txBody>
          <a:bodyPr wrap="square" rtlCol="0" anchor="t"/>
          <a:lstStyle/>
          <a:p>
            <a:pPr marL="0" indent="0">
              <a:lnSpc>
                <a:spcPct val="106000"/>
              </a:lnSpc>
              <a:buNone/>
            </a:pPr>
            <a:r>
              <a:rPr lang="en-US" sz="1000" b="1" kern="0" spc="200" dirty="0">
                <a:solidFill>
                  <a:srgbClr val="86BC25"/>
                </a:solidFill>
                <a:latin typeface="Arial" pitchFamily="34" charset="0"/>
                <a:ea typeface="Arial" pitchFamily="34" charset="-122"/>
                <a:cs typeface="Arial" pitchFamily="34" charset="-120"/>
              </a:rPr>
              <a:t>MIDDLEWARE</a:t>
            </a:r>
          </a:p>
          <a:p>
            <a:pPr marL="0" indent="0">
              <a:lnSpc>
                <a:spcPct val="106000"/>
              </a:lnSpc>
              <a:buNone/>
            </a:pPr>
            <a:r>
              <a:rPr lang="en-US" sz="1000" b="1" kern="0" spc="200" dirty="0">
                <a:solidFill>
                  <a:srgbClr val="86BC25"/>
                </a:solidFill>
                <a:latin typeface="Arial" pitchFamily="34" charset="0"/>
                <a:ea typeface="Arial" pitchFamily="34" charset="-122"/>
                <a:cs typeface="Arial" pitchFamily="34" charset="-120"/>
              </a:rPr>
              <a:t>
</a:t>
            </a:r>
            <a:r>
              <a:rPr lang="en-US" sz="1500" b="1" dirty="0">
                <a:solidFill>
                  <a:srgbClr val="F3F4F1"/>
                </a:solidFill>
                <a:latin typeface="Arial" pitchFamily="34" charset="0"/>
                <a:ea typeface="Arial" pitchFamily="34" charset="-122"/>
                <a:cs typeface="Arial" pitchFamily="34" charset="-120"/>
              </a:rPr>
              <a:t>Node / Express BFF
</a:t>
            </a:r>
            <a:r>
              <a:rPr lang="en-US" sz="1150" dirty="0">
                <a:solidFill>
                  <a:srgbClr val="8E948B"/>
                </a:solidFill>
                <a:latin typeface="Arial" pitchFamily="34" charset="0"/>
                <a:ea typeface="Arial" pitchFamily="34" charset="-122"/>
                <a:cs typeface="Arial" pitchFamily="34" charset="-120"/>
              </a:rPr>
              <a:t>Validates input, computes totals, holds the session. One swap seam: mock data ⇄ live Salesforce.</a:t>
            </a:r>
            <a:endParaRPr lang="en-US" sz="1000" dirty="0"/>
          </a:p>
        </p:txBody>
      </p:sp>
      <p:sp>
        <p:nvSpPr>
          <p:cNvPr id="15" name="Text 13"/>
          <p:cNvSpPr/>
          <p:nvPr/>
        </p:nvSpPr>
        <p:spPr>
          <a:xfrm>
            <a:off x="7918704" y="2994660"/>
            <a:ext cx="530352" cy="548640"/>
          </a:xfrm>
          <a:prstGeom prst="rect">
            <a:avLst/>
          </a:prstGeom>
          <a:noFill/>
          <a:ln/>
        </p:spPr>
        <p:txBody>
          <a:bodyPr wrap="square" rtlCol="0" anchor="ctr"/>
          <a:lstStyle/>
          <a:p>
            <a:pPr marL="0" indent="0" algn="ctr">
              <a:buNone/>
            </a:pPr>
            <a:r>
              <a:rPr lang="en-US" sz="1800" dirty="0">
                <a:solidFill>
                  <a:srgbClr val="86BC25"/>
                </a:solidFill>
                <a:latin typeface="Arial" pitchFamily="34" charset="0"/>
                <a:ea typeface="Arial" pitchFamily="34" charset="-122"/>
                <a:cs typeface="Arial" pitchFamily="34" charset="-120"/>
              </a:rPr>
              <a:t>▶</a:t>
            </a:r>
            <a:endParaRPr lang="en-US" sz="1800" dirty="0"/>
          </a:p>
        </p:txBody>
      </p:sp>
      <p:sp>
        <p:nvSpPr>
          <p:cNvPr id="16" name="Shape 14"/>
          <p:cNvSpPr/>
          <p:nvPr/>
        </p:nvSpPr>
        <p:spPr>
          <a:xfrm>
            <a:off x="8467344" y="2286000"/>
            <a:ext cx="3383280" cy="1965960"/>
          </a:xfrm>
          <a:prstGeom prst="roundRect">
            <a:avLst>
              <a:gd name="adj" fmla="val 2791"/>
            </a:avLst>
          </a:prstGeom>
          <a:solidFill>
            <a:srgbClr val="1A2410"/>
          </a:solidFill>
          <a:ln w="12700">
            <a:solidFill>
              <a:srgbClr val="86BC25"/>
            </a:solidFill>
            <a:prstDash val="solid"/>
          </a:ln>
        </p:spPr>
        <p:txBody>
          <a:bodyPr/>
          <a:lstStyle/>
          <a:p>
            <a:endParaRPr lang="en-US"/>
          </a:p>
        </p:txBody>
      </p:sp>
      <p:sp>
        <p:nvSpPr>
          <p:cNvPr id="17" name="Text 15"/>
          <p:cNvSpPr/>
          <p:nvPr/>
        </p:nvSpPr>
        <p:spPr>
          <a:xfrm>
            <a:off x="8668512" y="2450592"/>
            <a:ext cx="2980944" cy="1636776"/>
          </a:xfrm>
          <a:prstGeom prst="rect">
            <a:avLst/>
          </a:prstGeom>
          <a:noFill/>
          <a:ln/>
        </p:spPr>
        <p:txBody>
          <a:bodyPr wrap="square" rtlCol="0" anchor="t"/>
          <a:lstStyle/>
          <a:p>
            <a:pPr marL="0" indent="0">
              <a:lnSpc>
                <a:spcPct val="106000"/>
              </a:lnSpc>
              <a:buNone/>
            </a:pPr>
            <a:r>
              <a:rPr lang="en-US" sz="1000" b="1" kern="0" spc="200" dirty="0">
                <a:solidFill>
                  <a:srgbClr val="86BC25"/>
                </a:solidFill>
                <a:latin typeface="Arial" pitchFamily="34" charset="0"/>
                <a:ea typeface="Arial" pitchFamily="34" charset="-122"/>
                <a:cs typeface="Arial" pitchFamily="34" charset="-120"/>
              </a:rPr>
              <a:t>SYSTEM OF RECORD</a:t>
            </a:r>
          </a:p>
          <a:p>
            <a:pPr marL="0" indent="0">
              <a:lnSpc>
                <a:spcPct val="106000"/>
              </a:lnSpc>
              <a:buNone/>
            </a:pPr>
            <a:r>
              <a:rPr lang="en-US" sz="1000" b="1" kern="0" spc="200" dirty="0">
                <a:solidFill>
                  <a:srgbClr val="86BC25"/>
                </a:solidFill>
                <a:latin typeface="Arial" pitchFamily="34" charset="0"/>
                <a:ea typeface="Arial" pitchFamily="34" charset="-122"/>
                <a:cs typeface="Arial" pitchFamily="34" charset="-120"/>
              </a:rPr>
              <a:t>
</a:t>
            </a:r>
            <a:r>
              <a:rPr lang="en-US" sz="1500" b="1" dirty="0">
                <a:solidFill>
                  <a:srgbClr val="F3F4F1"/>
                </a:solidFill>
                <a:latin typeface="Arial" pitchFamily="34" charset="0"/>
                <a:ea typeface="Arial" pitchFamily="34" charset="-122"/>
                <a:cs typeface="Arial" pitchFamily="34" charset="-120"/>
              </a:rPr>
              <a:t>Salesforce
</a:t>
            </a:r>
            <a:r>
              <a:rPr lang="en-US" sz="1150" dirty="0">
                <a:solidFill>
                  <a:srgbClr val="8E948B"/>
                </a:solidFill>
                <a:latin typeface="Arial" pitchFamily="34" charset="0"/>
                <a:ea typeface="Arial" pitchFamily="34" charset="-122"/>
                <a:cs typeface="Arial" pitchFamily="34" charset="-120"/>
              </a:rPr>
              <a:t>Connected App with OAuth Client Credentials. Product2, Order, Person Accounts, Case…</a:t>
            </a:r>
            <a:endParaRPr lang="en-US" sz="1000" dirty="0"/>
          </a:p>
        </p:txBody>
      </p:sp>
      <p:sp>
        <p:nvSpPr>
          <p:cNvPr id="18" name="Text 16"/>
          <p:cNvSpPr/>
          <p:nvPr/>
        </p:nvSpPr>
        <p:spPr>
          <a:xfrm>
            <a:off x="3968496" y="4270248"/>
            <a:ext cx="530352" cy="457200"/>
          </a:xfrm>
          <a:prstGeom prst="rect">
            <a:avLst/>
          </a:prstGeom>
          <a:noFill/>
          <a:ln/>
        </p:spPr>
        <p:txBody>
          <a:bodyPr wrap="square" rtlCol="0" anchor="ctr"/>
          <a:lstStyle/>
          <a:p>
            <a:pPr marL="0" indent="0" algn="ctr">
              <a:buNone/>
            </a:pPr>
            <a:r>
              <a:rPr lang="en-US" sz="800" dirty="0">
                <a:solidFill>
                  <a:srgbClr val="8E948B"/>
                </a:solidFill>
                <a:latin typeface="Arial" pitchFamily="34" charset="0"/>
                <a:ea typeface="Arial" pitchFamily="34" charset="-122"/>
                <a:cs typeface="Arial" pitchFamily="34" charset="-120"/>
              </a:rPr>
              <a:t>same-origin /api + httpOnly cookie</a:t>
            </a:r>
            <a:endParaRPr lang="en-US" sz="800" dirty="0"/>
          </a:p>
        </p:txBody>
      </p:sp>
      <p:sp>
        <p:nvSpPr>
          <p:cNvPr id="19" name="Text 17"/>
          <p:cNvSpPr/>
          <p:nvPr/>
        </p:nvSpPr>
        <p:spPr>
          <a:xfrm>
            <a:off x="7918704" y="4270248"/>
            <a:ext cx="530352" cy="457200"/>
          </a:xfrm>
          <a:prstGeom prst="rect">
            <a:avLst/>
          </a:prstGeom>
          <a:noFill/>
          <a:ln/>
        </p:spPr>
        <p:txBody>
          <a:bodyPr wrap="square" rtlCol="0" anchor="ctr"/>
          <a:lstStyle/>
          <a:p>
            <a:pPr marL="0" indent="0" algn="ctr">
              <a:buNone/>
            </a:pPr>
            <a:r>
              <a:rPr lang="en-US" sz="800" dirty="0">
                <a:solidFill>
                  <a:srgbClr val="8E948B"/>
                </a:solidFill>
                <a:latin typeface="Arial" pitchFamily="34" charset="0"/>
                <a:ea typeface="Arial" pitchFamily="34" charset="-122"/>
                <a:cs typeface="Arial" pitchFamily="34" charset="-120"/>
              </a:rPr>
              <a:t>OAuth token + jsforce</a:t>
            </a:r>
            <a:endParaRPr lang="en-US" sz="800" dirty="0"/>
          </a:p>
        </p:txBody>
      </p:sp>
      <p:sp>
        <p:nvSpPr>
          <p:cNvPr id="20" name="Shape 18"/>
          <p:cNvSpPr/>
          <p:nvPr/>
        </p:nvSpPr>
        <p:spPr>
          <a:xfrm>
            <a:off x="566928" y="4892040"/>
            <a:ext cx="2697480" cy="566928"/>
          </a:xfrm>
          <a:prstGeom prst="roundRect">
            <a:avLst>
              <a:gd name="adj" fmla="val 50000"/>
            </a:avLst>
          </a:prstGeom>
          <a:solidFill>
            <a:srgbClr val="1C1F24"/>
          </a:solidFill>
          <a:ln w="12700">
            <a:solidFill>
              <a:srgbClr val="2C2F34"/>
            </a:solidFill>
            <a:prstDash val="solid"/>
          </a:ln>
        </p:spPr>
        <p:txBody>
          <a:bodyPr/>
          <a:lstStyle/>
          <a:p>
            <a:endParaRPr lang="en-US"/>
          </a:p>
        </p:txBody>
      </p:sp>
      <p:sp>
        <p:nvSpPr>
          <p:cNvPr id="21" name="Text 19"/>
          <p:cNvSpPr/>
          <p:nvPr/>
        </p:nvSpPr>
        <p:spPr>
          <a:xfrm>
            <a:off x="658368" y="4892040"/>
            <a:ext cx="2514600" cy="566928"/>
          </a:xfrm>
          <a:prstGeom prst="rect">
            <a:avLst/>
          </a:prstGeom>
          <a:noFill/>
          <a:ln/>
        </p:spPr>
        <p:txBody>
          <a:bodyPr wrap="square" rtlCol="0" anchor="ctr"/>
          <a:lstStyle/>
          <a:p>
            <a:pPr marL="0" indent="0" algn="ctr">
              <a:buNone/>
            </a:pPr>
            <a:r>
              <a:rPr lang="en-US" sz="1000" dirty="0">
                <a:solidFill>
                  <a:srgbClr val="C4C8C0"/>
                </a:solidFill>
                <a:latin typeface="Arial" pitchFamily="34" charset="0"/>
                <a:ea typeface="Arial" pitchFamily="34" charset="-122"/>
                <a:cs typeface="Arial" pitchFamily="34" charset="-120"/>
              </a:rPr>
              <a:t>Secrets stay server-side</a:t>
            </a:r>
            <a:endParaRPr lang="en-US" sz="1000" dirty="0"/>
          </a:p>
        </p:txBody>
      </p:sp>
      <p:sp>
        <p:nvSpPr>
          <p:cNvPr id="22" name="Shape 20"/>
          <p:cNvSpPr/>
          <p:nvPr/>
        </p:nvSpPr>
        <p:spPr>
          <a:xfrm>
            <a:off x="3374136" y="4892040"/>
            <a:ext cx="2697480" cy="566928"/>
          </a:xfrm>
          <a:prstGeom prst="roundRect">
            <a:avLst>
              <a:gd name="adj" fmla="val 50000"/>
            </a:avLst>
          </a:prstGeom>
          <a:solidFill>
            <a:srgbClr val="1C1F24"/>
          </a:solidFill>
          <a:ln w="12700">
            <a:solidFill>
              <a:srgbClr val="2C2F34"/>
            </a:solidFill>
            <a:prstDash val="solid"/>
          </a:ln>
        </p:spPr>
        <p:txBody>
          <a:bodyPr/>
          <a:lstStyle/>
          <a:p>
            <a:endParaRPr lang="en-US"/>
          </a:p>
        </p:txBody>
      </p:sp>
      <p:sp>
        <p:nvSpPr>
          <p:cNvPr id="23" name="Text 21"/>
          <p:cNvSpPr/>
          <p:nvPr/>
        </p:nvSpPr>
        <p:spPr>
          <a:xfrm>
            <a:off x="3465576" y="4892040"/>
            <a:ext cx="2514600" cy="566928"/>
          </a:xfrm>
          <a:prstGeom prst="rect">
            <a:avLst/>
          </a:prstGeom>
          <a:noFill/>
          <a:ln/>
        </p:spPr>
        <p:txBody>
          <a:bodyPr wrap="square" rtlCol="0" anchor="ctr"/>
          <a:lstStyle/>
          <a:p>
            <a:pPr marL="0" indent="0" algn="ctr">
              <a:buNone/>
            </a:pPr>
            <a:r>
              <a:rPr lang="en-US" sz="1000" dirty="0">
                <a:solidFill>
                  <a:srgbClr val="C4C8C0"/>
                </a:solidFill>
                <a:latin typeface="Arial" pitchFamily="34" charset="0"/>
                <a:ea typeface="Arial" pitchFamily="34" charset="-122"/>
                <a:cs typeface="Arial" pitchFamily="34" charset="-120"/>
              </a:rPr>
              <a:t>httpOnly session cookie</a:t>
            </a:r>
            <a:endParaRPr lang="en-US" sz="1000" dirty="0"/>
          </a:p>
        </p:txBody>
      </p:sp>
      <p:sp>
        <p:nvSpPr>
          <p:cNvPr id="24" name="Shape 22"/>
          <p:cNvSpPr/>
          <p:nvPr/>
        </p:nvSpPr>
        <p:spPr>
          <a:xfrm>
            <a:off x="6181344" y="4892040"/>
            <a:ext cx="2697480" cy="566928"/>
          </a:xfrm>
          <a:prstGeom prst="roundRect">
            <a:avLst>
              <a:gd name="adj" fmla="val 50000"/>
            </a:avLst>
          </a:prstGeom>
          <a:solidFill>
            <a:srgbClr val="1C1F24"/>
          </a:solidFill>
          <a:ln w="12700">
            <a:solidFill>
              <a:srgbClr val="2C2F34"/>
            </a:solidFill>
            <a:prstDash val="solid"/>
          </a:ln>
        </p:spPr>
        <p:txBody>
          <a:bodyPr/>
          <a:lstStyle/>
          <a:p>
            <a:endParaRPr lang="en-US"/>
          </a:p>
        </p:txBody>
      </p:sp>
      <p:sp>
        <p:nvSpPr>
          <p:cNvPr id="25" name="Text 23"/>
          <p:cNvSpPr/>
          <p:nvPr/>
        </p:nvSpPr>
        <p:spPr>
          <a:xfrm>
            <a:off x="6272784" y="4892040"/>
            <a:ext cx="2514600" cy="566928"/>
          </a:xfrm>
          <a:prstGeom prst="rect">
            <a:avLst/>
          </a:prstGeom>
          <a:noFill/>
          <a:ln/>
        </p:spPr>
        <p:txBody>
          <a:bodyPr wrap="square" rtlCol="0" anchor="ctr"/>
          <a:lstStyle/>
          <a:p>
            <a:pPr marL="0" indent="0" algn="ctr">
              <a:buNone/>
            </a:pPr>
            <a:r>
              <a:rPr lang="en-US" sz="1000" dirty="0">
                <a:solidFill>
                  <a:srgbClr val="C4C8C0"/>
                </a:solidFill>
                <a:latin typeface="Arial" pitchFamily="34" charset="0"/>
                <a:ea typeface="Arial" pitchFamily="34" charset="-122"/>
                <a:cs typeface="Arial" pitchFamily="34" charset="-120"/>
              </a:rPr>
              <a:t>Runs fully offline in mock mode</a:t>
            </a:r>
            <a:endParaRPr lang="en-US" sz="1000" dirty="0"/>
          </a:p>
        </p:txBody>
      </p:sp>
      <p:sp>
        <p:nvSpPr>
          <p:cNvPr id="26" name="Shape 24"/>
          <p:cNvSpPr/>
          <p:nvPr/>
        </p:nvSpPr>
        <p:spPr>
          <a:xfrm>
            <a:off x="8988552" y="4892040"/>
            <a:ext cx="2697480" cy="566928"/>
          </a:xfrm>
          <a:prstGeom prst="roundRect">
            <a:avLst>
              <a:gd name="adj" fmla="val 50000"/>
            </a:avLst>
          </a:prstGeom>
          <a:solidFill>
            <a:srgbClr val="1C1F24"/>
          </a:solidFill>
          <a:ln w="12700">
            <a:solidFill>
              <a:srgbClr val="2C2F34"/>
            </a:solidFill>
            <a:prstDash val="solid"/>
          </a:ln>
        </p:spPr>
        <p:txBody>
          <a:bodyPr/>
          <a:lstStyle/>
          <a:p>
            <a:endParaRPr lang="en-US"/>
          </a:p>
        </p:txBody>
      </p:sp>
      <p:sp>
        <p:nvSpPr>
          <p:cNvPr id="27" name="Text 25"/>
          <p:cNvSpPr/>
          <p:nvPr/>
        </p:nvSpPr>
        <p:spPr>
          <a:xfrm>
            <a:off x="9079992" y="4892040"/>
            <a:ext cx="2514600" cy="566928"/>
          </a:xfrm>
          <a:prstGeom prst="rect">
            <a:avLst/>
          </a:prstGeom>
          <a:noFill/>
          <a:ln/>
        </p:spPr>
        <p:txBody>
          <a:bodyPr wrap="square" rtlCol="0" anchor="ctr"/>
          <a:lstStyle/>
          <a:p>
            <a:pPr marL="0" indent="0" algn="ctr">
              <a:buNone/>
            </a:pPr>
            <a:r>
              <a:rPr lang="en-US" sz="1000" dirty="0">
                <a:solidFill>
                  <a:srgbClr val="C4C8C0"/>
                </a:solidFill>
                <a:latin typeface="Arial" pitchFamily="34" charset="0"/>
                <a:ea typeface="Arial" pitchFamily="34" charset="-122"/>
                <a:cs typeface="Arial" pitchFamily="34" charset="-120"/>
              </a:rPr>
              <a:t>Identical business rules in both modes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0F11"/>
        </a:solidFill>
        <a:effectLst/>
      </p:bgPr>
    </p:bg>
    <p:spTree>
      <p:nvGrpSpPr>
        <p:cNvPr id="1" name=""/>
        <p:cNvGrpSpPr/>
        <p:nvPr/>
      </p:nvGrpSpPr>
      <p:grpSpPr>
        <a:xfrm>
          <a:off x="0" y="0"/>
          <a:ext cx="0" cy="0"/>
          <a:chOff x="0" y="0"/>
          <a:chExt cx="0" cy="0"/>
        </a:xfrm>
      </p:grpSpPr>
      <p:sp>
        <p:nvSpPr>
          <p:cNvPr id="2" name="Text 0"/>
          <p:cNvSpPr/>
          <p:nvPr/>
        </p:nvSpPr>
        <p:spPr>
          <a:xfrm>
            <a:off x="566928" y="384048"/>
            <a:ext cx="7315200" cy="320040"/>
          </a:xfrm>
          <a:prstGeom prst="rect">
            <a:avLst/>
          </a:prstGeom>
          <a:noFill/>
          <a:ln/>
        </p:spPr>
        <p:txBody>
          <a:bodyPr wrap="square" rtlCol="0" anchor="ctr"/>
          <a:lstStyle/>
          <a:p>
            <a:pPr marL="0" indent="0">
              <a:buNone/>
            </a:pPr>
            <a:r>
              <a:rPr lang="en-US" sz="1100" b="1" kern="0" spc="300" dirty="0">
                <a:solidFill>
                  <a:srgbClr val="86BC25"/>
                </a:solidFill>
                <a:latin typeface="Arial" pitchFamily="34" charset="0"/>
                <a:ea typeface="Arial" pitchFamily="34" charset="-122"/>
                <a:cs typeface="Arial" pitchFamily="34" charset="-120"/>
              </a:rPr>
              <a:t>THE SALESFORCE SIDE</a:t>
            </a:r>
            <a:endParaRPr lang="en-US" sz="1100" dirty="0"/>
          </a:p>
        </p:txBody>
      </p:sp>
      <p:sp>
        <p:nvSpPr>
          <p:cNvPr id="3" name="Text 1"/>
          <p:cNvSpPr/>
          <p:nvPr/>
        </p:nvSpPr>
        <p:spPr>
          <a:xfrm>
            <a:off x="8881567" y="365760"/>
            <a:ext cx="2743200" cy="365760"/>
          </a:xfrm>
          <a:prstGeom prst="rect">
            <a:avLst/>
          </a:prstGeom>
          <a:noFill/>
          <a:ln/>
        </p:spPr>
        <p:txBody>
          <a:bodyPr wrap="square" rtlCol="0" anchor="ctr"/>
          <a:lstStyle/>
          <a:p>
            <a:pPr marL="0" indent="0" algn="r">
              <a:buNone/>
            </a:pPr>
            <a:r>
              <a:rPr lang="en-US" sz="1500" b="1" dirty="0">
                <a:solidFill>
                  <a:srgbClr val="F3F4F1"/>
                </a:solidFill>
                <a:latin typeface="Arial" pitchFamily="34" charset="0"/>
                <a:ea typeface="Arial" pitchFamily="34" charset="-122"/>
                <a:cs typeface="Arial" pitchFamily="34" charset="-120"/>
              </a:rPr>
              <a:t>Deloitte</a:t>
            </a:r>
            <a:r>
              <a:rPr lang="en-US" sz="1500" b="1" dirty="0">
                <a:solidFill>
                  <a:srgbClr val="86BC25"/>
                </a:solidFill>
                <a:latin typeface="Arial" pitchFamily="34" charset="0"/>
                <a:ea typeface="Arial" pitchFamily="34" charset="-122"/>
                <a:cs typeface="Arial" pitchFamily="34" charset="-120"/>
              </a:rPr>
              <a:t>.</a:t>
            </a:r>
            <a:endParaRPr lang="en-US" sz="1500" dirty="0"/>
          </a:p>
        </p:txBody>
      </p:sp>
      <p:sp>
        <p:nvSpPr>
          <p:cNvPr id="4" name="Shape 2"/>
          <p:cNvSpPr/>
          <p:nvPr/>
        </p:nvSpPr>
        <p:spPr>
          <a:xfrm>
            <a:off x="566928" y="841248"/>
            <a:ext cx="11057839" cy="0"/>
          </a:xfrm>
          <a:prstGeom prst="line">
            <a:avLst/>
          </a:prstGeom>
          <a:noFill/>
          <a:ln w="12700">
            <a:solidFill>
              <a:srgbClr val="2C2F34"/>
            </a:solidFill>
            <a:prstDash val="solid"/>
          </a:ln>
        </p:spPr>
        <p:txBody>
          <a:bodyPr/>
          <a:lstStyle/>
          <a:p>
            <a:endParaRPr lang="en-US"/>
          </a:p>
        </p:txBody>
      </p:sp>
      <p:sp>
        <p:nvSpPr>
          <p:cNvPr id="5" name="Text 3"/>
          <p:cNvSpPr/>
          <p:nvPr/>
        </p:nvSpPr>
        <p:spPr>
          <a:xfrm>
            <a:off x="566928" y="1024128"/>
            <a:ext cx="11057839" cy="914400"/>
          </a:xfrm>
          <a:prstGeom prst="rect">
            <a:avLst/>
          </a:prstGeom>
          <a:noFill/>
          <a:ln/>
        </p:spPr>
        <p:txBody>
          <a:bodyPr wrap="square" rtlCol="0" anchor="t"/>
          <a:lstStyle/>
          <a:p>
            <a:pPr marL="0" indent="0" algn="l">
              <a:buNone/>
            </a:pPr>
            <a:r>
              <a:rPr lang="en-US" sz="3000" b="1" dirty="0">
                <a:solidFill>
                  <a:srgbClr val="F3F4F1"/>
                </a:solidFill>
                <a:latin typeface="Arial" pitchFamily="34" charset="0"/>
                <a:ea typeface="Arial" pitchFamily="34" charset="-122"/>
                <a:cs typeface="Arial" pitchFamily="34" charset="-120"/>
              </a:rPr>
              <a:t>Standard-first data model</a:t>
            </a:r>
            <a:endParaRPr lang="en-US" sz="3000" dirty="0"/>
          </a:p>
        </p:txBody>
      </p:sp>
      <p:sp>
        <p:nvSpPr>
          <p:cNvPr id="6" name="Shape 4"/>
          <p:cNvSpPr/>
          <p:nvPr/>
        </p:nvSpPr>
        <p:spPr>
          <a:xfrm>
            <a:off x="566928" y="6291072"/>
            <a:ext cx="11057839" cy="0"/>
          </a:xfrm>
          <a:prstGeom prst="line">
            <a:avLst/>
          </a:prstGeom>
          <a:noFill/>
          <a:ln w="12700">
            <a:solidFill>
              <a:srgbClr val="2C2F34"/>
            </a:solidFill>
            <a:prstDash val="solid"/>
          </a:ln>
        </p:spPr>
        <p:txBody>
          <a:bodyPr/>
          <a:lstStyle/>
          <a:p>
            <a:endParaRPr lang="en-US"/>
          </a:p>
        </p:txBody>
      </p:sp>
      <p:sp>
        <p:nvSpPr>
          <p:cNvPr id="7" name="Text 5"/>
          <p:cNvSpPr/>
          <p:nvPr/>
        </p:nvSpPr>
        <p:spPr>
          <a:xfrm>
            <a:off x="566928" y="6355080"/>
            <a:ext cx="8229600" cy="274320"/>
          </a:xfrm>
          <a:prstGeom prst="rect">
            <a:avLst/>
          </a:prstGeom>
          <a:noFill/>
          <a:ln/>
        </p:spPr>
        <p:txBody>
          <a:bodyPr wrap="square" rtlCol="0" anchor="ctr"/>
          <a:lstStyle/>
          <a:p>
            <a:pPr marL="0" indent="0">
              <a:buNone/>
            </a:pPr>
            <a:r>
              <a:rPr lang="en-US" sz="950" kern="0" spc="100" dirty="0">
                <a:solidFill>
                  <a:srgbClr val="8E948B"/>
                </a:solidFill>
                <a:latin typeface="Arial" pitchFamily="34" charset="0"/>
                <a:ea typeface="Arial" pitchFamily="34" charset="-122"/>
                <a:cs typeface="Arial" pitchFamily="34" charset="-120"/>
              </a:rPr>
              <a:t>Provisioned in one command — npm run sf:setup</a:t>
            </a:r>
            <a:endParaRPr lang="en-US" sz="950" dirty="0"/>
          </a:p>
        </p:txBody>
      </p:sp>
      <p:sp>
        <p:nvSpPr>
          <p:cNvPr id="8" name="Text 6"/>
          <p:cNvSpPr/>
          <p:nvPr/>
        </p:nvSpPr>
        <p:spPr>
          <a:xfrm>
            <a:off x="9795967" y="6355080"/>
            <a:ext cx="1828800" cy="274320"/>
          </a:xfrm>
          <a:prstGeom prst="rect">
            <a:avLst/>
          </a:prstGeom>
          <a:noFill/>
          <a:ln/>
        </p:spPr>
        <p:txBody>
          <a:bodyPr wrap="square" rtlCol="0" anchor="ctr"/>
          <a:lstStyle/>
          <a:p>
            <a:pPr marL="0" indent="0" algn="r">
              <a:buNone/>
            </a:pPr>
            <a:r>
              <a:rPr lang="en-US" sz="950" dirty="0">
                <a:solidFill>
                  <a:srgbClr val="8E948B"/>
                </a:solidFill>
                <a:latin typeface="Arial" pitchFamily="34" charset="0"/>
                <a:ea typeface="Arial" pitchFamily="34" charset="-122"/>
                <a:cs typeface="Arial" pitchFamily="34" charset="-120"/>
              </a:rPr>
              <a:t>5 / 12</a:t>
            </a:r>
            <a:endParaRPr lang="en-US" sz="950" dirty="0"/>
          </a:p>
        </p:txBody>
      </p:sp>
      <p:sp>
        <p:nvSpPr>
          <p:cNvPr id="9" name="Shape 7"/>
          <p:cNvSpPr/>
          <p:nvPr/>
        </p:nvSpPr>
        <p:spPr>
          <a:xfrm>
            <a:off x="566928" y="6748272"/>
            <a:ext cx="4607433" cy="45720"/>
          </a:xfrm>
          <a:prstGeom prst="rect">
            <a:avLst/>
          </a:prstGeom>
          <a:solidFill>
            <a:srgbClr val="86BC25"/>
          </a:solidFill>
          <a:ln/>
        </p:spPr>
        <p:txBody>
          <a:bodyPr/>
          <a:lstStyle/>
          <a:p>
            <a:endParaRPr lang="en-US"/>
          </a:p>
        </p:txBody>
      </p:sp>
      <p:sp>
        <p:nvSpPr>
          <p:cNvPr id="10" name="Text 8"/>
          <p:cNvSpPr/>
          <p:nvPr/>
        </p:nvSpPr>
        <p:spPr>
          <a:xfrm>
            <a:off x="566928" y="2011680"/>
            <a:ext cx="5486400" cy="274320"/>
          </a:xfrm>
          <a:prstGeom prst="rect">
            <a:avLst/>
          </a:prstGeom>
          <a:noFill/>
          <a:ln/>
        </p:spPr>
        <p:txBody>
          <a:bodyPr wrap="square" rtlCol="0" anchor="ctr"/>
          <a:lstStyle/>
          <a:p>
            <a:pPr marL="0" indent="0">
              <a:buNone/>
            </a:pPr>
            <a:r>
              <a:rPr lang="en-US" sz="1100" b="1" kern="0" spc="200" dirty="0">
                <a:solidFill>
                  <a:srgbClr val="86BC25"/>
                </a:solidFill>
                <a:latin typeface="Arial" pitchFamily="34" charset="0"/>
                <a:ea typeface="Arial" pitchFamily="34" charset="-122"/>
                <a:cs typeface="Arial" pitchFamily="34" charset="-120"/>
              </a:rPr>
              <a:t>STANDARD OBJECTS (NO LICENSE ADD-ONS)</a:t>
            </a:r>
            <a:endParaRPr lang="en-US" sz="1100" dirty="0"/>
          </a:p>
        </p:txBody>
      </p:sp>
      <p:sp>
        <p:nvSpPr>
          <p:cNvPr id="11" name="Text 9"/>
          <p:cNvSpPr/>
          <p:nvPr/>
        </p:nvSpPr>
        <p:spPr>
          <a:xfrm>
            <a:off x="566928" y="2423160"/>
            <a:ext cx="5394960" cy="2926080"/>
          </a:xfrm>
          <a:prstGeom prst="rect">
            <a:avLst/>
          </a:prstGeom>
          <a:noFill/>
          <a:ln/>
        </p:spPr>
        <p:txBody>
          <a:bodyPr wrap="square" rtlCol="0" anchor="t"/>
          <a:lstStyle/>
          <a:p>
            <a:pPr marL="203200" indent="-203200">
              <a:lnSpc>
                <a:spcPct val="112000"/>
              </a:lnSpc>
              <a:spcAft>
                <a:spcPts val="1400"/>
              </a:spcAft>
              <a:buSzPct val="100000"/>
              <a:buChar char="▪"/>
            </a:pPr>
            <a:r>
              <a:rPr lang="en-US" sz="1500" b="1" dirty="0">
                <a:solidFill>
                  <a:srgbClr val="F3F4F1"/>
                </a:solidFill>
                <a:latin typeface="Arial" pitchFamily="34" charset="0"/>
                <a:ea typeface="Arial" pitchFamily="34" charset="-122"/>
                <a:cs typeface="Arial" pitchFamily="34" charset="-120"/>
              </a:rPr>
              <a:t>Product2 + Pricebook </a:t>
            </a:r>
            <a:r>
              <a:rPr lang="en-US" sz="1500" dirty="0">
                <a:solidFill>
                  <a:srgbClr val="C4C8C0"/>
                </a:solidFill>
                <a:latin typeface="Arial" pitchFamily="34" charset="0"/>
                <a:ea typeface="Arial" pitchFamily="34" charset="-122"/>
                <a:cs typeface="Arial" pitchFamily="34" charset="-120"/>
              </a:rPr>
              <a:t>— catalog &amp; pricing</a:t>
            </a:r>
            <a:endParaRPr lang="en-US" sz="1500" dirty="0"/>
          </a:p>
          <a:p>
            <a:pPr marL="203200" indent="-203200">
              <a:lnSpc>
                <a:spcPct val="112000"/>
              </a:lnSpc>
              <a:spcAft>
                <a:spcPts val="1400"/>
              </a:spcAft>
              <a:buSzPct val="100000"/>
              <a:buChar char="▪"/>
            </a:pPr>
            <a:r>
              <a:rPr lang="en-US" sz="1500" b="1" dirty="0">
                <a:solidFill>
                  <a:srgbClr val="F3F4F1"/>
                </a:solidFill>
                <a:latin typeface="Arial" pitchFamily="34" charset="0"/>
                <a:ea typeface="Arial" pitchFamily="34" charset="-122"/>
                <a:cs typeface="Arial" pitchFamily="34" charset="-120"/>
              </a:rPr>
              <a:t>Order + OrderItem + OrderSummary </a:t>
            </a:r>
            <a:r>
              <a:rPr lang="en-US" sz="1500" dirty="0">
                <a:solidFill>
                  <a:srgbClr val="C4C8C0"/>
                </a:solidFill>
                <a:latin typeface="Arial" pitchFamily="34" charset="0"/>
                <a:ea typeface="Arial" pitchFamily="34" charset="-122"/>
                <a:cs typeface="Arial" pitchFamily="34" charset="-120"/>
              </a:rPr>
              <a:t>— orders &amp; OMS</a:t>
            </a:r>
            <a:endParaRPr lang="en-US" sz="1500" dirty="0"/>
          </a:p>
          <a:p>
            <a:pPr marL="203200" indent="-203200">
              <a:lnSpc>
                <a:spcPct val="112000"/>
              </a:lnSpc>
              <a:spcAft>
                <a:spcPts val="1400"/>
              </a:spcAft>
              <a:buSzPct val="100000"/>
              <a:buChar char="▪"/>
            </a:pPr>
            <a:r>
              <a:rPr lang="en-US" sz="1500" b="1" dirty="0">
                <a:solidFill>
                  <a:srgbClr val="F3F4F1"/>
                </a:solidFill>
                <a:latin typeface="Arial" pitchFamily="34" charset="0"/>
                <a:ea typeface="Arial" pitchFamily="34" charset="-122"/>
                <a:cs typeface="Arial" pitchFamily="34" charset="-120"/>
              </a:rPr>
              <a:t>Person Accounts · Wishlist </a:t>
            </a:r>
            <a:r>
              <a:rPr lang="en-US" sz="1500" dirty="0">
                <a:solidFill>
                  <a:srgbClr val="C4C8C0"/>
                </a:solidFill>
                <a:latin typeface="Arial" pitchFamily="34" charset="0"/>
                <a:ea typeface="Arial" pitchFamily="34" charset="-122"/>
                <a:cs typeface="Arial" pitchFamily="34" charset="-120"/>
              </a:rPr>
              <a:t>· ContactPointAddress</a:t>
            </a:r>
            <a:endParaRPr lang="en-US" sz="1500" dirty="0"/>
          </a:p>
          <a:p>
            <a:pPr marL="203200" indent="-203200">
              <a:lnSpc>
                <a:spcPct val="112000"/>
              </a:lnSpc>
              <a:spcAft>
                <a:spcPts val="1400"/>
              </a:spcAft>
              <a:buSzPct val="100000"/>
              <a:buChar char="▪"/>
            </a:pPr>
            <a:r>
              <a:rPr lang="en-US" sz="1500" b="1" dirty="0">
                <a:solidFill>
                  <a:srgbClr val="F3F4F1"/>
                </a:solidFill>
                <a:latin typeface="Arial" pitchFamily="34" charset="0"/>
                <a:ea typeface="Arial" pitchFamily="34" charset="-122"/>
                <a:cs typeface="Arial" pitchFamily="34" charset="-120"/>
              </a:rPr>
              <a:t>Case + CaseComment </a:t>
            </a:r>
            <a:r>
              <a:rPr lang="en-US" sz="1500" dirty="0">
                <a:solidFill>
                  <a:srgbClr val="C4C8C0"/>
                </a:solidFill>
                <a:latin typeface="Arial" pitchFamily="34" charset="0"/>
                <a:ea typeface="Arial" pitchFamily="34" charset="-122"/>
                <a:cs typeface="Arial" pitchFamily="34" charset="-120"/>
              </a:rPr>
              <a:t>· Coupon + Promotion</a:t>
            </a:r>
            <a:endParaRPr lang="en-US" sz="1500" dirty="0"/>
          </a:p>
        </p:txBody>
      </p:sp>
      <p:sp>
        <p:nvSpPr>
          <p:cNvPr id="12" name="Text 10"/>
          <p:cNvSpPr/>
          <p:nvPr/>
        </p:nvSpPr>
        <p:spPr>
          <a:xfrm>
            <a:off x="6419088" y="2011680"/>
            <a:ext cx="5486400" cy="274320"/>
          </a:xfrm>
          <a:prstGeom prst="rect">
            <a:avLst/>
          </a:prstGeom>
          <a:noFill/>
          <a:ln/>
        </p:spPr>
        <p:txBody>
          <a:bodyPr wrap="square" rtlCol="0" anchor="ctr"/>
          <a:lstStyle/>
          <a:p>
            <a:pPr marL="0" indent="0">
              <a:buNone/>
            </a:pPr>
            <a:r>
              <a:rPr lang="en-US" sz="1100" b="1" kern="0" spc="200" dirty="0">
                <a:solidFill>
                  <a:srgbClr val="86BC25"/>
                </a:solidFill>
                <a:latin typeface="Arial" pitchFamily="34" charset="0"/>
                <a:ea typeface="Arial" pitchFamily="34" charset="-122"/>
                <a:cs typeface="Arial" pitchFamily="34" charset="-120"/>
              </a:rPr>
              <a:t>MINIMAL CUSTOM (ONLY WHERE NO STANDARD FITS)</a:t>
            </a:r>
            <a:endParaRPr lang="en-US" sz="1100" dirty="0"/>
          </a:p>
        </p:txBody>
      </p:sp>
      <p:sp>
        <p:nvSpPr>
          <p:cNvPr id="13" name="Text 11"/>
          <p:cNvSpPr/>
          <p:nvPr/>
        </p:nvSpPr>
        <p:spPr>
          <a:xfrm>
            <a:off x="6419088" y="2423160"/>
            <a:ext cx="5394960" cy="2926080"/>
          </a:xfrm>
          <a:prstGeom prst="rect">
            <a:avLst/>
          </a:prstGeom>
          <a:noFill/>
          <a:ln/>
        </p:spPr>
        <p:txBody>
          <a:bodyPr wrap="square" rtlCol="0" anchor="t"/>
          <a:lstStyle/>
          <a:p>
            <a:pPr marL="203200" indent="-203200">
              <a:lnSpc>
                <a:spcPct val="112000"/>
              </a:lnSpc>
              <a:spcAft>
                <a:spcPts val="1400"/>
              </a:spcAft>
              <a:buSzPct val="100000"/>
              <a:buChar char="▪"/>
            </a:pPr>
            <a:r>
              <a:rPr lang="en-US" sz="1500" b="1" dirty="0">
                <a:solidFill>
                  <a:srgbClr val="F3F4F1"/>
                </a:solidFill>
                <a:latin typeface="Arial" pitchFamily="34" charset="0"/>
                <a:ea typeface="Arial" pitchFamily="34" charset="-122"/>
                <a:cs typeface="Arial" pitchFamily="34" charset="-120"/>
              </a:rPr>
              <a:t>Order fields </a:t>
            </a:r>
            <a:r>
              <a:rPr lang="en-US" sz="1500" dirty="0">
                <a:solidFill>
                  <a:srgbClr val="C4C8C0"/>
                </a:solidFill>
                <a:latin typeface="Arial" pitchFamily="34" charset="0"/>
                <a:ea typeface="Arial" pitchFamily="34" charset="-122"/>
                <a:cs typeface="Arial" pitchFamily="34" charset="-120"/>
              </a:rPr>
              <a:t>— discount, shipping, promo, tracking</a:t>
            </a:r>
            <a:endParaRPr lang="en-US" sz="1500" dirty="0"/>
          </a:p>
          <a:p>
            <a:pPr marL="203200" indent="-203200">
              <a:lnSpc>
                <a:spcPct val="112000"/>
              </a:lnSpc>
              <a:spcAft>
                <a:spcPts val="1400"/>
              </a:spcAft>
              <a:buSzPct val="100000"/>
              <a:buChar char="▪"/>
            </a:pPr>
            <a:r>
              <a:rPr lang="en-US" sz="1500" b="1" dirty="0">
                <a:solidFill>
                  <a:srgbClr val="F3F4F1"/>
                </a:solidFill>
                <a:latin typeface="Arial" pitchFamily="34" charset="0"/>
                <a:ea typeface="Arial" pitchFamily="34" charset="-122"/>
                <a:cs typeface="Arial" pitchFamily="34" charset="-120"/>
              </a:rPr>
              <a:t>Product Reviews </a:t>
            </a:r>
            <a:r>
              <a:rPr lang="en-US" sz="1500" dirty="0">
                <a:solidFill>
                  <a:srgbClr val="C4C8C0"/>
                </a:solidFill>
                <a:latin typeface="Arial" pitchFamily="34" charset="0"/>
                <a:ea typeface="Arial" pitchFamily="34" charset="-122"/>
                <a:cs typeface="Arial" pitchFamily="34" charset="-120"/>
              </a:rPr>
              <a:t>— the one custom object left</a:t>
            </a:r>
            <a:endParaRPr lang="en-US" sz="1500" dirty="0"/>
          </a:p>
          <a:p>
            <a:pPr marL="203200" indent="-203200">
              <a:lnSpc>
                <a:spcPct val="112000"/>
              </a:lnSpc>
              <a:spcAft>
                <a:spcPts val="1400"/>
              </a:spcAft>
              <a:buSzPct val="100000"/>
              <a:buChar char="▪"/>
            </a:pPr>
            <a:r>
              <a:rPr lang="en-US" sz="1500" b="1" dirty="0">
                <a:solidFill>
                  <a:srgbClr val="F3F4F1"/>
                </a:solidFill>
                <a:latin typeface="Arial" pitchFamily="34" charset="0"/>
                <a:ea typeface="Arial" pitchFamily="34" charset="-122"/>
                <a:cs typeface="Arial" pitchFamily="34" charset="-120"/>
              </a:rPr>
              <a:t>One command </a:t>
            </a:r>
            <a:r>
              <a:rPr lang="en-US" sz="1500" dirty="0">
                <a:solidFill>
                  <a:srgbClr val="C4C8C0"/>
                </a:solidFill>
                <a:latin typeface="Arial" pitchFamily="34" charset="0"/>
                <a:ea typeface="Arial" pitchFamily="34" charset="-122"/>
                <a:cs typeface="Arial" pitchFamily="34" charset="-120"/>
              </a:rPr>
              <a:t>— npm run sf:setup provisions it all</a:t>
            </a:r>
            <a:endParaRPr lang="en-US" sz="1500" dirty="0"/>
          </a:p>
          <a:p>
            <a:pPr marL="203200" indent="-203200">
              <a:lnSpc>
                <a:spcPct val="112000"/>
              </a:lnSpc>
              <a:spcAft>
                <a:spcPts val="1400"/>
              </a:spcAft>
              <a:buSzPct val="100000"/>
              <a:buChar char="▪"/>
            </a:pPr>
            <a:r>
              <a:rPr lang="en-US" sz="1500" b="1" dirty="0">
                <a:solidFill>
                  <a:srgbClr val="F3F4F1"/>
                </a:solidFill>
                <a:latin typeface="Arial" pitchFamily="34" charset="0"/>
                <a:ea typeface="Arial" pitchFamily="34" charset="-122"/>
                <a:cs typeface="Arial" pitchFamily="34" charset="-120"/>
              </a:rPr>
              <a:t>One permission set </a:t>
            </a:r>
            <a:r>
              <a:rPr lang="en-US" sz="1500" dirty="0">
                <a:solidFill>
                  <a:srgbClr val="C4C8C0"/>
                </a:solidFill>
                <a:latin typeface="Arial" pitchFamily="34" charset="0"/>
                <a:ea typeface="Arial" pitchFamily="34" charset="-122"/>
                <a:cs typeface="Arial" pitchFamily="34" charset="-120"/>
              </a:rPr>
              <a:t>— governs field &amp; object access</a:t>
            </a:r>
            <a:endParaRPr lang="en-US" sz="1500" dirty="0"/>
          </a:p>
        </p:txBody>
      </p:sp>
      <p:sp>
        <p:nvSpPr>
          <p:cNvPr id="14" name="Shape 12"/>
          <p:cNvSpPr/>
          <p:nvPr/>
        </p:nvSpPr>
        <p:spPr>
          <a:xfrm>
            <a:off x="566928" y="5532120"/>
            <a:ext cx="11057839" cy="502920"/>
          </a:xfrm>
          <a:prstGeom prst="roundRect">
            <a:avLst>
              <a:gd name="adj" fmla="val 14545"/>
            </a:avLst>
          </a:prstGeom>
          <a:solidFill>
            <a:srgbClr val="1A2410"/>
          </a:solidFill>
          <a:ln w="12700">
            <a:solidFill>
              <a:srgbClr val="86BC25"/>
            </a:solidFill>
            <a:prstDash val="solid"/>
          </a:ln>
        </p:spPr>
        <p:txBody>
          <a:bodyPr/>
          <a:lstStyle/>
          <a:p>
            <a:endParaRPr lang="en-US"/>
          </a:p>
        </p:txBody>
      </p:sp>
      <p:sp>
        <p:nvSpPr>
          <p:cNvPr id="15" name="Text 13"/>
          <p:cNvSpPr/>
          <p:nvPr/>
        </p:nvSpPr>
        <p:spPr>
          <a:xfrm>
            <a:off x="749808" y="5532120"/>
            <a:ext cx="10692079" cy="502920"/>
          </a:xfrm>
          <a:prstGeom prst="rect">
            <a:avLst/>
          </a:prstGeom>
          <a:noFill/>
          <a:ln/>
        </p:spPr>
        <p:txBody>
          <a:bodyPr wrap="square" rtlCol="0" anchor="ctr"/>
          <a:lstStyle/>
          <a:p>
            <a:pPr marL="0" indent="0">
              <a:buNone/>
            </a:pPr>
            <a:r>
              <a:rPr lang="en-US" sz="1200" b="1" dirty="0">
                <a:solidFill>
                  <a:srgbClr val="A6DD3B"/>
                </a:solidFill>
                <a:latin typeface="Arial" pitchFamily="34" charset="0"/>
                <a:ea typeface="Arial" pitchFamily="34" charset="-122"/>
                <a:cs typeface="Arial" pitchFamily="34" charset="-120"/>
              </a:rPr>
              <a:t>Governance principle:  </a:t>
            </a:r>
            <a:r>
              <a:rPr lang="en-US" sz="1200" dirty="0">
                <a:solidFill>
                  <a:srgbClr val="C4C8C0"/>
                </a:solidFill>
                <a:latin typeface="Arial" pitchFamily="34" charset="0"/>
                <a:ea typeface="Arial" pitchFamily="34" charset="-122"/>
                <a:cs typeface="Arial" pitchFamily="34" charset="-120"/>
              </a:rPr>
              <a:t>use a standard object/field wherever one exists; add custom only when nothing standard fits — and document why.</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0F11"/>
        </a:solidFill>
        <a:effectLst/>
      </p:bgPr>
    </p:bg>
    <p:spTree>
      <p:nvGrpSpPr>
        <p:cNvPr id="1" name=""/>
        <p:cNvGrpSpPr/>
        <p:nvPr/>
      </p:nvGrpSpPr>
      <p:grpSpPr>
        <a:xfrm>
          <a:off x="0" y="0"/>
          <a:ext cx="0" cy="0"/>
          <a:chOff x="0" y="0"/>
          <a:chExt cx="0" cy="0"/>
        </a:xfrm>
      </p:grpSpPr>
      <p:sp>
        <p:nvSpPr>
          <p:cNvPr id="2" name="Text 0"/>
          <p:cNvSpPr/>
          <p:nvPr/>
        </p:nvSpPr>
        <p:spPr>
          <a:xfrm>
            <a:off x="566928" y="384048"/>
            <a:ext cx="7315200" cy="320040"/>
          </a:xfrm>
          <a:prstGeom prst="rect">
            <a:avLst/>
          </a:prstGeom>
          <a:noFill/>
          <a:ln/>
        </p:spPr>
        <p:txBody>
          <a:bodyPr wrap="square" rtlCol="0" anchor="ctr"/>
          <a:lstStyle/>
          <a:p>
            <a:pPr marL="0" indent="0">
              <a:buNone/>
            </a:pPr>
            <a:r>
              <a:rPr lang="en-US" sz="1100" b="1" kern="0" spc="300" dirty="0">
                <a:solidFill>
                  <a:srgbClr val="86BC25"/>
                </a:solidFill>
                <a:latin typeface="Arial" pitchFamily="34" charset="0"/>
                <a:ea typeface="Arial" pitchFamily="34" charset="-122"/>
                <a:cs typeface="Arial" pitchFamily="34" charset="-120"/>
              </a:rPr>
              <a:t>SECURITY &amp; GOVERNANCE</a:t>
            </a:r>
            <a:endParaRPr lang="en-US" sz="1100" dirty="0"/>
          </a:p>
        </p:txBody>
      </p:sp>
      <p:sp>
        <p:nvSpPr>
          <p:cNvPr id="3" name="Text 1"/>
          <p:cNvSpPr/>
          <p:nvPr/>
        </p:nvSpPr>
        <p:spPr>
          <a:xfrm>
            <a:off x="8881567" y="365760"/>
            <a:ext cx="2743200" cy="365760"/>
          </a:xfrm>
          <a:prstGeom prst="rect">
            <a:avLst/>
          </a:prstGeom>
          <a:noFill/>
          <a:ln/>
        </p:spPr>
        <p:txBody>
          <a:bodyPr wrap="square" rtlCol="0" anchor="ctr"/>
          <a:lstStyle/>
          <a:p>
            <a:pPr marL="0" indent="0" algn="r">
              <a:buNone/>
            </a:pPr>
            <a:r>
              <a:rPr lang="en-US" sz="1500" b="1" dirty="0">
                <a:solidFill>
                  <a:srgbClr val="F3F4F1"/>
                </a:solidFill>
                <a:latin typeface="Arial" pitchFamily="34" charset="0"/>
                <a:ea typeface="Arial" pitchFamily="34" charset="-122"/>
                <a:cs typeface="Arial" pitchFamily="34" charset="-120"/>
              </a:rPr>
              <a:t>Deloitte</a:t>
            </a:r>
            <a:r>
              <a:rPr lang="en-US" sz="1500" b="1" dirty="0">
                <a:solidFill>
                  <a:srgbClr val="86BC25"/>
                </a:solidFill>
                <a:latin typeface="Arial" pitchFamily="34" charset="0"/>
                <a:ea typeface="Arial" pitchFamily="34" charset="-122"/>
                <a:cs typeface="Arial" pitchFamily="34" charset="-120"/>
              </a:rPr>
              <a:t>.</a:t>
            </a:r>
            <a:endParaRPr lang="en-US" sz="1500" dirty="0"/>
          </a:p>
        </p:txBody>
      </p:sp>
      <p:sp>
        <p:nvSpPr>
          <p:cNvPr id="4" name="Shape 2"/>
          <p:cNvSpPr/>
          <p:nvPr/>
        </p:nvSpPr>
        <p:spPr>
          <a:xfrm>
            <a:off x="566928" y="841248"/>
            <a:ext cx="11057839" cy="0"/>
          </a:xfrm>
          <a:prstGeom prst="line">
            <a:avLst/>
          </a:prstGeom>
          <a:noFill/>
          <a:ln w="12700">
            <a:solidFill>
              <a:srgbClr val="2C2F34"/>
            </a:solidFill>
            <a:prstDash val="solid"/>
          </a:ln>
        </p:spPr>
        <p:txBody>
          <a:bodyPr/>
          <a:lstStyle/>
          <a:p>
            <a:endParaRPr lang="en-US"/>
          </a:p>
        </p:txBody>
      </p:sp>
      <p:sp>
        <p:nvSpPr>
          <p:cNvPr id="5" name="Text 3"/>
          <p:cNvSpPr/>
          <p:nvPr/>
        </p:nvSpPr>
        <p:spPr>
          <a:xfrm>
            <a:off x="566928" y="1024128"/>
            <a:ext cx="11057839" cy="914400"/>
          </a:xfrm>
          <a:prstGeom prst="rect">
            <a:avLst/>
          </a:prstGeom>
          <a:noFill/>
          <a:ln/>
        </p:spPr>
        <p:txBody>
          <a:bodyPr wrap="square" rtlCol="0" anchor="t"/>
          <a:lstStyle/>
          <a:p>
            <a:pPr marL="0" indent="0" algn="l">
              <a:buNone/>
            </a:pPr>
            <a:r>
              <a:rPr lang="en-US" sz="3000" b="1" dirty="0">
                <a:solidFill>
                  <a:srgbClr val="F3F4F1"/>
                </a:solidFill>
                <a:latin typeface="Arial" pitchFamily="34" charset="0"/>
                <a:ea typeface="Arial" pitchFamily="34" charset="-122"/>
                <a:cs typeface="Arial" pitchFamily="34" charset="-120"/>
              </a:rPr>
              <a:t>Trust is built into the seams</a:t>
            </a:r>
            <a:endParaRPr lang="en-US" sz="3000" dirty="0"/>
          </a:p>
        </p:txBody>
      </p:sp>
      <p:sp>
        <p:nvSpPr>
          <p:cNvPr id="6" name="Shape 4"/>
          <p:cNvSpPr/>
          <p:nvPr/>
        </p:nvSpPr>
        <p:spPr>
          <a:xfrm>
            <a:off x="566928" y="6291072"/>
            <a:ext cx="11057839" cy="0"/>
          </a:xfrm>
          <a:prstGeom prst="line">
            <a:avLst/>
          </a:prstGeom>
          <a:noFill/>
          <a:ln w="12700">
            <a:solidFill>
              <a:srgbClr val="2C2F34"/>
            </a:solidFill>
            <a:prstDash val="solid"/>
          </a:ln>
        </p:spPr>
        <p:txBody>
          <a:bodyPr/>
          <a:lstStyle/>
          <a:p>
            <a:endParaRPr lang="en-US"/>
          </a:p>
        </p:txBody>
      </p:sp>
      <p:sp>
        <p:nvSpPr>
          <p:cNvPr id="7" name="Text 5"/>
          <p:cNvSpPr/>
          <p:nvPr/>
        </p:nvSpPr>
        <p:spPr>
          <a:xfrm>
            <a:off x="566928" y="6355080"/>
            <a:ext cx="8229600" cy="274320"/>
          </a:xfrm>
          <a:prstGeom prst="rect">
            <a:avLst/>
          </a:prstGeom>
          <a:noFill/>
          <a:ln/>
        </p:spPr>
        <p:txBody>
          <a:bodyPr wrap="square" rtlCol="0" anchor="ctr"/>
          <a:lstStyle/>
          <a:p>
            <a:pPr marL="0" indent="0">
              <a:buNone/>
            </a:pPr>
            <a:r>
              <a:rPr lang="en-US" sz="950" kern="0" spc="100" dirty="0">
                <a:solidFill>
                  <a:srgbClr val="8E948B"/>
                </a:solidFill>
                <a:latin typeface="Arial" pitchFamily="34" charset="0"/>
                <a:ea typeface="Arial" pitchFamily="34" charset="-122"/>
                <a:cs typeface="Arial" pitchFamily="34" charset="-120"/>
              </a:rPr>
              <a:t>Secure by construction, not by convention</a:t>
            </a:r>
            <a:endParaRPr lang="en-US" sz="950" dirty="0"/>
          </a:p>
        </p:txBody>
      </p:sp>
      <p:sp>
        <p:nvSpPr>
          <p:cNvPr id="8" name="Text 6"/>
          <p:cNvSpPr/>
          <p:nvPr/>
        </p:nvSpPr>
        <p:spPr>
          <a:xfrm>
            <a:off x="9795967" y="6355080"/>
            <a:ext cx="1828800" cy="274320"/>
          </a:xfrm>
          <a:prstGeom prst="rect">
            <a:avLst/>
          </a:prstGeom>
          <a:noFill/>
          <a:ln/>
        </p:spPr>
        <p:txBody>
          <a:bodyPr wrap="square" rtlCol="0" anchor="ctr"/>
          <a:lstStyle/>
          <a:p>
            <a:pPr marL="0" indent="0" algn="r">
              <a:buNone/>
            </a:pPr>
            <a:r>
              <a:rPr lang="en-US" sz="950" dirty="0">
                <a:solidFill>
                  <a:srgbClr val="8E948B"/>
                </a:solidFill>
                <a:latin typeface="Arial" pitchFamily="34" charset="0"/>
                <a:ea typeface="Arial" pitchFamily="34" charset="-122"/>
                <a:cs typeface="Arial" pitchFamily="34" charset="-120"/>
              </a:rPr>
              <a:t>6 / 12</a:t>
            </a:r>
            <a:endParaRPr lang="en-US" sz="950" dirty="0"/>
          </a:p>
        </p:txBody>
      </p:sp>
      <p:sp>
        <p:nvSpPr>
          <p:cNvPr id="9" name="Shape 7"/>
          <p:cNvSpPr/>
          <p:nvPr/>
        </p:nvSpPr>
        <p:spPr>
          <a:xfrm>
            <a:off x="566928" y="6748272"/>
            <a:ext cx="5528920" cy="45720"/>
          </a:xfrm>
          <a:prstGeom prst="rect">
            <a:avLst/>
          </a:prstGeom>
          <a:solidFill>
            <a:srgbClr val="86BC25"/>
          </a:solidFill>
          <a:ln/>
        </p:spPr>
        <p:txBody>
          <a:bodyPr/>
          <a:lstStyle/>
          <a:p>
            <a:endParaRPr lang="en-US"/>
          </a:p>
        </p:txBody>
      </p:sp>
      <p:sp>
        <p:nvSpPr>
          <p:cNvPr id="10" name="Shape 8"/>
          <p:cNvSpPr/>
          <p:nvPr/>
        </p:nvSpPr>
        <p:spPr>
          <a:xfrm>
            <a:off x="566928" y="2194560"/>
            <a:ext cx="3566160" cy="1645920"/>
          </a:xfrm>
          <a:prstGeom prst="roundRect">
            <a:avLst>
              <a:gd name="adj" fmla="val 3333"/>
            </a:avLst>
          </a:prstGeom>
          <a:solidFill>
            <a:srgbClr val="16181C"/>
          </a:solidFill>
          <a:ln w="12700">
            <a:solidFill>
              <a:srgbClr val="2C2F34"/>
            </a:solidFill>
            <a:prstDash val="solid"/>
          </a:ln>
        </p:spPr>
        <p:txBody>
          <a:bodyPr/>
          <a:lstStyle/>
          <a:p>
            <a:endParaRPr lang="en-US"/>
          </a:p>
        </p:txBody>
      </p:sp>
      <p:sp>
        <p:nvSpPr>
          <p:cNvPr id="11" name="Text 9"/>
          <p:cNvSpPr/>
          <p:nvPr/>
        </p:nvSpPr>
        <p:spPr>
          <a:xfrm>
            <a:off x="768096" y="2359152"/>
            <a:ext cx="3163824" cy="1316736"/>
          </a:xfrm>
          <a:prstGeom prst="rect">
            <a:avLst/>
          </a:prstGeom>
          <a:noFill/>
          <a:ln/>
        </p:spPr>
        <p:txBody>
          <a:bodyPr wrap="square" rtlCol="0" anchor="t"/>
          <a:lstStyle/>
          <a:p>
            <a:pPr marL="0" indent="0">
              <a:lnSpc>
                <a:spcPct val="106000"/>
              </a:lnSpc>
              <a:buNone/>
            </a:pPr>
            <a:r>
              <a:rPr lang="en-US" sz="1000" b="1" kern="0" spc="200" dirty="0">
                <a:solidFill>
                  <a:srgbClr val="86BC25"/>
                </a:solidFill>
                <a:latin typeface="Arial" pitchFamily="34" charset="0"/>
                <a:ea typeface="Arial" pitchFamily="34" charset="-122"/>
                <a:cs typeface="Arial" pitchFamily="34" charset="-120"/>
              </a:rPr>
              <a:t>CREDENTIALS</a:t>
            </a:r>
          </a:p>
          <a:p>
            <a:pPr marL="0" indent="0">
              <a:lnSpc>
                <a:spcPct val="106000"/>
              </a:lnSpc>
              <a:buNone/>
            </a:pPr>
            <a:r>
              <a:rPr lang="en-US" sz="1000" b="1" kern="0" spc="200" dirty="0">
                <a:solidFill>
                  <a:srgbClr val="86BC25"/>
                </a:solidFill>
                <a:latin typeface="Arial" pitchFamily="34" charset="0"/>
                <a:ea typeface="Arial" pitchFamily="34" charset="-122"/>
                <a:cs typeface="Arial" pitchFamily="34" charset="-120"/>
              </a:rPr>
              <a:t>
</a:t>
            </a:r>
            <a:r>
              <a:rPr lang="en-US" sz="1400" b="1" dirty="0">
                <a:solidFill>
                  <a:srgbClr val="F3F4F1"/>
                </a:solidFill>
                <a:latin typeface="Arial" pitchFamily="34" charset="0"/>
                <a:ea typeface="Arial" pitchFamily="34" charset="-122"/>
                <a:cs typeface="Arial" pitchFamily="34" charset="-120"/>
              </a:rPr>
              <a:t>Server-side only
</a:t>
            </a:r>
            <a:r>
              <a:rPr lang="en-US" sz="1150" dirty="0">
                <a:solidFill>
                  <a:srgbClr val="8E948B"/>
                </a:solidFill>
                <a:latin typeface="Arial" pitchFamily="34" charset="0"/>
                <a:ea typeface="Arial" pitchFamily="34" charset="-122"/>
                <a:cs typeface="Arial" pitchFamily="34" charset="-120"/>
              </a:rPr>
              <a:t>The Connected App secret lives in the middleware. It is never shipped to, or reachable from, the browser.</a:t>
            </a:r>
            <a:endParaRPr lang="en-US" sz="1000" dirty="0"/>
          </a:p>
        </p:txBody>
      </p:sp>
      <p:sp>
        <p:nvSpPr>
          <p:cNvPr id="12" name="Shape 10"/>
          <p:cNvSpPr/>
          <p:nvPr/>
        </p:nvSpPr>
        <p:spPr>
          <a:xfrm>
            <a:off x="4297680" y="2194560"/>
            <a:ext cx="3566160" cy="1645920"/>
          </a:xfrm>
          <a:prstGeom prst="roundRect">
            <a:avLst>
              <a:gd name="adj" fmla="val 3333"/>
            </a:avLst>
          </a:prstGeom>
          <a:solidFill>
            <a:srgbClr val="16181C"/>
          </a:solidFill>
          <a:ln w="12700">
            <a:solidFill>
              <a:srgbClr val="2C2F34"/>
            </a:solidFill>
            <a:prstDash val="solid"/>
          </a:ln>
        </p:spPr>
        <p:txBody>
          <a:bodyPr/>
          <a:lstStyle/>
          <a:p>
            <a:endParaRPr lang="en-US"/>
          </a:p>
        </p:txBody>
      </p:sp>
      <p:sp>
        <p:nvSpPr>
          <p:cNvPr id="13" name="Text 11"/>
          <p:cNvSpPr/>
          <p:nvPr/>
        </p:nvSpPr>
        <p:spPr>
          <a:xfrm>
            <a:off x="4498848" y="2359152"/>
            <a:ext cx="3163824" cy="1316736"/>
          </a:xfrm>
          <a:prstGeom prst="rect">
            <a:avLst/>
          </a:prstGeom>
          <a:noFill/>
          <a:ln/>
        </p:spPr>
        <p:txBody>
          <a:bodyPr wrap="square" rtlCol="0" anchor="t"/>
          <a:lstStyle/>
          <a:p>
            <a:pPr marL="0" indent="0">
              <a:lnSpc>
                <a:spcPct val="106000"/>
              </a:lnSpc>
              <a:buNone/>
            </a:pPr>
            <a:r>
              <a:rPr lang="en-US" sz="1000" b="1" kern="0" spc="200" dirty="0">
                <a:solidFill>
                  <a:srgbClr val="86BC25"/>
                </a:solidFill>
                <a:latin typeface="Arial" pitchFamily="34" charset="0"/>
                <a:ea typeface="Arial" pitchFamily="34" charset="-122"/>
                <a:cs typeface="Arial" pitchFamily="34" charset="-120"/>
              </a:rPr>
              <a:t>SESSIONS</a:t>
            </a:r>
          </a:p>
          <a:p>
            <a:pPr marL="0" indent="0">
              <a:lnSpc>
                <a:spcPct val="106000"/>
              </a:lnSpc>
              <a:buNone/>
            </a:pPr>
            <a:r>
              <a:rPr lang="en-US" sz="1000" b="1" kern="0" spc="200" dirty="0">
                <a:solidFill>
                  <a:srgbClr val="86BC25"/>
                </a:solidFill>
                <a:latin typeface="Arial" pitchFamily="34" charset="0"/>
                <a:ea typeface="Arial" pitchFamily="34" charset="-122"/>
                <a:cs typeface="Arial" pitchFamily="34" charset="-120"/>
              </a:rPr>
              <a:t>
</a:t>
            </a:r>
            <a:r>
              <a:rPr lang="en-US" sz="1400" b="1" dirty="0">
                <a:solidFill>
                  <a:srgbClr val="F3F4F1"/>
                </a:solidFill>
                <a:latin typeface="Arial" pitchFamily="34" charset="0"/>
                <a:ea typeface="Arial" pitchFamily="34" charset="-122"/>
                <a:cs typeface="Arial" pitchFamily="34" charset="-120"/>
              </a:rPr>
              <a:t>httpOnly cookie
</a:t>
            </a:r>
            <a:r>
              <a:rPr lang="en-US" sz="1150" dirty="0">
                <a:solidFill>
                  <a:srgbClr val="8E948B"/>
                </a:solidFill>
                <a:latin typeface="Arial" pitchFamily="34" charset="0"/>
                <a:ea typeface="Arial" pitchFamily="34" charset="-122"/>
                <a:cs typeface="Arial" pitchFamily="34" charset="-120"/>
              </a:rPr>
              <a:t>Login state is a signed, httpOnly cookie — unreadable by page scripts; no tokens in local storage.</a:t>
            </a:r>
            <a:endParaRPr lang="en-US" sz="1000" dirty="0"/>
          </a:p>
        </p:txBody>
      </p:sp>
      <p:sp>
        <p:nvSpPr>
          <p:cNvPr id="14" name="Shape 12"/>
          <p:cNvSpPr/>
          <p:nvPr/>
        </p:nvSpPr>
        <p:spPr>
          <a:xfrm>
            <a:off x="8028432" y="2194560"/>
            <a:ext cx="3566160" cy="1645920"/>
          </a:xfrm>
          <a:prstGeom prst="roundRect">
            <a:avLst>
              <a:gd name="adj" fmla="val 3333"/>
            </a:avLst>
          </a:prstGeom>
          <a:solidFill>
            <a:srgbClr val="16181C"/>
          </a:solidFill>
          <a:ln w="12700">
            <a:solidFill>
              <a:srgbClr val="2C2F34"/>
            </a:solidFill>
            <a:prstDash val="solid"/>
          </a:ln>
        </p:spPr>
        <p:txBody>
          <a:bodyPr/>
          <a:lstStyle/>
          <a:p>
            <a:endParaRPr lang="en-US"/>
          </a:p>
        </p:txBody>
      </p:sp>
      <p:sp>
        <p:nvSpPr>
          <p:cNvPr id="15" name="Text 13"/>
          <p:cNvSpPr/>
          <p:nvPr/>
        </p:nvSpPr>
        <p:spPr>
          <a:xfrm>
            <a:off x="8229600" y="2359152"/>
            <a:ext cx="3163824" cy="1316736"/>
          </a:xfrm>
          <a:prstGeom prst="rect">
            <a:avLst/>
          </a:prstGeom>
          <a:noFill/>
          <a:ln/>
        </p:spPr>
        <p:txBody>
          <a:bodyPr wrap="square" rtlCol="0" anchor="t"/>
          <a:lstStyle/>
          <a:p>
            <a:pPr marL="0" indent="0">
              <a:lnSpc>
                <a:spcPct val="106000"/>
              </a:lnSpc>
              <a:buNone/>
            </a:pPr>
            <a:r>
              <a:rPr lang="en-US" sz="1000" b="1" kern="0" spc="200" dirty="0">
                <a:solidFill>
                  <a:srgbClr val="86BC25"/>
                </a:solidFill>
                <a:latin typeface="Arial" pitchFamily="34" charset="0"/>
                <a:ea typeface="Arial" pitchFamily="34" charset="-122"/>
                <a:cs typeface="Arial" pitchFamily="34" charset="-120"/>
              </a:rPr>
              <a:t>MONEY &amp; STOCK</a:t>
            </a:r>
          </a:p>
          <a:p>
            <a:pPr marL="0" indent="0">
              <a:lnSpc>
                <a:spcPct val="106000"/>
              </a:lnSpc>
              <a:buNone/>
            </a:pPr>
            <a:r>
              <a:rPr lang="en-US" sz="1000" b="1" kern="0" spc="200" dirty="0">
                <a:solidFill>
                  <a:srgbClr val="86BC25"/>
                </a:solidFill>
                <a:latin typeface="Arial" pitchFamily="34" charset="0"/>
                <a:ea typeface="Arial" pitchFamily="34" charset="-122"/>
                <a:cs typeface="Arial" pitchFamily="34" charset="-120"/>
              </a:rPr>
              <a:t>
</a:t>
            </a:r>
            <a:r>
              <a:rPr lang="en-US" sz="1400" b="1" dirty="0">
                <a:solidFill>
                  <a:srgbClr val="F3F4F1"/>
                </a:solidFill>
                <a:latin typeface="Arial" pitchFamily="34" charset="0"/>
                <a:ea typeface="Arial" pitchFamily="34" charset="-122"/>
                <a:cs typeface="Arial" pitchFamily="34" charset="-120"/>
              </a:rPr>
              <a:t>Server-computed
</a:t>
            </a:r>
            <a:r>
              <a:rPr lang="en-US" sz="1150" dirty="0">
                <a:solidFill>
                  <a:srgbClr val="8E948B"/>
                </a:solidFill>
                <a:latin typeface="Arial" pitchFamily="34" charset="0"/>
                <a:ea typeface="Arial" pitchFamily="34" charset="-122"/>
                <a:cs typeface="Arial" pitchFamily="34" charset="-120"/>
              </a:rPr>
              <a:t>Totals, discounts and stock are validated server-side against Salesforce. The client is never trusted with price.</a:t>
            </a:r>
            <a:endParaRPr lang="en-US" sz="1000" dirty="0"/>
          </a:p>
        </p:txBody>
      </p:sp>
      <p:sp>
        <p:nvSpPr>
          <p:cNvPr id="16" name="Shape 14"/>
          <p:cNvSpPr/>
          <p:nvPr/>
        </p:nvSpPr>
        <p:spPr>
          <a:xfrm>
            <a:off x="566928" y="4023360"/>
            <a:ext cx="3566160" cy="1645920"/>
          </a:xfrm>
          <a:prstGeom prst="roundRect">
            <a:avLst>
              <a:gd name="adj" fmla="val 3333"/>
            </a:avLst>
          </a:prstGeom>
          <a:solidFill>
            <a:srgbClr val="16181C"/>
          </a:solidFill>
          <a:ln w="12700">
            <a:solidFill>
              <a:srgbClr val="2C2F34"/>
            </a:solidFill>
            <a:prstDash val="solid"/>
          </a:ln>
        </p:spPr>
        <p:txBody>
          <a:bodyPr/>
          <a:lstStyle/>
          <a:p>
            <a:endParaRPr lang="en-US"/>
          </a:p>
        </p:txBody>
      </p:sp>
      <p:sp>
        <p:nvSpPr>
          <p:cNvPr id="17" name="Text 15"/>
          <p:cNvSpPr/>
          <p:nvPr/>
        </p:nvSpPr>
        <p:spPr>
          <a:xfrm>
            <a:off x="768096" y="4187952"/>
            <a:ext cx="3163824" cy="1316736"/>
          </a:xfrm>
          <a:prstGeom prst="rect">
            <a:avLst/>
          </a:prstGeom>
          <a:noFill/>
          <a:ln/>
        </p:spPr>
        <p:txBody>
          <a:bodyPr wrap="square" rtlCol="0" anchor="t"/>
          <a:lstStyle/>
          <a:p>
            <a:pPr marL="0" indent="0">
              <a:lnSpc>
                <a:spcPct val="106000"/>
              </a:lnSpc>
              <a:buNone/>
            </a:pPr>
            <a:r>
              <a:rPr lang="en-US" sz="1000" b="1" kern="0" spc="200" dirty="0">
                <a:solidFill>
                  <a:srgbClr val="86BC25"/>
                </a:solidFill>
                <a:latin typeface="Arial" pitchFamily="34" charset="0"/>
                <a:ea typeface="Arial" pitchFamily="34" charset="-122"/>
                <a:cs typeface="Arial" pitchFamily="34" charset="-120"/>
              </a:rPr>
              <a:t>ACCESS</a:t>
            </a:r>
          </a:p>
          <a:p>
            <a:pPr marL="0" indent="0">
              <a:lnSpc>
                <a:spcPct val="106000"/>
              </a:lnSpc>
              <a:buNone/>
            </a:pPr>
            <a:r>
              <a:rPr lang="en-US" sz="1000" b="1" kern="0" spc="200" dirty="0">
                <a:solidFill>
                  <a:srgbClr val="86BC25"/>
                </a:solidFill>
                <a:latin typeface="Arial" pitchFamily="34" charset="0"/>
                <a:ea typeface="Arial" pitchFamily="34" charset="-122"/>
                <a:cs typeface="Arial" pitchFamily="34" charset="-120"/>
              </a:rPr>
              <a:t>
</a:t>
            </a:r>
            <a:r>
              <a:rPr lang="en-US" sz="1400" b="1" dirty="0">
                <a:solidFill>
                  <a:srgbClr val="F3F4F1"/>
                </a:solidFill>
                <a:latin typeface="Arial" pitchFamily="34" charset="0"/>
                <a:ea typeface="Arial" pitchFamily="34" charset="-122"/>
                <a:cs typeface="Arial" pitchFamily="34" charset="-120"/>
              </a:rPr>
              <a:t>One permission set
</a:t>
            </a:r>
            <a:r>
              <a:rPr lang="en-US" sz="1150" dirty="0">
                <a:solidFill>
                  <a:srgbClr val="8E948B"/>
                </a:solidFill>
                <a:latin typeface="Arial" pitchFamily="34" charset="0"/>
                <a:ea typeface="Arial" pitchFamily="34" charset="-122"/>
                <a:cs typeface="Arial" pitchFamily="34" charset="-120"/>
              </a:rPr>
              <a:t>Every custom field/object is granted through a single, reviewable permission set for the integration user.</a:t>
            </a:r>
            <a:endParaRPr lang="en-US" sz="1000" dirty="0"/>
          </a:p>
        </p:txBody>
      </p:sp>
      <p:sp>
        <p:nvSpPr>
          <p:cNvPr id="18" name="Shape 16"/>
          <p:cNvSpPr/>
          <p:nvPr/>
        </p:nvSpPr>
        <p:spPr>
          <a:xfrm>
            <a:off x="4297680" y="4023360"/>
            <a:ext cx="3566160" cy="1645920"/>
          </a:xfrm>
          <a:prstGeom prst="roundRect">
            <a:avLst>
              <a:gd name="adj" fmla="val 3333"/>
            </a:avLst>
          </a:prstGeom>
          <a:solidFill>
            <a:srgbClr val="16181C"/>
          </a:solidFill>
          <a:ln w="12700">
            <a:solidFill>
              <a:srgbClr val="2C2F34"/>
            </a:solidFill>
            <a:prstDash val="solid"/>
          </a:ln>
        </p:spPr>
        <p:txBody>
          <a:bodyPr/>
          <a:lstStyle/>
          <a:p>
            <a:endParaRPr lang="en-US"/>
          </a:p>
        </p:txBody>
      </p:sp>
      <p:sp>
        <p:nvSpPr>
          <p:cNvPr id="19" name="Text 17"/>
          <p:cNvSpPr/>
          <p:nvPr/>
        </p:nvSpPr>
        <p:spPr>
          <a:xfrm>
            <a:off x="4498848" y="4187952"/>
            <a:ext cx="3163824" cy="1316736"/>
          </a:xfrm>
          <a:prstGeom prst="rect">
            <a:avLst/>
          </a:prstGeom>
          <a:noFill/>
          <a:ln/>
        </p:spPr>
        <p:txBody>
          <a:bodyPr wrap="square" rtlCol="0" anchor="t"/>
          <a:lstStyle/>
          <a:p>
            <a:pPr marL="0" indent="0">
              <a:lnSpc>
                <a:spcPct val="106000"/>
              </a:lnSpc>
              <a:buNone/>
            </a:pPr>
            <a:r>
              <a:rPr lang="en-US" sz="1000" b="1" kern="0" spc="200" dirty="0">
                <a:solidFill>
                  <a:srgbClr val="86BC25"/>
                </a:solidFill>
                <a:latin typeface="Arial" pitchFamily="34" charset="0"/>
                <a:ea typeface="Arial" pitchFamily="34" charset="-122"/>
                <a:cs typeface="Arial" pitchFamily="34" charset="-120"/>
              </a:rPr>
              <a:t>GUEST ORDER TRACKING</a:t>
            </a:r>
          </a:p>
          <a:p>
            <a:pPr marL="0" indent="0">
              <a:lnSpc>
                <a:spcPct val="106000"/>
              </a:lnSpc>
              <a:buNone/>
            </a:pPr>
            <a:r>
              <a:rPr lang="en-US" sz="1000" b="1" kern="0" spc="200" dirty="0">
                <a:solidFill>
                  <a:srgbClr val="86BC25"/>
                </a:solidFill>
                <a:latin typeface="Arial" pitchFamily="34" charset="0"/>
                <a:ea typeface="Arial" pitchFamily="34" charset="-122"/>
                <a:cs typeface="Arial" pitchFamily="34" charset="-120"/>
              </a:rPr>
              <a:t>
</a:t>
            </a:r>
            <a:r>
              <a:rPr lang="en-US" sz="1400" b="1" dirty="0">
                <a:solidFill>
                  <a:srgbClr val="F3F4F1"/>
                </a:solidFill>
                <a:latin typeface="Arial" pitchFamily="34" charset="0"/>
                <a:ea typeface="Arial" pitchFamily="34" charset="-122"/>
                <a:cs typeface="Arial" pitchFamily="34" charset="-120"/>
              </a:rPr>
              <a:t>No enumeration
</a:t>
            </a:r>
            <a:r>
              <a:rPr lang="en-US" sz="1150" dirty="0">
                <a:solidFill>
                  <a:srgbClr val="8E948B"/>
                </a:solidFill>
                <a:latin typeface="Arial" pitchFamily="34" charset="0"/>
                <a:ea typeface="Arial" pitchFamily="34" charset="-122"/>
                <a:cs typeface="Arial" pitchFamily="34" charset="-120"/>
              </a:rPr>
              <a:t>Order tracking requires order # AND the matching email; a mismatch returns a generic “not found”.</a:t>
            </a:r>
            <a:endParaRPr lang="en-US" sz="1000" dirty="0"/>
          </a:p>
        </p:txBody>
      </p:sp>
      <p:sp>
        <p:nvSpPr>
          <p:cNvPr id="20" name="Shape 18"/>
          <p:cNvSpPr/>
          <p:nvPr/>
        </p:nvSpPr>
        <p:spPr>
          <a:xfrm>
            <a:off x="8028432" y="4023360"/>
            <a:ext cx="3566160" cy="1645920"/>
          </a:xfrm>
          <a:prstGeom prst="roundRect">
            <a:avLst>
              <a:gd name="adj" fmla="val 3333"/>
            </a:avLst>
          </a:prstGeom>
          <a:solidFill>
            <a:srgbClr val="16181C"/>
          </a:solidFill>
          <a:ln w="12700">
            <a:solidFill>
              <a:srgbClr val="2C2F34"/>
            </a:solidFill>
            <a:prstDash val="solid"/>
          </a:ln>
        </p:spPr>
        <p:txBody>
          <a:bodyPr/>
          <a:lstStyle/>
          <a:p>
            <a:endParaRPr lang="en-US"/>
          </a:p>
        </p:txBody>
      </p:sp>
      <p:sp>
        <p:nvSpPr>
          <p:cNvPr id="21" name="Text 19"/>
          <p:cNvSpPr/>
          <p:nvPr/>
        </p:nvSpPr>
        <p:spPr>
          <a:xfrm>
            <a:off x="8229600" y="4187952"/>
            <a:ext cx="3163824" cy="1316736"/>
          </a:xfrm>
          <a:prstGeom prst="rect">
            <a:avLst/>
          </a:prstGeom>
          <a:noFill/>
          <a:ln/>
        </p:spPr>
        <p:txBody>
          <a:bodyPr wrap="square" rtlCol="0" anchor="t"/>
          <a:lstStyle/>
          <a:p>
            <a:pPr marL="0" indent="0">
              <a:lnSpc>
                <a:spcPct val="106000"/>
              </a:lnSpc>
              <a:buNone/>
            </a:pPr>
            <a:r>
              <a:rPr lang="en-US" sz="1000" b="1" kern="0" spc="200" dirty="0">
                <a:solidFill>
                  <a:srgbClr val="86BC25"/>
                </a:solidFill>
                <a:latin typeface="Arial" pitchFamily="34" charset="0"/>
                <a:ea typeface="Arial" pitchFamily="34" charset="-122"/>
                <a:cs typeface="Arial" pitchFamily="34" charset="-120"/>
              </a:rPr>
              <a:t>SUPPORT PRIVACY</a:t>
            </a:r>
          </a:p>
          <a:p>
            <a:pPr marL="0" indent="0">
              <a:lnSpc>
                <a:spcPct val="106000"/>
              </a:lnSpc>
              <a:buNone/>
            </a:pPr>
            <a:r>
              <a:rPr lang="en-US" sz="1000" b="1" kern="0" spc="200" dirty="0">
                <a:solidFill>
                  <a:srgbClr val="86BC25"/>
                </a:solidFill>
                <a:latin typeface="Arial" pitchFamily="34" charset="0"/>
                <a:ea typeface="Arial" pitchFamily="34" charset="-122"/>
                <a:cs typeface="Arial" pitchFamily="34" charset="-120"/>
              </a:rPr>
              <a:t>
</a:t>
            </a:r>
            <a:r>
              <a:rPr lang="en-US" sz="1400" b="1" dirty="0">
                <a:solidFill>
                  <a:srgbClr val="F3F4F1"/>
                </a:solidFill>
                <a:latin typeface="Arial" pitchFamily="34" charset="0"/>
                <a:ea typeface="Arial" pitchFamily="34" charset="-122"/>
                <a:cs typeface="Arial" pitchFamily="34" charset="-120"/>
              </a:rPr>
              <a:t>Public replies only
</a:t>
            </a:r>
            <a:r>
              <a:rPr lang="en-US" sz="1150" dirty="0">
                <a:solidFill>
                  <a:srgbClr val="8E948B"/>
                </a:solidFill>
                <a:latin typeface="Arial" pitchFamily="34" charset="0"/>
                <a:ea typeface="Arial" pitchFamily="34" charset="-122"/>
                <a:cs typeface="Arial" pitchFamily="34" charset="-120"/>
              </a:rPr>
              <a:t>Customers see only public case comments — internal notes never leak to the storefront.</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0F11"/>
        </a:solidFill>
        <a:effectLst/>
      </p:bgPr>
    </p:bg>
    <p:spTree>
      <p:nvGrpSpPr>
        <p:cNvPr id="1" name=""/>
        <p:cNvGrpSpPr/>
        <p:nvPr/>
      </p:nvGrpSpPr>
      <p:grpSpPr>
        <a:xfrm>
          <a:off x="0" y="0"/>
          <a:ext cx="0" cy="0"/>
          <a:chOff x="0" y="0"/>
          <a:chExt cx="0" cy="0"/>
        </a:xfrm>
      </p:grpSpPr>
      <p:sp>
        <p:nvSpPr>
          <p:cNvPr id="2" name="Text 0"/>
          <p:cNvSpPr/>
          <p:nvPr/>
        </p:nvSpPr>
        <p:spPr>
          <a:xfrm>
            <a:off x="566928" y="384048"/>
            <a:ext cx="7315200" cy="320040"/>
          </a:xfrm>
          <a:prstGeom prst="rect">
            <a:avLst/>
          </a:prstGeom>
          <a:noFill/>
          <a:ln/>
        </p:spPr>
        <p:txBody>
          <a:bodyPr wrap="square" rtlCol="0" anchor="ctr"/>
          <a:lstStyle/>
          <a:p>
            <a:pPr marL="0" indent="0">
              <a:buNone/>
            </a:pPr>
            <a:r>
              <a:rPr lang="en-US" sz="1100" b="1" kern="0" spc="300" dirty="0">
                <a:solidFill>
                  <a:srgbClr val="86BC25"/>
                </a:solidFill>
                <a:latin typeface="Arial" pitchFamily="34" charset="0"/>
                <a:ea typeface="Arial" pitchFamily="34" charset="-122"/>
                <a:cs typeface="Arial" pitchFamily="34" charset="-120"/>
              </a:rPr>
              <a:t>CORE FLOW</a:t>
            </a:r>
            <a:endParaRPr lang="en-US" sz="1100" dirty="0"/>
          </a:p>
        </p:txBody>
      </p:sp>
      <p:sp>
        <p:nvSpPr>
          <p:cNvPr id="3" name="Text 1"/>
          <p:cNvSpPr/>
          <p:nvPr/>
        </p:nvSpPr>
        <p:spPr>
          <a:xfrm>
            <a:off x="8881567" y="365760"/>
            <a:ext cx="2743200" cy="365760"/>
          </a:xfrm>
          <a:prstGeom prst="rect">
            <a:avLst/>
          </a:prstGeom>
          <a:noFill/>
          <a:ln/>
        </p:spPr>
        <p:txBody>
          <a:bodyPr wrap="square" rtlCol="0" anchor="ctr"/>
          <a:lstStyle/>
          <a:p>
            <a:pPr marL="0" indent="0" algn="r">
              <a:buNone/>
            </a:pPr>
            <a:r>
              <a:rPr lang="en-US" sz="1500" b="1" dirty="0">
                <a:solidFill>
                  <a:srgbClr val="F3F4F1"/>
                </a:solidFill>
                <a:latin typeface="Arial" pitchFamily="34" charset="0"/>
                <a:ea typeface="Arial" pitchFamily="34" charset="-122"/>
                <a:cs typeface="Arial" pitchFamily="34" charset="-120"/>
              </a:rPr>
              <a:t>Deloitte</a:t>
            </a:r>
            <a:r>
              <a:rPr lang="en-US" sz="1500" b="1" dirty="0">
                <a:solidFill>
                  <a:srgbClr val="86BC25"/>
                </a:solidFill>
                <a:latin typeface="Arial" pitchFamily="34" charset="0"/>
                <a:ea typeface="Arial" pitchFamily="34" charset="-122"/>
                <a:cs typeface="Arial" pitchFamily="34" charset="-120"/>
              </a:rPr>
              <a:t>.</a:t>
            </a:r>
            <a:endParaRPr lang="en-US" sz="1500" dirty="0"/>
          </a:p>
        </p:txBody>
      </p:sp>
      <p:sp>
        <p:nvSpPr>
          <p:cNvPr id="4" name="Shape 2"/>
          <p:cNvSpPr/>
          <p:nvPr/>
        </p:nvSpPr>
        <p:spPr>
          <a:xfrm>
            <a:off x="566928" y="841248"/>
            <a:ext cx="11057839" cy="0"/>
          </a:xfrm>
          <a:prstGeom prst="line">
            <a:avLst/>
          </a:prstGeom>
          <a:noFill/>
          <a:ln w="12700">
            <a:solidFill>
              <a:srgbClr val="2C2F34"/>
            </a:solidFill>
            <a:prstDash val="solid"/>
          </a:ln>
        </p:spPr>
        <p:txBody>
          <a:bodyPr/>
          <a:lstStyle/>
          <a:p>
            <a:endParaRPr lang="en-US"/>
          </a:p>
        </p:txBody>
      </p:sp>
      <p:sp>
        <p:nvSpPr>
          <p:cNvPr id="5" name="Text 3"/>
          <p:cNvSpPr/>
          <p:nvPr/>
        </p:nvSpPr>
        <p:spPr>
          <a:xfrm>
            <a:off x="566928" y="1024128"/>
            <a:ext cx="11057839" cy="914400"/>
          </a:xfrm>
          <a:prstGeom prst="rect">
            <a:avLst/>
          </a:prstGeom>
          <a:noFill/>
          <a:ln/>
        </p:spPr>
        <p:txBody>
          <a:bodyPr wrap="square" rtlCol="0" anchor="t"/>
          <a:lstStyle/>
          <a:p>
            <a:pPr marL="0" indent="0" algn="l">
              <a:buNone/>
            </a:pPr>
            <a:r>
              <a:rPr lang="en-US" sz="3000" b="1" dirty="0">
                <a:solidFill>
                  <a:srgbClr val="F3F4F1"/>
                </a:solidFill>
                <a:latin typeface="Arial" pitchFamily="34" charset="0"/>
                <a:ea typeface="Arial" pitchFamily="34" charset="-122"/>
                <a:cs typeface="Arial" pitchFamily="34" charset="-120"/>
              </a:rPr>
              <a:t>From cart to a real Salesforce order</a:t>
            </a:r>
            <a:endParaRPr lang="en-US" sz="3000" dirty="0"/>
          </a:p>
        </p:txBody>
      </p:sp>
      <p:sp>
        <p:nvSpPr>
          <p:cNvPr id="6" name="Shape 4"/>
          <p:cNvSpPr/>
          <p:nvPr/>
        </p:nvSpPr>
        <p:spPr>
          <a:xfrm>
            <a:off x="566928" y="6291072"/>
            <a:ext cx="11057839" cy="0"/>
          </a:xfrm>
          <a:prstGeom prst="line">
            <a:avLst/>
          </a:prstGeom>
          <a:noFill/>
          <a:ln w="12700">
            <a:solidFill>
              <a:srgbClr val="2C2F34"/>
            </a:solidFill>
            <a:prstDash val="solid"/>
          </a:ln>
        </p:spPr>
        <p:txBody>
          <a:bodyPr/>
          <a:lstStyle/>
          <a:p>
            <a:endParaRPr lang="en-US"/>
          </a:p>
        </p:txBody>
      </p:sp>
      <p:sp>
        <p:nvSpPr>
          <p:cNvPr id="7" name="Text 5"/>
          <p:cNvSpPr/>
          <p:nvPr/>
        </p:nvSpPr>
        <p:spPr>
          <a:xfrm>
            <a:off x="566928" y="6355080"/>
            <a:ext cx="8229600" cy="274320"/>
          </a:xfrm>
          <a:prstGeom prst="rect">
            <a:avLst/>
          </a:prstGeom>
          <a:noFill/>
          <a:ln/>
        </p:spPr>
        <p:txBody>
          <a:bodyPr wrap="square" rtlCol="0" anchor="ctr"/>
          <a:lstStyle/>
          <a:p>
            <a:pPr marL="0" indent="0">
              <a:buNone/>
            </a:pPr>
            <a:r>
              <a:rPr lang="en-US" sz="950" kern="0" spc="100" dirty="0">
                <a:solidFill>
                  <a:srgbClr val="8E948B"/>
                </a:solidFill>
                <a:latin typeface="Arial" pitchFamily="34" charset="0"/>
                <a:ea typeface="Arial" pitchFamily="34" charset="-122"/>
                <a:cs typeface="Arial" pitchFamily="34" charset="-120"/>
              </a:rPr>
              <a:t>The merchant runs fulfilment in Salesforce — the UI just reads Status</a:t>
            </a:r>
            <a:endParaRPr lang="en-US" sz="950" dirty="0"/>
          </a:p>
        </p:txBody>
      </p:sp>
      <p:sp>
        <p:nvSpPr>
          <p:cNvPr id="8" name="Text 6"/>
          <p:cNvSpPr/>
          <p:nvPr/>
        </p:nvSpPr>
        <p:spPr>
          <a:xfrm>
            <a:off x="9795967" y="6355080"/>
            <a:ext cx="1828800" cy="274320"/>
          </a:xfrm>
          <a:prstGeom prst="rect">
            <a:avLst/>
          </a:prstGeom>
          <a:noFill/>
          <a:ln/>
        </p:spPr>
        <p:txBody>
          <a:bodyPr wrap="square" rtlCol="0" anchor="ctr"/>
          <a:lstStyle/>
          <a:p>
            <a:pPr marL="0" indent="0" algn="r">
              <a:buNone/>
            </a:pPr>
            <a:r>
              <a:rPr lang="en-US" sz="950" dirty="0">
                <a:solidFill>
                  <a:srgbClr val="8E948B"/>
                </a:solidFill>
                <a:latin typeface="Arial" pitchFamily="34" charset="0"/>
                <a:ea typeface="Arial" pitchFamily="34" charset="-122"/>
                <a:cs typeface="Arial" pitchFamily="34" charset="-120"/>
              </a:rPr>
              <a:t>7 / 12</a:t>
            </a:r>
            <a:endParaRPr lang="en-US" sz="950" dirty="0"/>
          </a:p>
        </p:txBody>
      </p:sp>
      <p:sp>
        <p:nvSpPr>
          <p:cNvPr id="9" name="Shape 7"/>
          <p:cNvSpPr/>
          <p:nvPr/>
        </p:nvSpPr>
        <p:spPr>
          <a:xfrm>
            <a:off x="566928" y="6748272"/>
            <a:ext cx="6450406" cy="45720"/>
          </a:xfrm>
          <a:prstGeom prst="rect">
            <a:avLst/>
          </a:prstGeom>
          <a:solidFill>
            <a:srgbClr val="86BC25"/>
          </a:solidFill>
          <a:ln/>
        </p:spPr>
        <p:txBody>
          <a:bodyPr/>
          <a:lstStyle/>
          <a:p>
            <a:endParaRPr lang="en-US"/>
          </a:p>
        </p:txBody>
      </p:sp>
      <p:sp>
        <p:nvSpPr>
          <p:cNvPr id="10" name="Shape 8"/>
          <p:cNvSpPr/>
          <p:nvPr/>
        </p:nvSpPr>
        <p:spPr>
          <a:xfrm>
            <a:off x="566928" y="2468880"/>
            <a:ext cx="2103120" cy="1828800"/>
          </a:xfrm>
          <a:prstGeom prst="roundRect">
            <a:avLst>
              <a:gd name="adj" fmla="val 3000"/>
            </a:avLst>
          </a:prstGeom>
          <a:solidFill>
            <a:srgbClr val="16181C"/>
          </a:solidFill>
          <a:ln w="12700">
            <a:solidFill>
              <a:srgbClr val="2C2F34"/>
            </a:solidFill>
            <a:prstDash val="solid"/>
          </a:ln>
        </p:spPr>
        <p:txBody>
          <a:bodyPr/>
          <a:lstStyle/>
          <a:p>
            <a:endParaRPr lang="en-US"/>
          </a:p>
        </p:txBody>
      </p:sp>
      <p:sp>
        <p:nvSpPr>
          <p:cNvPr id="11" name="Text 9"/>
          <p:cNvSpPr/>
          <p:nvPr/>
        </p:nvSpPr>
        <p:spPr>
          <a:xfrm>
            <a:off x="768096" y="2633472"/>
            <a:ext cx="1700784" cy="1499616"/>
          </a:xfrm>
          <a:prstGeom prst="rect">
            <a:avLst/>
          </a:prstGeom>
          <a:noFill/>
          <a:ln/>
        </p:spPr>
        <p:txBody>
          <a:bodyPr wrap="square" rtlCol="0" anchor="t"/>
          <a:lstStyle/>
          <a:p>
            <a:pPr marL="0" indent="0">
              <a:lnSpc>
                <a:spcPct val="106000"/>
              </a:lnSpc>
              <a:buNone/>
            </a:pPr>
            <a:r>
              <a:rPr lang="en-US" sz="1000" b="1" kern="0" spc="200" dirty="0">
                <a:solidFill>
                  <a:srgbClr val="86BC25"/>
                </a:solidFill>
                <a:latin typeface="Arial" pitchFamily="34" charset="0"/>
                <a:ea typeface="Arial" pitchFamily="34" charset="-122"/>
                <a:cs typeface="Arial" pitchFamily="34" charset="-120"/>
              </a:rPr>
              <a:t>01
</a:t>
            </a:r>
            <a:r>
              <a:rPr lang="en-US" sz="1300" b="1" dirty="0">
                <a:solidFill>
                  <a:srgbClr val="F3F4F1"/>
                </a:solidFill>
                <a:latin typeface="Arial" pitchFamily="34" charset="0"/>
                <a:ea typeface="Arial" pitchFamily="34" charset="-122"/>
                <a:cs typeface="Arial" pitchFamily="34" charset="-120"/>
              </a:rPr>
              <a:t>Browse &amp; search
</a:t>
            </a:r>
            <a:r>
              <a:rPr lang="en-US" sz="1150" dirty="0">
                <a:solidFill>
                  <a:srgbClr val="8E948B"/>
                </a:solidFill>
                <a:latin typeface="Arial" pitchFamily="34" charset="0"/>
                <a:ea typeface="Arial" pitchFamily="34" charset="-122"/>
                <a:cs typeface="Arial" pitchFamily="34" charset="-120"/>
              </a:rPr>
              <a:t>Filter, sort, discover</a:t>
            </a:r>
            <a:endParaRPr lang="en-US" sz="1000" dirty="0"/>
          </a:p>
        </p:txBody>
      </p:sp>
      <p:sp>
        <p:nvSpPr>
          <p:cNvPr id="12" name="Text 10"/>
          <p:cNvSpPr/>
          <p:nvPr/>
        </p:nvSpPr>
        <p:spPr>
          <a:xfrm>
            <a:off x="2651760" y="3108960"/>
            <a:ext cx="146304" cy="548640"/>
          </a:xfrm>
          <a:prstGeom prst="rect">
            <a:avLst/>
          </a:prstGeom>
          <a:noFill/>
          <a:ln/>
        </p:spPr>
        <p:txBody>
          <a:bodyPr wrap="square" rtlCol="0" anchor="ctr"/>
          <a:lstStyle/>
          <a:p>
            <a:pPr marL="0" indent="0" algn="ctr">
              <a:buNone/>
            </a:pPr>
            <a:r>
              <a:rPr lang="en-US" sz="1400" dirty="0">
                <a:solidFill>
                  <a:srgbClr val="8E948B"/>
                </a:solidFill>
                <a:latin typeface="Arial" pitchFamily="34" charset="0"/>
                <a:ea typeface="Arial" pitchFamily="34" charset="-122"/>
                <a:cs typeface="Arial" pitchFamily="34" charset="-120"/>
              </a:rPr>
              <a:t>→</a:t>
            </a:r>
            <a:endParaRPr lang="en-US" sz="1400" dirty="0"/>
          </a:p>
        </p:txBody>
      </p:sp>
      <p:sp>
        <p:nvSpPr>
          <p:cNvPr id="13" name="Shape 11"/>
          <p:cNvSpPr/>
          <p:nvPr/>
        </p:nvSpPr>
        <p:spPr>
          <a:xfrm>
            <a:off x="2798064" y="2468880"/>
            <a:ext cx="2103120" cy="1828800"/>
          </a:xfrm>
          <a:prstGeom prst="roundRect">
            <a:avLst>
              <a:gd name="adj" fmla="val 3000"/>
            </a:avLst>
          </a:prstGeom>
          <a:solidFill>
            <a:srgbClr val="16181C"/>
          </a:solidFill>
          <a:ln w="12700">
            <a:solidFill>
              <a:srgbClr val="2C2F34"/>
            </a:solidFill>
            <a:prstDash val="solid"/>
          </a:ln>
        </p:spPr>
        <p:txBody>
          <a:bodyPr/>
          <a:lstStyle/>
          <a:p>
            <a:endParaRPr lang="en-US"/>
          </a:p>
        </p:txBody>
      </p:sp>
      <p:sp>
        <p:nvSpPr>
          <p:cNvPr id="14" name="Text 12"/>
          <p:cNvSpPr/>
          <p:nvPr/>
        </p:nvSpPr>
        <p:spPr>
          <a:xfrm>
            <a:off x="2999232" y="2633472"/>
            <a:ext cx="1700784" cy="1499616"/>
          </a:xfrm>
          <a:prstGeom prst="rect">
            <a:avLst/>
          </a:prstGeom>
          <a:noFill/>
          <a:ln/>
        </p:spPr>
        <p:txBody>
          <a:bodyPr wrap="square" rtlCol="0" anchor="t"/>
          <a:lstStyle/>
          <a:p>
            <a:pPr marL="0" indent="0">
              <a:lnSpc>
                <a:spcPct val="106000"/>
              </a:lnSpc>
              <a:buNone/>
            </a:pPr>
            <a:r>
              <a:rPr lang="en-US" sz="1000" b="1" kern="0" spc="200" dirty="0">
                <a:solidFill>
                  <a:srgbClr val="86BC25"/>
                </a:solidFill>
                <a:latin typeface="Arial" pitchFamily="34" charset="0"/>
                <a:ea typeface="Arial" pitchFamily="34" charset="-122"/>
                <a:cs typeface="Arial" pitchFamily="34" charset="-120"/>
              </a:rPr>
              <a:t>02
</a:t>
            </a:r>
            <a:r>
              <a:rPr lang="en-US" sz="1300" b="1" dirty="0">
                <a:solidFill>
                  <a:srgbClr val="F3F4F1"/>
                </a:solidFill>
                <a:latin typeface="Arial" pitchFamily="34" charset="0"/>
                <a:ea typeface="Arial" pitchFamily="34" charset="-122"/>
                <a:cs typeface="Arial" pitchFamily="34" charset="-120"/>
              </a:rPr>
              <a:t>Cart &amp; checkout
</a:t>
            </a:r>
            <a:r>
              <a:rPr lang="en-US" sz="1150" dirty="0">
                <a:solidFill>
                  <a:srgbClr val="8E948B"/>
                </a:solidFill>
                <a:latin typeface="Arial" pitchFamily="34" charset="0"/>
                <a:ea typeface="Arial" pitchFamily="34" charset="-122"/>
                <a:cs typeface="Arial" pitchFamily="34" charset="-120"/>
              </a:rPr>
              <a:t>Promo, tax + payment</a:t>
            </a:r>
            <a:endParaRPr lang="en-US" sz="1000" dirty="0"/>
          </a:p>
        </p:txBody>
      </p:sp>
      <p:sp>
        <p:nvSpPr>
          <p:cNvPr id="15" name="Text 13"/>
          <p:cNvSpPr/>
          <p:nvPr/>
        </p:nvSpPr>
        <p:spPr>
          <a:xfrm>
            <a:off x="4882896" y="3108960"/>
            <a:ext cx="146304" cy="548640"/>
          </a:xfrm>
          <a:prstGeom prst="rect">
            <a:avLst/>
          </a:prstGeom>
          <a:noFill/>
          <a:ln/>
        </p:spPr>
        <p:txBody>
          <a:bodyPr wrap="square" rtlCol="0" anchor="ctr"/>
          <a:lstStyle/>
          <a:p>
            <a:pPr marL="0" indent="0" algn="ctr">
              <a:buNone/>
            </a:pPr>
            <a:r>
              <a:rPr lang="en-US" sz="1400" dirty="0">
                <a:solidFill>
                  <a:srgbClr val="8E948B"/>
                </a:solidFill>
                <a:latin typeface="Arial" pitchFamily="34" charset="0"/>
                <a:ea typeface="Arial" pitchFamily="34" charset="-122"/>
                <a:cs typeface="Arial" pitchFamily="34" charset="-120"/>
              </a:rPr>
              <a:t>→</a:t>
            </a:r>
            <a:endParaRPr lang="en-US" sz="1400" dirty="0"/>
          </a:p>
        </p:txBody>
      </p:sp>
      <p:sp>
        <p:nvSpPr>
          <p:cNvPr id="16" name="Shape 14"/>
          <p:cNvSpPr/>
          <p:nvPr/>
        </p:nvSpPr>
        <p:spPr>
          <a:xfrm>
            <a:off x="5029200" y="2468880"/>
            <a:ext cx="2103120" cy="1828800"/>
          </a:xfrm>
          <a:prstGeom prst="roundRect">
            <a:avLst>
              <a:gd name="adj" fmla="val 3000"/>
            </a:avLst>
          </a:prstGeom>
          <a:solidFill>
            <a:srgbClr val="1A2410"/>
          </a:solidFill>
          <a:ln w="12700">
            <a:solidFill>
              <a:srgbClr val="86BC25"/>
            </a:solidFill>
            <a:prstDash val="solid"/>
          </a:ln>
        </p:spPr>
        <p:txBody>
          <a:bodyPr/>
          <a:lstStyle/>
          <a:p>
            <a:endParaRPr lang="en-US"/>
          </a:p>
        </p:txBody>
      </p:sp>
      <p:sp>
        <p:nvSpPr>
          <p:cNvPr id="17" name="Text 15"/>
          <p:cNvSpPr/>
          <p:nvPr/>
        </p:nvSpPr>
        <p:spPr>
          <a:xfrm>
            <a:off x="5230368" y="2633472"/>
            <a:ext cx="1700784" cy="1499616"/>
          </a:xfrm>
          <a:prstGeom prst="rect">
            <a:avLst/>
          </a:prstGeom>
          <a:noFill/>
          <a:ln/>
        </p:spPr>
        <p:txBody>
          <a:bodyPr wrap="square" rtlCol="0" anchor="t"/>
          <a:lstStyle/>
          <a:p>
            <a:pPr marL="0" indent="0">
              <a:lnSpc>
                <a:spcPct val="106000"/>
              </a:lnSpc>
              <a:buNone/>
            </a:pPr>
            <a:r>
              <a:rPr lang="en-US" sz="1000" b="1" kern="0" spc="200" dirty="0">
                <a:solidFill>
                  <a:srgbClr val="86BC25"/>
                </a:solidFill>
                <a:latin typeface="Arial" pitchFamily="34" charset="0"/>
                <a:ea typeface="Arial" pitchFamily="34" charset="-122"/>
                <a:cs typeface="Arial" pitchFamily="34" charset="-120"/>
              </a:rPr>
              <a:t>03
</a:t>
            </a:r>
            <a:r>
              <a:rPr lang="en-US" sz="1300" b="1" dirty="0">
                <a:solidFill>
                  <a:srgbClr val="F3F4F1"/>
                </a:solidFill>
                <a:latin typeface="Arial" pitchFamily="34" charset="0"/>
                <a:ea typeface="Arial" pitchFamily="34" charset="-122"/>
                <a:cs typeface="Arial" pitchFamily="34" charset="-120"/>
              </a:rPr>
              <a:t>Order in Salesforce
</a:t>
            </a:r>
            <a:r>
              <a:rPr lang="en-US" sz="1150" dirty="0">
                <a:solidFill>
                  <a:srgbClr val="8E948B"/>
                </a:solidFill>
                <a:latin typeface="Arial" pitchFamily="34" charset="0"/>
                <a:ea typeface="Arial" pitchFamily="34" charset="-122"/>
                <a:cs typeface="Arial" pitchFamily="34" charset="-120"/>
              </a:rPr>
              <a:t>Order + OrderSummary on pay</a:t>
            </a:r>
            <a:endParaRPr lang="en-US" sz="1000" dirty="0"/>
          </a:p>
        </p:txBody>
      </p:sp>
      <p:sp>
        <p:nvSpPr>
          <p:cNvPr id="18" name="Text 16"/>
          <p:cNvSpPr/>
          <p:nvPr/>
        </p:nvSpPr>
        <p:spPr>
          <a:xfrm>
            <a:off x="7114032" y="3108960"/>
            <a:ext cx="146304" cy="548640"/>
          </a:xfrm>
          <a:prstGeom prst="rect">
            <a:avLst/>
          </a:prstGeom>
          <a:noFill/>
          <a:ln/>
        </p:spPr>
        <p:txBody>
          <a:bodyPr wrap="square" rtlCol="0" anchor="ctr"/>
          <a:lstStyle/>
          <a:p>
            <a:pPr marL="0" indent="0" algn="ctr">
              <a:buNone/>
            </a:pPr>
            <a:r>
              <a:rPr lang="en-US" sz="1400" dirty="0">
                <a:solidFill>
                  <a:srgbClr val="8E948B"/>
                </a:solidFill>
                <a:latin typeface="Arial" pitchFamily="34" charset="0"/>
                <a:ea typeface="Arial" pitchFamily="34" charset="-122"/>
                <a:cs typeface="Arial" pitchFamily="34" charset="-120"/>
              </a:rPr>
              <a:t>→</a:t>
            </a:r>
            <a:endParaRPr lang="en-US" sz="1400" dirty="0"/>
          </a:p>
        </p:txBody>
      </p:sp>
      <p:sp>
        <p:nvSpPr>
          <p:cNvPr id="19" name="Shape 17"/>
          <p:cNvSpPr/>
          <p:nvPr/>
        </p:nvSpPr>
        <p:spPr>
          <a:xfrm>
            <a:off x="7260336" y="2468880"/>
            <a:ext cx="2103120" cy="1828800"/>
          </a:xfrm>
          <a:prstGeom prst="roundRect">
            <a:avLst>
              <a:gd name="adj" fmla="val 3000"/>
            </a:avLst>
          </a:prstGeom>
          <a:solidFill>
            <a:srgbClr val="1A2410"/>
          </a:solidFill>
          <a:ln w="12700">
            <a:solidFill>
              <a:srgbClr val="86BC25"/>
            </a:solidFill>
            <a:prstDash val="solid"/>
          </a:ln>
        </p:spPr>
        <p:txBody>
          <a:bodyPr/>
          <a:lstStyle/>
          <a:p>
            <a:endParaRPr lang="en-US"/>
          </a:p>
        </p:txBody>
      </p:sp>
      <p:sp>
        <p:nvSpPr>
          <p:cNvPr id="20" name="Text 18"/>
          <p:cNvSpPr/>
          <p:nvPr/>
        </p:nvSpPr>
        <p:spPr>
          <a:xfrm>
            <a:off x="7461504" y="2633472"/>
            <a:ext cx="1700784" cy="1499616"/>
          </a:xfrm>
          <a:prstGeom prst="rect">
            <a:avLst/>
          </a:prstGeom>
          <a:noFill/>
          <a:ln/>
        </p:spPr>
        <p:txBody>
          <a:bodyPr wrap="square" rtlCol="0" anchor="t"/>
          <a:lstStyle/>
          <a:p>
            <a:pPr marL="0" indent="0">
              <a:lnSpc>
                <a:spcPct val="106000"/>
              </a:lnSpc>
              <a:buNone/>
            </a:pPr>
            <a:r>
              <a:rPr lang="en-US" sz="1000" b="1" kern="0" spc="200" dirty="0">
                <a:solidFill>
                  <a:srgbClr val="86BC25"/>
                </a:solidFill>
                <a:latin typeface="Arial" pitchFamily="34" charset="0"/>
                <a:ea typeface="Arial" pitchFamily="34" charset="-122"/>
                <a:cs typeface="Arial" pitchFamily="34" charset="-120"/>
              </a:rPr>
              <a:t>04
</a:t>
            </a:r>
            <a:r>
              <a:rPr lang="en-US" sz="1300" b="1" dirty="0">
                <a:solidFill>
                  <a:srgbClr val="F3F4F1"/>
                </a:solidFill>
                <a:latin typeface="Arial" pitchFamily="34" charset="0"/>
                <a:ea typeface="Arial" pitchFamily="34" charset="-122"/>
                <a:cs typeface="Arial" pitchFamily="34" charset="-120"/>
              </a:rPr>
              <a:t>Merchant fulfils
</a:t>
            </a:r>
            <a:r>
              <a:rPr lang="en-US" sz="1150" dirty="0">
                <a:solidFill>
                  <a:srgbClr val="8E948B"/>
                </a:solidFill>
                <a:latin typeface="Arial" pitchFamily="34" charset="0"/>
                <a:ea typeface="Arial" pitchFamily="34" charset="-122"/>
                <a:cs typeface="Arial" pitchFamily="34" charset="-120"/>
              </a:rPr>
              <a:t>Shipped → Completed</a:t>
            </a:r>
            <a:endParaRPr lang="en-US" sz="1000" dirty="0"/>
          </a:p>
        </p:txBody>
      </p:sp>
      <p:sp>
        <p:nvSpPr>
          <p:cNvPr id="21" name="Text 19"/>
          <p:cNvSpPr/>
          <p:nvPr/>
        </p:nvSpPr>
        <p:spPr>
          <a:xfrm>
            <a:off x="9345168" y="3108960"/>
            <a:ext cx="146304" cy="548640"/>
          </a:xfrm>
          <a:prstGeom prst="rect">
            <a:avLst/>
          </a:prstGeom>
          <a:noFill/>
          <a:ln/>
        </p:spPr>
        <p:txBody>
          <a:bodyPr wrap="square" rtlCol="0" anchor="ctr"/>
          <a:lstStyle/>
          <a:p>
            <a:pPr marL="0" indent="0" algn="ctr">
              <a:buNone/>
            </a:pPr>
            <a:r>
              <a:rPr lang="en-US" sz="1400" dirty="0">
                <a:solidFill>
                  <a:srgbClr val="8E948B"/>
                </a:solidFill>
                <a:latin typeface="Arial" pitchFamily="34" charset="0"/>
                <a:ea typeface="Arial" pitchFamily="34" charset="-122"/>
                <a:cs typeface="Arial" pitchFamily="34" charset="-120"/>
              </a:rPr>
              <a:t>→</a:t>
            </a:r>
            <a:endParaRPr lang="en-US" sz="1400" dirty="0"/>
          </a:p>
        </p:txBody>
      </p:sp>
      <p:sp>
        <p:nvSpPr>
          <p:cNvPr id="22" name="Shape 20"/>
          <p:cNvSpPr/>
          <p:nvPr/>
        </p:nvSpPr>
        <p:spPr>
          <a:xfrm>
            <a:off x="9491472" y="2468880"/>
            <a:ext cx="2103120" cy="1828800"/>
          </a:xfrm>
          <a:prstGeom prst="roundRect">
            <a:avLst>
              <a:gd name="adj" fmla="val 3000"/>
            </a:avLst>
          </a:prstGeom>
          <a:solidFill>
            <a:srgbClr val="16181C"/>
          </a:solidFill>
          <a:ln w="12700">
            <a:solidFill>
              <a:srgbClr val="2C2F34"/>
            </a:solidFill>
            <a:prstDash val="solid"/>
          </a:ln>
        </p:spPr>
        <p:txBody>
          <a:bodyPr/>
          <a:lstStyle/>
          <a:p>
            <a:endParaRPr lang="en-US"/>
          </a:p>
        </p:txBody>
      </p:sp>
      <p:sp>
        <p:nvSpPr>
          <p:cNvPr id="23" name="Text 21"/>
          <p:cNvSpPr/>
          <p:nvPr/>
        </p:nvSpPr>
        <p:spPr>
          <a:xfrm>
            <a:off x="9692640" y="2633472"/>
            <a:ext cx="1700784" cy="1499616"/>
          </a:xfrm>
          <a:prstGeom prst="rect">
            <a:avLst/>
          </a:prstGeom>
          <a:noFill/>
          <a:ln/>
        </p:spPr>
        <p:txBody>
          <a:bodyPr wrap="square" rtlCol="0" anchor="t"/>
          <a:lstStyle/>
          <a:p>
            <a:pPr marL="0" indent="0">
              <a:lnSpc>
                <a:spcPct val="106000"/>
              </a:lnSpc>
              <a:buNone/>
            </a:pPr>
            <a:r>
              <a:rPr lang="en-US" sz="1000" b="1" kern="0" spc="200" dirty="0">
                <a:solidFill>
                  <a:srgbClr val="86BC25"/>
                </a:solidFill>
                <a:latin typeface="Arial" pitchFamily="34" charset="0"/>
                <a:ea typeface="Arial" pitchFamily="34" charset="-122"/>
                <a:cs typeface="Arial" pitchFamily="34" charset="-120"/>
              </a:rPr>
              <a:t>05
</a:t>
            </a:r>
            <a:r>
              <a:rPr lang="en-US" sz="1300" b="1" dirty="0">
                <a:solidFill>
                  <a:srgbClr val="F3F4F1"/>
                </a:solidFill>
                <a:latin typeface="Arial" pitchFamily="34" charset="0"/>
                <a:ea typeface="Arial" pitchFamily="34" charset="-122"/>
                <a:cs typeface="Arial" pitchFamily="34" charset="-120"/>
              </a:rPr>
              <a:t>Storefront reflects it
</a:t>
            </a:r>
            <a:r>
              <a:rPr lang="en-US" sz="1150" dirty="0">
                <a:solidFill>
                  <a:srgbClr val="8E948B"/>
                </a:solidFill>
                <a:latin typeface="Arial" pitchFamily="34" charset="0"/>
                <a:ea typeface="Arial" pitchFamily="34" charset="-122"/>
                <a:cs typeface="Arial" pitchFamily="34" charset="-120"/>
              </a:rPr>
              <a:t>Status streams back live</a:t>
            </a:r>
            <a:endParaRPr lang="en-US" sz="1000" dirty="0"/>
          </a:p>
        </p:txBody>
      </p:sp>
      <p:sp>
        <p:nvSpPr>
          <p:cNvPr id="24" name="Shape 22"/>
          <p:cNvSpPr/>
          <p:nvPr/>
        </p:nvSpPr>
        <p:spPr>
          <a:xfrm>
            <a:off x="566928" y="5029200"/>
            <a:ext cx="3611880" cy="548640"/>
          </a:xfrm>
          <a:prstGeom prst="roundRect">
            <a:avLst>
              <a:gd name="adj" fmla="val 50000"/>
            </a:avLst>
          </a:prstGeom>
          <a:solidFill>
            <a:srgbClr val="1C1F24"/>
          </a:solidFill>
          <a:ln w="12700">
            <a:solidFill>
              <a:srgbClr val="2C2F34"/>
            </a:solidFill>
            <a:prstDash val="solid"/>
          </a:ln>
        </p:spPr>
        <p:txBody>
          <a:bodyPr/>
          <a:lstStyle/>
          <a:p>
            <a:endParaRPr lang="en-US"/>
          </a:p>
        </p:txBody>
      </p:sp>
      <p:sp>
        <p:nvSpPr>
          <p:cNvPr id="25" name="Text 23"/>
          <p:cNvSpPr/>
          <p:nvPr/>
        </p:nvSpPr>
        <p:spPr>
          <a:xfrm>
            <a:off x="658368" y="5029200"/>
            <a:ext cx="3429000" cy="548640"/>
          </a:xfrm>
          <a:prstGeom prst="rect">
            <a:avLst/>
          </a:prstGeom>
          <a:noFill/>
          <a:ln/>
        </p:spPr>
        <p:txBody>
          <a:bodyPr wrap="square" rtlCol="0" anchor="ctr"/>
          <a:lstStyle/>
          <a:p>
            <a:pPr marL="0" indent="0" algn="ctr">
              <a:buNone/>
            </a:pPr>
            <a:r>
              <a:rPr lang="en-US" sz="1050" dirty="0">
                <a:solidFill>
                  <a:srgbClr val="C4C8C0"/>
                </a:solidFill>
                <a:latin typeface="Arial" pitchFamily="34" charset="0"/>
                <a:ea typeface="Arial" pitchFamily="34" charset="-122"/>
                <a:cs typeface="Arial" pitchFamily="34" charset="-120"/>
              </a:rPr>
              <a:t>Totals computed server-side</a:t>
            </a:r>
            <a:endParaRPr lang="en-US" sz="1050" dirty="0"/>
          </a:p>
        </p:txBody>
      </p:sp>
      <p:sp>
        <p:nvSpPr>
          <p:cNvPr id="26" name="Shape 24"/>
          <p:cNvSpPr/>
          <p:nvPr/>
        </p:nvSpPr>
        <p:spPr>
          <a:xfrm>
            <a:off x="4306824" y="5029200"/>
            <a:ext cx="3611880" cy="548640"/>
          </a:xfrm>
          <a:prstGeom prst="roundRect">
            <a:avLst>
              <a:gd name="adj" fmla="val 50000"/>
            </a:avLst>
          </a:prstGeom>
          <a:solidFill>
            <a:srgbClr val="1C1F24"/>
          </a:solidFill>
          <a:ln w="12700">
            <a:solidFill>
              <a:srgbClr val="2C2F34"/>
            </a:solidFill>
            <a:prstDash val="solid"/>
          </a:ln>
        </p:spPr>
        <p:txBody>
          <a:bodyPr/>
          <a:lstStyle/>
          <a:p>
            <a:endParaRPr lang="en-US"/>
          </a:p>
        </p:txBody>
      </p:sp>
      <p:sp>
        <p:nvSpPr>
          <p:cNvPr id="27" name="Text 25"/>
          <p:cNvSpPr/>
          <p:nvPr/>
        </p:nvSpPr>
        <p:spPr>
          <a:xfrm>
            <a:off x="4398264" y="5029200"/>
            <a:ext cx="3429000" cy="548640"/>
          </a:xfrm>
          <a:prstGeom prst="rect">
            <a:avLst/>
          </a:prstGeom>
          <a:noFill/>
          <a:ln/>
        </p:spPr>
        <p:txBody>
          <a:bodyPr wrap="square" rtlCol="0" anchor="ctr"/>
          <a:lstStyle/>
          <a:p>
            <a:pPr marL="0" indent="0" algn="ctr">
              <a:buNone/>
            </a:pPr>
            <a:r>
              <a:rPr lang="en-US" sz="1050" dirty="0">
                <a:solidFill>
                  <a:srgbClr val="C4C8C0"/>
                </a:solidFill>
                <a:latin typeface="Arial" pitchFamily="34" charset="0"/>
                <a:ea typeface="Arial" pitchFamily="34" charset="-122"/>
                <a:cs typeface="Arial" pitchFamily="34" charset="-120"/>
              </a:rPr>
              <a:t>Live stock check against Salesforce</a:t>
            </a:r>
            <a:endParaRPr lang="en-US" sz="1050" dirty="0"/>
          </a:p>
        </p:txBody>
      </p:sp>
      <p:sp>
        <p:nvSpPr>
          <p:cNvPr id="28" name="Shape 26"/>
          <p:cNvSpPr/>
          <p:nvPr/>
        </p:nvSpPr>
        <p:spPr>
          <a:xfrm>
            <a:off x="8046720" y="5029200"/>
            <a:ext cx="3611880" cy="548640"/>
          </a:xfrm>
          <a:prstGeom prst="roundRect">
            <a:avLst>
              <a:gd name="adj" fmla="val 50000"/>
            </a:avLst>
          </a:prstGeom>
          <a:solidFill>
            <a:srgbClr val="1C1F24"/>
          </a:solidFill>
          <a:ln w="12700">
            <a:solidFill>
              <a:srgbClr val="2C2F34"/>
            </a:solidFill>
            <a:prstDash val="solid"/>
          </a:ln>
        </p:spPr>
        <p:txBody>
          <a:bodyPr/>
          <a:lstStyle/>
          <a:p>
            <a:endParaRPr lang="en-US"/>
          </a:p>
        </p:txBody>
      </p:sp>
      <p:sp>
        <p:nvSpPr>
          <p:cNvPr id="29" name="Text 27"/>
          <p:cNvSpPr/>
          <p:nvPr/>
        </p:nvSpPr>
        <p:spPr>
          <a:xfrm>
            <a:off x="8138160" y="5029200"/>
            <a:ext cx="3429000" cy="548640"/>
          </a:xfrm>
          <a:prstGeom prst="rect">
            <a:avLst/>
          </a:prstGeom>
          <a:noFill/>
          <a:ln/>
        </p:spPr>
        <p:txBody>
          <a:bodyPr wrap="square" rtlCol="0" anchor="ctr"/>
          <a:lstStyle/>
          <a:p>
            <a:pPr marL="0" indent="0" algn="ctr">
              <a:buNone/>
            </a:pPr>
            <a:r>
              <a:rPr lang="en-US" sz="1050" dirty="0">
                <a:solidFill>
                  <a:srgbClr val="C4C8C0"/>
                </a:solidFill>
                <a:latin typeface="Arial" pitchFamily="34" charset="0"/>
                <a:ea typeface="Arial" pitchFamily="34" charset="-122"/>
                <a:cs typeface="Arial" pitchFamily="34" charset="-120"/>
              </a:rPr>
              <a:t>Payment taken before the order is written</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0F11"/>
        </a:solidFill>
        <a:effectLst/>
      </p:bgPr>
    </p:bg>
    <p:spTree>
      <p:nvGrpSpPr>
        <p:cNvPr id="1" name=""/>
        <p:cNvGrpSpPr/>
        <p:nvPr/>
      </p:nvGrpSpPr>
      <p:grpSpPr>
        <a:xfrm>
          <a:off x="0" y="0"/>
          <a:ext cx="0" cy="0"/>
          <a:chOff x="0" y="0"/>
          <a:chExt cx="0" cy="0"/>
        </a:xfrm>
      </p:grpSpPr>
      <p:sp>
        <p:nvSpPr>
          <p:cNvPr id="2" name="Text 0"/>
          <p:cNvSpPr/>
          <p:nvPr/>
        </p:nvSpPr>
        <p:spPr>
          <a:xfrm>
            <a:off x="566928" y="384048"/>
            <a:ext cx="7315200" cy="320040"/>
          </a:xfrm>
          <a:prstGeom prst="rect">
            <a:avLst/>
          </a:prstGeom>
          <a:noFill/>
          <a:ln/>
        </p:spPr>
        <p:txBody>
          <a:bodyPr wrap="square" rtlCol="0" anchor="ctr"/>
          <a:lstStyle/>
          <a:p>
            <a:pPr marL="0" indent="0">
              <a:buNone/>
            </a:pPr>
            <a:r>
              <a:rPr lang="en-US" sz="1100" b="1" kern="0" spc="300" dirty="0">
                <a:solidFill>
                  <a:srgbClr val="86BC25"/>
                </a:solidFill>
                <a:latin typeface="Arial" pitchFamily="34" charset="0"/>
                <a:ea typeface="Arial" pitchFamily="34" charset="-122"/>
                <a:cs typeface="Arial" pitchFamily="34" charset="-120"/>
              </a:rPr>
              <a:t>REAL-TIME &amp; IDENTITY</a:t>
            </a:r>
            <a:endParaRPr lang="en-US" sz="1100" dirty="0"/>
          </a:p>
        </p:txBody>
      </p:sp>
      <p:sp>
        <p:nvSpPr>
          <p:cNvPr id="3" name="Text 1"/>
          <p:cNvSpPr/>
          <p:nvPr/>
        </p:nvSpPr>
        <p:spPr>
          <a:xfrm>
            <a:off x="8881567" y="365760"/>
            <a:ext cx="2743200" cy="365760"/>
          </a:xfrm>
          <a:prstGeom prst="rect">
            <a:avLst/>
          </a:prstGeom>
          <a:noFill/>
          <a:ln/>
        </p:spPr>
        <p:txBody>
          <a:bodyPr wrap="square" rtlCol="0" anchor="ctr"/>
          <a:lstStyle/>
          <a:p>
            <a:pPr marL="0" indent="0" algn="r">
              <a:buNone/>
            </a:pPr>
            <a:r>
              <a:rPr lang="en-US" sz="1500" b="1" dirty="0">
                <a:solidFill>
                  <a:srgbClr val="F3F4F1"/>
                </a:solidFill>
                <a:latin typeface="Arial" pitchFamily="34" charset="0"/>
                <a:ea typeface="Arial" pitchFamily="34" charset="-122"/>
                <a:cs typeface="Arial" pitchFamily="34" charset="-120"/>
              </a:rPr>
              <a:t>Deloitte</a:t>
            </a:r>
            <a:r>
              <a:rPr lang="en-US" sz="1500" b="1" dirty="0">
                <a:solidFill>
                  <a:srgbClr val="86BC25"/>
                </a:solidFill>
                <a:latin typeface="Arial" pitchFamily="34" charset="0"/>
                <a:ea typeface="Arial" pitchFamily="34" charset="-122"/>
                <a:cs typeface="Arial" pitchFamily="34" charset="-120"/>
              </a:rPr>
              <a:t>.</a:t>
            </a:r>
            <a:endParaRPr lang="en-US" sz="1500" dirty="0"/>
          </a:p>
        </p:txBody>
      </p:sp>
      <p:sp>
        <p:nvSpPr>
          <p:cNvPr id="4" name="Shape 2"/>
          <p:cNvSpPr/>
          <p:nvPr/>
        </p:nvSpPr>
        <p:spPr>
          <a:xfrm>
            <a:off x="566928" y="841248"/>
            <a:ext cx="11057839" cy="0"/>
          </a:xfrm>
          <a:prstGeom prst="line">
            <a:avLst/>
          </a:prstGeom>
          <a:noFill/>
          <a:ln w="12700">
            <a:solidFill>
              <a:srgbClr val="2C2F34"/>
            </a:solidFill>
            <a:prstDash val="solid"/>
          </a:ln>
        </p:spPr>
        <p:txBody>
          <a:bodyPr/>
          <a:lstStyle/>
          <a:p>
            <a:endParaRPr lang="en-US"/>
          </a:p>
        </p:txBody>
      </p:sp>
      <p:sp>
        <p:nvSpPr>
          <p:cNvPr id="5" name="Text 3"/>
          <p:cNvSpPr/>
          <p:nvPr/>
        </p:nvSpPr>
        <p:spPr>
          <a:xfrm>
            <a:off x="566928" y="1024128"/>
            <a:ext cx="11057839" cy="914400"/>
          </a:xfrm>
          <a:prstGeom prst="rect">
            <a:avLst/>
          </a:prstGeom>
          <a:noFill/>
          <a:ln/>
        </p:spPr>
        <p:txBody>
          <a:bodyPr wrap="square" rtlCol="0" anchor="t"/>
          <a:lstStyle/>
          <a:p>
            <a:pPr marL="0" indent="0" algn="l">
              <a:buNone/>
            </a:pPr>
            <a:r>
              <a:rPr lang="en-US" sz="3000" b="1" dirty="0">
                <a:solidFill>
                  <a:srgbClr val="F3F4F1"/>
                </a:solidFill>
                <a:latin typeface="Arial" pitchFamily="34" charset="0"/>
                <a:ea typeface="Arial" pitchFamily="34" charset="-122"/>
                <a:cs typeface="Arial" pitchFamily="34" charset="-120"/>
              </a:rPr>
              <a:t>A live, customer-aware storefront</a:t>
            </a:r>
            <a:endParaRPr lang="en-US" sz="3000" dirty="0"/>
          </a:p>
        </p:txBody>
      </p:sp>
      <p:sp>
        <p:nvSpPr>
          <p:cNvPr id="6" name="Shape 4"/>
          <p:cNvSpPr/>
          <p:nvPr/>
        </p:nvSpPr>
        <p:spPr>
          <a:xfrm>
            <a:off x="566928" y="6291072"/>
            <a:ext cx="11057839" cy="0"/>
          </a:xfrm>
          <a:prstGeom prst="line">
            <a:avLst/>
          </a:prstGeom>
          <a:noFill/>
          <a:ln w="12700">
            <a:solidFill>
              <a:srgbClr val="2C2F34"/>
            </a:solidFill>
            <a:prstDash val="solid"/>
          </a:ln>
        </p:spPr>
        <p:txBody>
          <a:bodyPr/>
          <a:lstStyle/>
          <a:p>
            <a:endParaRPr lang="en-US"/>
          </a:p>
        </p:txBody>
      </p:sp>
      <p:sp>
        <p:nvSpPr>
          <p:cNvPr id="7" name="Text 5"/>
          <p:cNvSpPr/>
          <p:nvPr/>
        </p:nvSpPr>
        <p:spPr>
          <a:xfrm>
            <a:off x="566928" y="6355080"/>
            <a:ext cx="8229600" cy="274320"/>
          </a:xfrm>
          <a:prstGeom prst="rect">
            <a:avLst/>
          </a:prstGeom>
          <a:noFill/>
          <a:ln/>
        </p:spPr>
        <p:txBody>
          <a:bodyPr wrap="square" rtlCol="0" anchor="ctr"/>
          <a:lstStyle/>
          <a:p>
            <a:pPr marL="0" indent="0">
              <a:buNone/>
            </a:pPr>
            <a:r>
              <a:rPr lang="en-US" sz="950" kern="0" spc="100" dirty="0">
                <a:solidFill>
                  <a:srgbClr val="8E948B"/>
                </a:solidFill>
                <a:latin typeface="Arial" pitchFamily="34" charset="0"/>
                <a:ea typeface="Arial" pitchFamily="34" charset="-122"/>
                <a:cs typeface="Arial" pitchFamily="34" charset="-120"/>
              </a:rPr>
              <a:t>Advanced platform tech — verified live on the org</a:t>
            </a:r>
            <a:endParaRPr lang="en-US" sz="950" dirty="0"/>
          </a:p>
        </p:txBody>
      </p:sp>
      <p:sp>
        <p:nvSpPr>
          <p:cNvPr id="8" name="Text 6"/>
          <p:cNvSpPr/>
          <p:nvPr/>
        </p:nvSpPr>
        <p:spPr>
          <a:xfrm>
            <a:off x="9795967" y="6355080"/>
            <a:ext cx="1828800" cy="274320"/>
          </a:xfrm>
          <a:prstGeom prst="rect">
            <a:avLst/>
          </a:prstGeom>
          <a:noFill/>
          <a:ln/>
        </p:spPr>
        <p:txBody>
          <a:bodyPr wrap="square" rtlCol="0" anchor="ctr"/>
          <a:lstStyle/>
          <a:p>
            <a:pPr marL="0" indent="0" algn="r">
              <a:buNone/>
            </a:pPr>
            <a:r>
              <a:rPr lang="en-US" sz="950" dirty="0">
                <a:solidFill>
                  <a:srgbClr val="8E948B"/>
                </a:solidFill>
                <a:latin typeface="Arial" pitchFamily="34" charset="0"/>
                <a:ea typeface="Arial" pitchFamily="34" charset="-122"/>
                <a:cs typeface="Arial" pitchFamily="34" charset="-120"/>
              </a:rPr>
              <a:t>8 / 12</a:t>
            </a:r>
            <a:endParaRPr lang="en-US" sz="950" dirty="0"/>
          </a:p>
        </p:txBody>
      </p:sp>
      <p:sp>
        <p:nvSpPr>
          <p:cNvPr id="9" name="Shape 7"/>
          <p:cNvSpPr/>
          <p:nvPr/>
        </p:nvSpPr>
        <p:spPr>
          <a:xfrm>
            <a:off x="566928" y="6748272"/>
            <a:ext cx="7371893" cy="45720"/>
          </a:xfrm>
          <a:prstGeom prst="rect">
            <a:avLst/>
          </a:prstGeom>
          <a:solidFill>
            <a:srgbClr val="86BC25"/>
          </a:solidFill>
          <a:ln/>
        </p:spPr>
        <p:txBody>
          <a:bodyPr/>
          <a:lstStyle/>
          <a:p>
            <a:endParaRPr lang="en-US"/>
          </a:p>
        </p:txBody>
      </p:sp>
      <p:sp>
        <p:nvSpPr>
          <p:cNvPr id="10" name="Shape 8"/>
          <p:cNvSpPr/>
          <p:nvPr/>
        </p:nvSpPr>
        <p:spPr>
          <a:xfrm>
            <a:off x="566928" y="2194560"/>
            <a:ext cx="5440680" cy="3017520"/>
          </a:xfrm>
          <a:prstGeom prst="roundRect">
            <a:avLst>
              <a:gd name="adj" fmla="val 1818"/>
            </a:avLst>
          </a:prstGeom>
          <a:solidFill>
            <a:srgbClr val="16181C"/>
          </a:solidFill>
          <a:ln w="12700">
            <a:solidFill>
              <a:srgbClr val="2C2F34"/>
            </a:solidFill>
            <a:prstDash val="solid"/>
          </a:ln>
        </p:spPr>
        <p:txBody>
          <a:bodyPr/>
          <a:lstStyle/>
          <a:p>
            <a:endParaRPr lang="en-US"/>
          </a:p>
        </p:txBody>
      </p:sp>
      <p:sp>
        <p:nvSpPr>
          <p:cNvPr id="11" name="Text 9"/>
          <p:cNvSpPr/>
          <p:nvPr/>
        </p:nvSpPr>
        <p:spPr>
          <a:xfrm>
            <a:off x="768096" y="2359152"/>
            <a:ext cx="5038344" cy="2688336"/>
          </a:xfrm>
          <a:prstGeom prst="rect">
            <a:avLst/>
          </a:prstGeom>
          <a:noFill/>
          <a:ln/>
        </p:spPr>
        <p:txBody>
          <a:bodyPr wrap="square" rtlCol="0" anchor="t"/>
          <a:lstStyle/>
          <a:p>
            <a:pPr marL="0" indent="0">
              <a:lnSpc>
                <a:spcPct val="106000"/>
              </a:lnSpc>
              <a:buNone/>
            </a:pPr>
            <a:r>
              <a:rPr lang="en-US" sz="1000" b="1" kern="0" spc="200" dirty="0">
                <a:solidFill>
                  <a:srgbClr val="86BC25"/>
                </a:solidFill>
                <a:latin typeface="Arial" pitchFamily="34" charset="0"/>
                <a:ea typeface="Arial" pitchFamily="34" charset="-122"/>
                <a:cs typeface="Arial" pitchFamily="34" charset="-120"/>
              </a:rPr>
              <a:t>CUSTOMERS</a:t>
            </a:r>
          </a:p>
          <a:p>
            <a:pPr marL="0" indent="0">
              <a:lnSpc>
                <a:spcPct val="106000"/>
              </a:lnSpc>
              <a:buNone/>
            </a:pPr>
            <a:r>
              <a:rPr lang="en-US" sz="1000" b="1" kern="0" spc="200" dirty="0">
                <a:solidFill>
                  <a:srgbClr val="86BC25"/>
                </a:solidFill>
                <a:latin typeface="Arial" pitchFamily="34" charset="0"/>
                <a:ea typeface="Arial" pitchFamily="34" charset="-122"/>
                <a:cs typeface="Arial" pitchFamily="34" charset="-120"/>
              </a:rPr>
              <a:t>
</a:t>
            </a:r>
            <a:r>
              <a:rPr lang="en-US" sz="2000" b="1" dirty="0">
                <a:solidFill>
                  <a:srgbClr val="F3F4F1"/>
                </a:solidFill>
                <a:latin typeface="Arial" pitchFamily="34" charset="0"/>
                <a:ea typeface="Arial" pitchFamily="34" charset="-122"/>
                <a:cs typeface="Arial" pitchFamily="34" charset="-120"/>
              </a:rPr>
              <a:t>Person Accounts
</a:t>
            </a:r>
            <a:r>
              <a:rPr lang="en-US" sz="1150" dirty="0">
                <a:solidFill>
                  <a:srgbClr val="8E948B"/>
                </a:solidFill>
                <a:latin typeface="Arial" pitchFamily="34" charset="0"/>
                <a:ea typeface="Arial" pitchFamily="34" charset="-122"/>
                <a:cs typeface="Arial" pitchFamily="34" charset="-120"/>
              </a:rPr>
              <a:t>Registering creates a Salesforce Person Account — Account + Contact in one record. Every order rolls up to that customer’s own account, so the business sees a real customer, not an anonymous row. Guests still check out; their orders use a shared account.</a:t>
            </a:r>
            <a:endParaRPr lang="en-US" sz="1000" dirty="0"/>
          </a:p>
        </p:txBody>
      </p:sp>
      <p:sp>
        <p:nvSpPr>
          <p:cNvPr id="12" name="Shape 10"/>
          <p:cNvSpPr/>
          <p:nvPr/>
        </p:nvSpPr>
        <p:spPr>
          <a:xfrm>
            <a:off x="6190488" y="2194560"/>
            <a:ext cx="5440680" cy="3017520"/>
          </a:xfrm>
          <a:prstGeom prst="roundRect">
            <a:avLst>
              <a:gd name="adj" fmla="val 1818"/>
            </a:avLst>
          </a:prstGeom>
          <a:solidFill>
            <a:srgbClr val="1A2410"/>
          </a:solidFill>
          <a:ln w="12700">
            <a:solidFill>
              <a:srgbClr val="86BC25"/>
            </a:solidFill>
            <a:prstDash val="solid"/>
          </a:ln>
        </p:spPr>
        <p:txBody>
          <a:bodyPr/>
          <a:lstStyle/>
          <a:p>
            <a:endParaRPr lang="en-US"/>
          </a:p>
        </p:txBody>
      </p:sp>
      <p:sp>
        <p:nvSpPr>
          <p:cNvPr id="13" name="Text 11"/>
          <p:cNvSpPr/>
          <p:nvPr/>
        </p:nvSpPr>
        <p:spPr>
          <a:xfrm>
            <a:off x="6391656" y="2359152"/>
            <a:ext cx="5038344" cy="2688336"/>
          </a:xfrm>
          <a:prstGeom prst="rect">
            <a:avLst/>
          </a:prstGeom>
          <a:noFill/>
          <a:ln/>
        </p:spPr>
        <p:txBody>
          <a:bodyPr wrap="square" rtlCol="0" anchor="t"/>
          <a:lstStyle/>
          <a:p>
            <a:pPr marL="0" indent="0">
              <a:lnSpc>
                <a:spcPct val="106000"/>
              </a:lnSpc>
              <a:buNone/>
            </a:pPr>
            <a:r>
              <a:rPr lang="en-US" sz="1000" b="1" kern="0" spc="200" dirty="0">
                <a:solidFill>
                  <a:srgbClr val="86BC25"/>
                </a:solidFill>
                <a:latin typeface="Arial" pitchFamily="34" charset="0"/>
                <a:ea typeface="Arial" pitchFamily="34" charset="-122"/>
                <a:cs typeface="Arial" pitchFamily="34" charset="-120"/>
              </a:rPr>
              <a:t>LIVE UPDATES</a:t>
            </a:r>
          </a:p>
          <a:p>
            <a:pPr marL="0" indent="0">
              <a:lnSpc>
                <a:spcPct val="106000"/>
              </a:lnSpc>
              <a:buNone/>
            </a:pPr>
            <a:r>
              <a:rPr lang="en-US" sz="1000" b="1" kern="0" spc="200" dirty="0">
                <a:solidFill>
                  <a:srgbClr val="86BC25"/>
                </a:solidFill>
                <a:latin typeface="Arial" pitchFamily="34" charset="0"/>
                <a:ea typeface="Arial" pitchFamily="34" charset="-122"/>
                <a:cs typeface="Arial" pitchFamily="34" charset="-120"/>
              </a:rPr>
              <a:t>
</a:t>
            </a:r>
            <a:r>
              <a:rPr lang="en-US" sz="2000" b="1" dirty="0">
                <a:solidFill>
                  <a:srgbClr val="F3F4F1"/>
                </a:solidFill>
                <a:latin typeface="Arial" pitchFamily="34" charset="0"/>
                <a:ea typeface="Arial" pitchFamily="34" charset="-122"/>
                <a:cs typeface="Arial" pitchFamily="34" charset="-120"/>
              </a:rPr>
              <a:t>Change Data Capture → the browser
</a:t>
            </a:r>
            <a:r>
              <a:rPr lang="en-US" sz="1150" dirty="0">
                <a:solidFill>
                  <a:srgbClr val="8E948B"/>
                </a:solidFill>
                <a:latin typeface="Arial" pitchFamily="34" charset="0"/>
                <a:ea typeface="Arial" pitchFamily="34" charset="-122"/>
                <a:cs typeface="Arial" pitchFamily="34" charset="-120"/>
              </a:rPr>
              <a:t>A status change in Salesforce streams over Change Data Capture → Server-Sent Events, and the order page updates instantly — no refresh, no polling. The status tag even glows while live. Guests get the same live tracking by order # + email.</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0F11"/>
        </a:solidFill>
        <a:effectLst/>
      </p:bgPr>
    </p:bg>
    <p:spTree>
      <p:nvGrpSpPr>
        <p:cNvPr id="1" name=""/>
        <p:cNvGrpSpPr/>
        <p:nvPr/>
      </p:nvGrpSpPr>
      <p:grpSpPr>
        <a:xfrm>
          <a:off x="0" y="0"/>
          <a:ext cx="0" cy="0"/>
          <a:chOff x="0" y="0"/>
          <a:chExt cx="0" cy="0"/>
        </a:xfrm>
      </p:grpSpPr>
      <p:sp>
        <p:nvSpPr>
          <p:cNvPr id="2" name="Text 0"/>
          <p:cNvSpPr/>
          <p:nvPr/>
        </p:nvSpPr>
        <p:spPr>
          <a:xfrm>
            <a:off x="566928" y="384048"/>
            <a:ext cx="7315200" cy="320040"/>
          </a:xfrm>
          <a:prstGeom prst="rect">
            <a:avLst/>
          </a:prstGeom>
          <a:noFill/>
          <a:ln/>
        </p:spPr>
        <p:txBody>
          <a:bodyPr wrap="square" rtlCol="0" anchor="ctr"/>
          <a:lstStyle/>
          <a:p>
            <a:pPr marL="0" indent="0">
              <a:buNone/>
            </a:pPr>
            <a:r>
              <a:rPr lang="en-US" sz="1100" b="1" kern="0" spc="300" dirty="0">
                <a:solidFill>
                  <a:srgbClr val="86BC25"/>
                </a:solidFill>
                <a:latin typeface="Arial" pitchFamily="34" charset="0"/>
                <a:ea typeface="Arial" pitchFamily="34" charset="-122"/>
                <a:cs typeface="Arial" pitchFamily="34" charset="-120"/>
              </a:rPr>
              <a:t>WHAT IT DOES</a:t>
            </a:r>
            <a:endParaRPr lang="en-US" sz="1100" dirty="0"/>
          </a:p>
        </p:txBody>
      </p:sp>
      <p:sp>
        <p:nvSpPr>
          <p:cNvPr id="3" name="Text 1"/>
          <p:cNvSpPr/>
          <p:nvPr/>
        </p:nvSpPr>
        <p:spPr>
          <a:xfrm>
            <a:off x="8881567" y="365760"/>
            <a:ext cx="2743200" cy="365760"/>
          </a:xfrm>
          <a:prstGeom prst="rect">
            <a:avLst/>
          </a:prstGeom>
          <a:noFill/>
          <a:ln/>
        </p:spPr>
        <p:txBody>
          <a:bodyPr wrap="square" rtlCol="0" anchor="ctr"/>
          <a:lstStyle/>
          <a:p>
            <a:pPr marL="0" indent="0" algn="r">
              <a:buNone/>
            </a:pPr>
            <a:r>
              <a:rPr lang="en-US" sz="1500" b="1" dirty="0">
                <a:solidFill>
                  <a:srgbClr val="F3F4F1"/>
                </a:solidFill>
                <a:latin typeface="Arial" pitchFamily="34" charset="0"/>
                <a:ea typeface="Arial" pitchFamily="34" charset="-122"/>
                <a:cs typeface="Arial" pitchFamily="34" charset="-120"/>
              </a:rPr>
              <a:t>Deloitte</a:t>
            </a:r>
            <a:r>
              <a:rPr lang="en-US" sz="1500" b="1" dirty="0">
                <a:solidFill>
                  <a:srgbClr val="86BC25"/>
                </a:solidFill>
                <a:latin typeface="Arial" pitchFamily="34" charset="0"/>
                <a:ea typeface="Arial" pitchFamily="34" charset="-122"/>
                <a:cs typeface="Arial" pitchFamily="34" charset="-120"/>
              </a:rPr>
              <a:t>.</a:t>
            </a:r>
            <a:endParaRPr lang="en-US" sz="1500" dirty="0"/>
          </a:p>
        </p:txBody>
      </p:sp>
      <p:sp>
        <p:nvSpPr>
          <p:cNvPr id="4" name="Shape 2"/>
          <p:cNvSpPr/>
          <p:nvPr/>
        </p:nvSpPr>
        <p:spPr>
          <a:xfrm>
            <a:off x="566928" y="841248"/>
            <a:ext cx="11057839" cy="0"/>
          </a:xfrm>
          <a:prstGeom prst="line">
            <a:avLst/>
          </a:prstGeom>
          <a:noFill/>
          <a:ln w="12700">
            <a:solidFill>
              <a:srgbClr val="2C2F34"/>
            </a:solidFill>
            <a:prstDash val="solid"/>
          </a:ln>
        </p:spPr>
        <p:txBody>
          <a:bodyPr/>
          <a:lstStyle/>
          <a:p>
            <a:endParaRPr lang="en-US"/>
          </a:p>
        </p:txBody>
      </p:sp>
      <p:sp>
        <p:nvSpPr>
          <p:cNvPr id="5" name="Text 3"/>
          <p:cNvSpPr/>
          <p:nvPr/>
        </p:nvSpPr>
        <p:spPr>
          <a:xfrm>
            <a:off x="566928" y="1024128"/>
            <a:ext cx="11057839" cy="914400"/>
          </a:xfrm>
          <a:prstGeom prst="rect">
            <a:avLst/>
          </a:prstGeom>
          <a:noFill/>
          <a:ln/>
        </p:spPr>
        <p:txBody>
          <a:bodyPr wrap="square" rtlCol="0" anchor="t"/>
          <a:lstStyle/>
          <a:p>
            <a:pPr marL="0" indent="0" algn="l">
              <a:buNone/>
            </a:pPr>
            <a:r>
              <a:rPr lang="en-US" sz="3000" b="1" dirty="0">
                <a:solidFill>
                  <a:srgbClr val="F3F4F1"/>
                </a:solidFill>
                <a:latin typeface="Arial" pitchFamily="34" charset="0"/>
                <a:ea typeface="Arial" pitchFamily="34" charset="-122"/>
                <a:cs typeface="Arial" pitchFamily="34" charset="-120"/>
              </a:rPr>
              <a:t>Shipped functionality</a:t>
            </a:r>
            <a:endParaRPr lang="en-US" sz="3000" dirty="0"/>
          </a:p>
        </p:txBody>
      </p:sp>
      <p:sp>
        <p:nvSpPr>
          <p:cNvPr id="6" name="Shape 4"/>
          <p:cNvSpPr/>
          <p:nvPr/>
        </p:nvSpPr>
        <p:spPr>
          <a:xfrm>
            <a:off x="566928" y="6291072"/>
            <a:ext cx="11057839" cy="0"/>
          </a:xfrm>
          <a:prstGeom prst="line">
            <a:avLst/>
          </a:prstGeom>
          <a:noFill/>
          <a:ln w="12700">
            <a:solidFill>
              <a:srgbClr val="2C2F34"/>
            </a:solidFill>
            <a:prstDash val="solid"/>
          </a:ln>
        </p:spPr>
        <p:txBody>
          <a:bodyPr/>
          <a:lstStyle/>
          <a:p>
            <a:endParaRPr lang="en-US"/>
          </a:p>
        </p:txBody>
      </p:sp>
      <p:sp>
        <p:nvSpPr>
          <p:cNvPr id="7" name="Text 5"/>
          <p:cNvSpPr/>
          <p:nvPr/>
        </p:nvSpPr>
        <p:spPr>
          <a:xfrm>
            <a:off x="566928" y="6355080"/>
            <a:ext cx="8229600" cy="274320"/>
          </a:xfrm>
          <a:prstGeom prst="rect">
            <a:avLst/>
          </a:prstGeom>
          <a:noFill/>
          <a:ln/>
        </p:spPr>
        <p:txBody>
          <a:bodyPr wrap="square" rtlCol="0" anchor="ctr"/>
          <a:lstStyle/>
          <a:p>
            <a:pPr marL="0" indent="0">
              <a:buNone/>
            </a:pPr>
            <a:r>
              <a:rPr lang="en-US" sz="950" kern="0" spc="100" dirty="0">
                <a:solidFill>
                  <a:srgbClr val="8E948B"/>
                </a:solidFill>
                <a:latin typeface="Arial" pitchFamily="34" charset="0"/>
                <a:ea typeface="Arial" pitchFamily="34" charset="-122"/>
                <a:cs typeface="Arial" pitchFamily="34" charset="-120"/>
              </a:rPr>
              <a:t>Each feature: standard-first, tested, documented</a:t>
            </a:r>
            <a:endParaRPr lang="en-US" sz="950" dirty="0"/>
          </a:p>
        </p:txBody>
      </p:sp>
      <p:sp>
        <p:nvSpPr>
          <p:cNvPr id="8" name="Text 6"/>
          <p:cNvSpPr/>
          <p:nvPr/>
        </p:nvSpPr>
        <p:spPr>
          <a:xfrm>
            <a:off x="9795967" y="6355080"/>
            <a:ext cx="1828800" cy="274320"/>
          </a:xfrm>
          <a:prstGeom prst="rect">
            <a:avLst/>
          </a:prstGeom>
          <a:noFill/>
          <a:ln/>
        </p:spPr>
        <p:txBody>
          <a:bodyPr wrap="square" rtlCol="0" anchor="ctr"/>
          <a:lstStyle/>
          <a:p>
            <a:pPr marL="0" indent="0" algn="r">
              <a:buNone/>
            </a:pPr>
            <a:r>
              <a:rPr lang="en-US" sz="950" dirty="0">
                <a:solidFill>
                  <a:srgbClr val="8E948B"/>
                </a:solidFill>
                <a:latin typeface="Arial" pitchFamily="34" charset="0"/>
                <a:ea typeface="Arial" pitchFamily="34" charset="-122"/>
                <a:cs typeface="Arial" pitchFamily="34" charset="-120"/>
              </a:rPr>
              <a:t>9 / 12</a:t>
            </a:r>
            <a:endParaRPr lang="en-US" sz="950" dirty="0"/>
          </a:p>
        </p:txBody>
      </p:sp>
      <p:sp>
        <p:nvSpPr>
          <p:cNvPr id="9" name="Shape 7"/>
          <p:cNvSpPr/>
          <p:nvPr/>
        </p:nvSpPr>
        <p:spPr>
          <a:xfrm>
            <a:off x="566928" y="6748272"/>
            <a:ext cx="8293379" cy="45720"/>
          </a:xfrm>
          <a:prstGeom prst="rect">
            <a:avLst/>
          </a:prstGeom>
          <a:solidFill>
            <a:srgbClr val="86BC25"/>
          </a:solidFill>
          <a:ln/>
        </p:spPr>
        <p:txBody>
          <a:bodyPr/>
          <a:lstStyle/>
          <a:p>
            <a:endParaRPr lang="en-US"/>
          </a:p>
        </p:txBody>
      </p:sp>
      <p:graphicFrame>
        <p:nvGraphicFramePr>
          <p:cNvPr id="10" name="Table 0"/>
          <p:cNvGraphicFramePr>
            <a:graphicFrameLocks noGrp="1"/>
          </p:cNvGraphicFramePr>
          <p:nvPr>
            <p:extLst>
              <p:ext uri="{D42A27DB-BD31-4B8C-83A1-F6EECF244321}">
                <p14:modId xmlns:p14="http://schemas.microsoft.com/office/powerpoint/2010/main" val="1160499966"/>
              </p:ext>
            </p:extLst>
          </p:nvPr>
        </p:nvGraphicFramePr>
        <p:xfrm>
          <a:off x="566928" y="2103120"/>
          <a:ext cx="11057840" cy="3474720"/>
        </p:xfrm>
        <a:graphic>
          <a:graphicData uri="http://schemas.openxmlformats.org/drawingml/2006/table">
            <a:tbl>
              <a:tblPr/>
              <a:tblGrid>
                <a:gridCol w="2764460">
                  <a:extLst>
                    <a:ext uri="{9D8B030D-6E8A-4147-A177-3AD203B41FA5}">
                      <a16:colId xmlns:a16="http://schemas.microsoft.com/office/drawing/2014/main" val="20000"/>
                    </a:ext>
                  </a:extLst>
                </a:gridCol>
                <a:gridCol w="2764460">
                  <a:extLst>
                    <a:ext uri="{9D8B030D-6E8A-4147-A177-3AD203B41FA5}">
                      <a16:colId xmlns:a16="http://schemas.microsoft.com/office/drawing/2014/main" val="20001"/>
                    </a:ext>
                  </a:extLst>
                </a:gridCol>
                <a:gridCol w="2764460">
                  <a:extLst>
                    <a:ext uri="{9D8B030D-6E8A-4147-A177-3AD203B41FA5}">
                      <a16:colId xmlns:a16="http://schemas.microsoft.com/office/drawing/2014/main" val="20002"/>
                    </a:ext>
                  </a:extLst>
                </a:gridCol>
                <a:gridCol w="2764460">
                  <a:extLst>
                    <a:ext uri="{9D8B030D-6E8A-4147-A177-3AD203B41FA5}">
                      <a16:colId xmlns:a16="http://schemas.microsoft.com/office/drawing/2014/main" val="20003"/>
                    </a:ext>
                  </a:extLst>
                </a:gridCol>
              </a:tblGrid>
              <a:tr h="868680">
                <a:tc>
                  <a:txBody>
                    <a:bodyPr/>
                    <a:lstStyle/>
                    <a:p>
                      <a:pPr marL="0" indent="0">
                        <a:buNone/>
                      </a:pPr>
                      <a:r>
                        <a:rPr lang="en-US" sz="1250" b="1" dirty="0">
                          <a:solidFill>
                            <a:srgbClr val="F3F4F1"/>
                          </a:solidFill>
                          <a:latin typeface="Arial" pitchFamily="34" charset="0"/>
                          <a:ea typeface="Arial" pitchFamily="34" charset="-122"/>
                          <a:cs typeface="Arial" pitchFamily="34" charset="-120"/>
                        </a:rPr>
                        <a:t>▸ Discovery &amp; search
</a:t>
                      </a:r>
                      <a:r>
                        <a:rPr lang="en-US" sz="950" dirty="0">
                          <a:solidFill>
                            <a:srgbClr val="8E948B"/>
                          </a:solidFill>
                          <a:latin typeface="Arial" pitchFamily="34" charset="0"/>
                          <a:ea typeface="Arial" pitchFamily="34" charset="-122"/>
                          <a:cs typeface="Arial" pitchFamily="34" charset="-120"/>
                        </a:rPr>
                        <a:t>Filter, sort, shareable URLs</a:t>
                      </a:r>
                      <a:endParaRPr lang="en-US" sz="1200" dirty="0">
                        <a:latin typeface="Arial" charset="0"/>
                        <a:ea typeface="Arial" charset="0"/>
                        <a:cs typeface="Arial" charset="0"/>
                      </a:endParaRPr>
                    </a:p>
                  </a:txBody>
                  <a:tcPr marL="76200" marR="76200" marT="76200" marB="76200" anchor="ctr">
                    <a:lnL w="38100" cap="flat" cmpd="sng" algn="ctr">
                      <a:solidFill>
                        <a:srgbClr val="0E0F11"/>
                      </a:solidFill>
                      <a:prstDash val="solid"/>
                      <a:round/>
                      <a:headEnd type="none" w="med" len="med"/>
                      <a:tailEnd type="none" w="med" len="med"/>
                    </a:lnL>
                    <a:lnR w="38100" cap="flat" cmpd="sng" algn="ctr">
                      <a:solidFill>
                        <a:srgbClr val="0E0F11"/>
                      </a:solidFill>
                      <a:prstDash val="solid"/>
                      <a:round/>
                      <a:headEnd type="none" w="med" len="med"/>
                      <a:tailEnd type="none" w="med" len="med"/>
                    </a:lnR>
                    <a:lnT w="38100" cap="flat" cmpd="sng" algn="ctr">
                      <a:solidFill>
                        <a:srgbClr val="0E0F11"/>
                      </a:solidFill>
                      <a:prstDash val="solid"/>
                      <a:round/>
                      <a:headEnd type="none" w="med" len="med"/>
                      <a:tailEnd type="none" w="med" len="med"/>
                    </a:lnT>
                    <a:lnB w="38100" cap="flat" cmpd="sng" algn="ctr">
                      <a:solidFill>
                        <a:srgbClr val="0E0F11"/>
                      </a:solidFill>
                      <a:prstDash val="solid"/>
                      <a:round/>
                      <a:headEnd type="none" w="med" len="med"/>
                      <a:tailEnd type="none" w="med" len="med"/>
                    </a:lnB>
                    <a:solidFill>
                      <a:srgbClr val="16181C"/>
                    </a:solidFill>
                  </a:tcPr>
                </a:tc>
                <a:tc>
                  <a:txBody>
                    <a:bodyPr/>
                    <a:lstStyle/>
                    <a:p>
                      <a:pPr marL="0" indent="0">
                        <a:buNone/>
                      </a:pPr>
                      <a:r>
                        <a:rPr lang="en-US" sz="1250" b="1" dirty="0">
                          <a:solidFill>
                            <a:srgbClr val="F3F4F1"/>
                          </a:solidFill>
                          <a:latin typeface="Arial" pitchFamily="34" charset="0"/>
                          <a:ea typeface="Arial" pitchFamily="34" charset="-122"/>
                          <a:cs typeface="Arial" pitchFamily="34" charset="-120"/>
                        </a:rPr>
                        <a:t>▸ Cart &amp; checkout
</a:t>
                      </a:r>
                      <a:r>
                        <a:rPr lang="en-US" sz="950" dirty="0">
                          <a:solidFill>
                            <a:srgbClr val="8E948B"/>
                          </a:solidFill>
                          <a:latin typeface="Arial" pitchFamily="34" charset="0"/>
                          <a:ea typeface="Arial" pitchFamily="34" charset="-122"/>
                          <a:cs typeface="Arial" pitchFamily="34" charset="-120"/>
                        </a:rPr>
                        <a:t>Tax + resilient</a:t>
                      </a:r>
                      <a:endParaRPr lang="en-US" sz="1200" dirty="0">
                        <a:latin typeface="Arial" charset="0"/>
                        <a:ea typeface="Arial" charset="0"/>
                        <a:cs typeface="Arial" charset="0"/>
                      </a:endParaRPr>
                    </a:p>
                  </a:txBody>
                  <a:tcPr marL="76200" marR="76200" marT="76200" marB="76200" anchor="ctr">
                    <a:lnL w="38100" cap="flat" cmpd="sng" algn="ctr">
                      <a:solidFill>
                        <a:srgbClr val="0E0F11"/>
                      </a:solidFill>
                      <a:prstDash val="solid"/>
                      <a:round/>
                      <a:headEnd type="none" w="med" len="med"/>
                      <a:tailEnd type="none" w="med" len="med"/>
                    </a:lnL>
                    <a:lnR w="38100" cap="flat" cmpd="sng" algn="ctr">
                      <a:solidFill>
                        <a:srgbClr val="0E0F11"/>
                      </a:solidFill>
                      <a:prstDash val="solid"/>
                      <a:round/>
                      <a:headEnd type="none" w="med" len="med"/>
                      <a:tailEnd type="none" w="med" len="med"/>
                    </a:lnR>
                    <a:lnT w="38100" cap="flat" cmpd="sng" algn="ctr">
                      <a:solidFill>
                        <a:srgbClr val="0E0F11"/>
                      </a:solidFill>
                      <a:prstDash val="solid"/>
                      <a:round/>
                      <a:headEnd type="none" w="med" len="med"/>
                      <a:tailEnd type="none" w="med" len="med"/>
                    </a:lnT>
                    <a:lnB w="38100" cap="flat" cmpd="sng" algn="ctr">
                      <a:solidFill>
                        <a:srgbClr val="0E0F11"/>
                      </a:solidFill>
                      <a:prstDash val="solid"/>
                      <a:round/>
                      <a:headEnd type="none" w="med" len="med"/>
                      <a:tailEnd type="none" w="med" len="med"/>
                    </a:lnB>
                    <a:solidFill>
                      <a:srgbClr val="16181C"/>
                    </a:solidFill>
                  </a:tcPr>
                </a:tc>
                <a:tc>
                  <a:txBody>
                    <a:bodyPr/>
                    <a:lstStyle/>
                    <a:p>
                      <a:pPr marL="0" indent="0">
                        <a:buNone/>
                      </a:pPr>
                      <a:r>
                        <a:rPr lang="en-US" sz="1250" b="1" dirty="0">
                          <a:solidFill>
                            <a:srgbClr val="F3F4F1"/>
                          </a:solidFill>
                          <a:latin typeface="Arial" pitchFamily="34" charset="0"/>
                          <a:ea typeface="Arial" pitchFamily="34" charset="-122"/>
                          <a:cs typeface="Arial" pitchFamily="34" charset="-120"/>
                        </a:rPr>
                        <a:t>▸ Promo codes
</a:t>
                      </a:r>
                      <a:r>
                        <a:rPr lang="en-US" sz="950" dirty="0">
                          <a:solidFill>
                            <a:srgbClr val="8E948B"/>
                          </a:solidFill>
                          <a:latin typeface="Arial" pitchFamily="34" charset="0"/>
                          <a:ea typeface="Arial" pitchFamily="34" charset="-122"/>
                          <a:cs typeface="Arial" pitchFamily="34" charset="-120"/>
                        </a:rPr>
                        <a:t>Coupon + Promotion</a:t>
                      </a:r>
                      <a:endParaRPr lang="en-US" sz="1200" dirty="0">
                        <a:latin typeface="Arial" charset="0"/>
                        <a:ea typeface="Arial" charset="0"/>
                        <a:cs typeface="Arial" charset="0"/>
                      </a:endParaRPr>
                    </a:p>
                  </a:txBody>
                  <a:tcPr marL="76200" marR="76200" marT="76200" marB="76200" anchor="ctr">
                    <a:lnL w="38100" cap="flat" cmpd="sng" algn="ctr">
                      <a:solidFill>
                        <a:srgbClr val="0E0F11"/>
                      </a:solidFill>
                      <a:prstDash val="solid"/>
                      <a:round/>
                      <a:headEnd type="none" w="med" len="med"/>
                      <a:tailEnd type="none" w="med" len="med"/>
                    </a:lnL>
                    <a:lnR w="38100" cap="flat" cmpd="sng" algn="ctr">
                      <a:solidFill>
                        <a:srgbClr val="0E0F11"/>
                      </a:solidFill>
                      <a:prstDash val="solid"/>
                      <a:round/>
                      <a:headEnd type="none" w="med" len="med"/>
                      <a:tailEnd type="none" w="med" len="med"/>
                    </a:lnR>
                    <a:lnT w="38100" cap="flat" cmpd="sng" algn="ctr">
                      <a:solidFill>
                        <a:srgbClr val="0E0F11"/>
                      </a:solidFill>
                      <a:prstDash val="solid"/>
                      <a:round/>
                      <a:headEnd type="none" w="med" len="med"/>
                      <a:tailEnd type="none" w="med" len="med"/>
                    </a:lnT>
                    <a:lnB w="38100" cap="flat" cmpd="sng" algn="ctr">
                      <a:solidFill>
                        <a:srgbClr val="0E0F11"/>
                      </a:solidFill>
                      <a:prstDash val="solid"/>
                      <a:round/>
                      <a:headEnd type="none" w="med" len="med"/>
                      <a:tailEnd type="none" w="med" len="med"/>
                    </a:lnB>
                    <a:solidFill>
                      <a:srgbClr val="16181C"/>
                    </a:solidFill>
                  </a:tcPr>
                </a:tc>
                <a:tc>
                  <a:txBody>
                    <a:bodyPr/>
                    <a:lstStyle/>
                    <a:p>
                      <a:pPr marL="0" indent="0">
                        <a:buNone/>
                      </a:pPr>
                      <a:r>
                        <a:rPr lang="en-US" sz="1250" b="1" dirty="0">
                          <a:solidFill>
                            <a:srgbClr val="F3F4F1"/>
                          </a:solidFill>
                          <a:latin typeface="Arial" pitchFamily="34" charset="0"/>
                          <a:ea typeface="Arial" pitchFamily="34" charset="-122"/>
                          <a:cs typeface="Arial" pitchFamily="34" charset="-120"/>
                        </a:rPr>
                        <a:t>▸ Payments
</a:t>
                      </a:r>
                      <a:r>
                        <a:rPr lang="en-US" sz="950" dirty="0">
                          <a:solidFill>
                            <a:srgbClr val="8E948B"/>
                          </a:solidFill>
                          <a:latin typeface="Arial" pitchFamily="34" charset="0"/>
                          <a:ea typeface="Arial" pitchFamily="34" charset="-122"/>
                          <a:cs typeface="Arial" pitchFamily="34" charset="-120"/>
                        </a:rPr>
                        <a:t>Stripe-ready (mock)</a:t>
                      </a:r>
                      <a:endParaRPr lang="en-US" sz="1200" dirty="0">
                        <a:latin typeface="Arial" charset="0"/>
                        <a:ea typeface="Arial" charset="0"/>
                        <a:cs typeface="Arial" charset="0"/>
                      </a:endParaRPr>
                    </a:p>
                  </a:txBody>
                  <a:tcPr marL="76200" marR="76200" marT="76200" marB="76200" anchor="ctr">
                    <a:lnL w="38100" cap="flat" cmpd="sng" algn="ctr">
                      <a:solidFill>
                        <a:srgbClr val="0E0F11"/>
                      </a:solidFill>
                      <a:prstDash val="solid"/>
                      <a:round/>
                      <a:headEnd type="none" w="med" len="med"/>
                      <a:tailEnd type="none" w="med" len="med"/>
                    </a:lnL>
                    <a:lnR w="38100" cap="flat" cmpd="sng" algn="ctr">
                      <a:solidFill>
                        <a:srgbClr val="0E0F11"/>
                      </a:solidFill>
                      <a:prstDash val="solid"/>
                      <a:round/>
                      <a:headEnd type="none" w="med" len="med"/>
                      <a:tailEnd type="none" w="med" len="med"/>
                    </a:lnR>
                    <a:lnT w="38100" cap="flat" cmpd="sng" algn="ctr">
                      <a:solidFill>
                        <a:srgbClr val="0E0F11"/>
                      </a:solidFill>
                      <a:prstDash val="solid"/>
                      <a:round/>
                      <a:headEnd type="none" w="med" len="med"/>
                      <a:tailEnd type="none" w="med" len="med"/>
                    </a:lnT>
                    <a:lnB w="38100" cap="flat" cmpd="sng" algn="ctr">
                      <a:solidFill>
                        <a:srgbClr val="0E0F11"/>
                      </a:solidFill>
                      <a:prstDash val="solid"/>
                      <a:round/>
                      <a:headEnd type="none" w="med" len="med"/>
                      <a:tailEnd type="none" w="med" len="med"/>
                    </a:lnB>
                    <a:solidFill>
                      <a:srgbClr val="16181C"/>
                    </a:solidFill>
                  </a:tcPr>
                </a:tc>
                <a:extLst>
                  <a:ext uri="{0D108BD9-81ED-4DB2-BD59-A6C34878D82A}">
                    <a16:rowId xmlns:a16="http://schemas.microsoft.com/office/drawing/2014/main" val="10000"/>
                  </a:ext>
                </a:extLst>
              </a:tr>
              <a:tr h="868680">
                <a:tc>
                  <a:txBody>
                    <a:bodyPr/>
                    <a:lstStyle/>
                    <a:p>
                      <a:pPr marL="0" indent="0">
                        <a:buNone/>
                      </a:pPr>
                      <a:r>
                        <a:rPr lang="en-US" sz="1250" b="1" dirty="0">
                          <a:solidFill>
                            <a:srgbClr val="F3F4F1"/>
                          </a:solidFill>
                          <a:latin typeface="Arial" pitchFamily="34" charset="0"/>
                          <a:ea typeface="Arial" pitchFamily="34" charset="-122"/>
                          <a:cs typeface="Arial" pitchFamily="34" charset="-120"/>
                        </a:rPr>
                        <a:t>▸ Order history
</a:t>
                      </a:r>
                      <a:r>
                        <a:rPr lang="en-US" sz="950" dirty="0">
                          <a:solidFill>
                            <a:srgbClr val="8E948B"/>
                          </a:solidFill>
                          <a:latin typeface="Arial" pitchFamily="34" charset="0"/>
                          <a:ea typeface="Arial" pitchFamily="34" charset="-122"/>
                          <a:cs typeface="Arial" pitchFamily="34" charset="-120"/>
                        </a:rPr>
                        <a:t>Per customer · OMS</a:t>
                      </a:r>
                      <a:endParaRPr lang="en-US" sz="1200" dirty="0">
                        <a:latin typeface="Arial" charset="0"/>
                        <a:ea typeface="Arial" charset="0"/>
                        <a:cs typeface="Arial" charset="0"/>
                      </a:endParaRPr>
                    </a:p>
                  </a:txBody>
                  <a:tcPr marL="76200" marR="76200" marT="76200" marB="76200" anchor="ctr">
                    <a:lnL w="38100" cap="flat" cmpd="sng" algn="ctr">
                      <a:solidFill>
                        <a:srgbClr val="0E0F11"/>
                      </a:solidFill>
                      <a:prstDash val="solid"/>
                      <a:round/>
                      <a:headEnd type="none" w="med" len="med"/>
                      <a:tailEnd type="none" w="med" len="med"/>
                    </a:lnL>
                    <a:lnR w="38100" cap="flat" cmpd="sng" algn="ctr">
                      <a:solidFill>
                        <a:srgbClr val="0E0F11"/>
                      </a:solidFill>
                      <a:prstDash val="solid"/>
                      <a:round/>
                      <a:headEnd type="none" w="med" len="med"/>
                      <a:tailEnd type="none" w="med" len="med"/>
                    </a:lnR>
                    <a:lnT w="38100" cap="flat" cmpd="sng" algn="ctr">
                      <a:solidFill>
                        <a:srgbClr val="0E0F11"/>
                      </a:solidFill>
                      <a:prstDash val="solid"/>
                      <a:round/>
                      <a:headEnd type="none" w="med" len="med"/>
                      <a:tailEnd type="none" w="med" len="med"/>
                    </a:lnT>
                    <a:lnB w="38100" cap="flat" cmpd="sng" algn="ctr">
                      <a:solidFill>
                        <a:srgbClr val="0E0F11"/>
                      </a:solidFill>
                      <a:prstDash val="solid"/>
                      <a:round/>
                      <a:headEnd type="none" w="med" len="med"/>
                      <a:tailEnd type="none" w="med" len="med"/>
                    </a:lnB>
                    <a:solidFill>
                      <a:srgbClr val="16181C"/>
                    </a:solidFill>
                  </a:tcPr>
                </a:tc>
                <a:tc>
                  <a:txBody>
                    <a:bodyPr/>
                    <a:lstStyle/>
                    <a:p>
                      <a:pPr marL="0" indent="0">
                        <a:buNone/>
                      </a:pPr>
                      <a:r>
                        <a:rPr lang="en-US" sz="1250" b="1" dirty="0">
                          <a:solidFill>
                            <a:srgbClr val="F3F4F1"/>
                          </a:solidFill>
                          <a:latin typeface="Arial" pitchFamily="34" charset="0"/>
                          <a:ea typeface="Arial" pitchFamily="34" charset="-122"/>
                          <a:cs typeface="Arial" pitchFamily="34" charset="-120"/>
                        </a:rPr>
                        <a:t>▸ One-click reorder
</a:t>
                      </a:r>
                      <a:r>
                        <a:rPr lang="en-US" sz="950" dirty="0">
                          <a:solidFill>
                            <a:srgbClr val="8E948B"/>
                          </a:solidFill>
                          <a:latin typeface="Arial" pitchFamily="34" charset="0"/>
                          <a:ea typeface="Arial" pitchFamily="34" charset="-122"/>
                          <a:cs typeface="Arial" pitchFamily="34" charset="-120"/>
                        </a:rPr>
                        <a:t>Past order → cart</a:t>
                      </a:r>
                      <a:endParaRPr lang="en-US" sz="1200" dirty="0">
                        <a:latin typeface="Arial" charset="0"/>
                        <a:ea typeface="Arial" charset="0"/>
                        <a:cs typeface="Arial" charset="0"/>
                      </a:endParaRPr>
                    </a:p>
                  </a:txBody>
                  <a:tcPr marL="76200" marR="76200" marT="76200" marB="76200" anchor="ctr">
                    <a:lnL w="38100" cap="flat" cmpd="sng" algn="ctr">
                      <a:solidFill>
                        <a:srgbClr val="0E0F11"/>
                      </a:solidFill>
                      <a:prstDash val="solid"/>
                      <a:round/>
                      <a:headEnd type="none" w="med" len="med"/>
                      <a:tailEnd type="none" w="med" len="med"/>
                    </a:lnL>
                    <a:lnR w="38100" cap="flat" cmpd="sng" algn="ctr">
                      <a:solidFill>
                        <a:srgbClr val="0E0F11"/>
                      </a:solidFill>
                      <a:prstDash val="solid"/>
                      <a:round/>
                      <a:headEnd type="none" w="med" len="med"/>
                      <a:tailEnd type="none" w="med" len="med"/>
                    </a:lnR>
                    <a:lnT w="38100" cap="flat" cmpd="sng" algn="ctr">
                      <a:solidFill>
                        <a:srgbClr val="0E0F11"/>
                      </a:solidFill>
                      <a:prstDash val="solid"/>
                      <a:round/>
                      <a:headEnd type="none" w="med" len="med"/>
                      <a:tailEnd type="none" w="med" len="med"/>
                    </a:lnT>
                    <a:lnB w="38100" cap="flat" cmpd="sng" algn="ctr">
                      <a:solidFill>
                        <a:srgbClr val="0E0F11"/>
                      </a:solidFill>
                      <a:prstDash val="solid"/>
                      <a:round/>
                      <a:headEnd type="none" w="med" len="med"/>
                      <a:tailEnd type="none" w="med" len="med"/>
                    </a:lnB>
                    <a:solidFill>
                      <a:srgbClr val="16181C"/>
                    </a:solidFill>
                  </a:tcPr>
                </a:tc>
                <a:tc>
                  <a:txBody>
                    <a:bodyPr/>
                    <a:lstStyle/>
                    <a:p>
                      <a:pPr marL="0" indent="0">
                        <a:buNone/>
                      </a:pPr>
                      <a:r>
                        <a:rPr lang="en-US" sz="1250" b="1" dirty="0">
                          <a:solidFill>
                            <a:srgbClr val="F3F4F1"/>
                          </a:solidFill>
                          <a:latin typeface="Arial" pitchFamily="34" charset="0"/>
                          <a:ea typeface="Arial" pitchFamily="34" charset="-122"/>
                          <a:cs typeface="Arial" pitchFamily="34" charset="-120"/>
                        </a:rPr>
                        <a:t>▸ Reviews &amp; ratings
</a:t>
                      </a:r>
                      <a:r>
                        <a:rPr lang="en-US" sz="950" dirty="0">
                          <a:solidFill>
                            <a:srgbClr val="8E948B"/>
                          </a:solidFill>
                          <a:latin typeface="Arial" pitchFamily="34" charset="0"/>
                          <a:ea typeface="Arial" pitchFamily="34" charset="-122"/>
                          <a:cs typeface="Arial" pitchFamily="34" charset="-120"/>
                        </a:rPr>
                        <a:t>Custom object</a:t>
                      </a:r>
                      <a:endParaRPr lang="en-US" sz="1200" dirty="0">
                        <a:latin typeface="Arial" charset="0"/>
                        <a:ea typeface="Arial" charset="0"/>
                        <a:cs typeface="Arial" charset="0"/>
                      </a:endParaRPr>
                    </a:p>
                  </a:txBody>
                  <a:tcPr marL="76200" marR="76200" marT="76200" marB="76200" anchor="ctr">
                    <a:lnL w="38100" cap="flat" cmpd="sng" algn="ctr">
                      <a:solidFill>
                        <a:srgbClr val="0E0F11"/>
                      </a:solidFill>
                      <a:prstDash val="solid"/>
                      <a:round/>
                      <a:headEnd type="none" w="med" len="med"/>
                      <a:tailEnd type="none" w="med" len="med"/>
                    </a:lnL>
                    <a:lnR w="38100" cap="flat" cmpd="sng" algn="ctr">
                      <a:solidFill>
                        <a:srgbClr val="0E0F11"/>
                      </a:solidFill>
                      <a:prstDash val="solid"/>
                      <a:round/>
                      <a:headEnd type="none" w="med" len="med"/>
                      <a:tailEnd type="none" w="med" len="med"/>
                    </a:lnR>
                    <a:lnT w="38100" cap="flat" cmpd="sng" algn="ctr">
                      <a:solidFill>
                        <a:srgbClr val="0E0F11"/>
                      </a:solidFill>
                      <a:prstDash val="solid"/>
                      <a:round/>
                      <a:headEnd type="none" w="med" len="med"/>
                      <a:tailEnd type="none" w="med" len="med"/>
                    </a:lnT>
                    <a:lnB w="38100" cap="flat" cmpd="sng" algn="ctr">
                      <a:solidFill>
                        <a:srgbClr val="0E0F11"/>
                      </a:solidFill>
                      <a:prstDash val="solid"/>
                      <a:round/>
                      <a:headEnd type="none" w="med" len="med"/>
                      <a:tailEnd type="none" w="med" len="med"/>
                    </a:lnB>
                    <a:solidFill>
                      <a:srgbClr val="16181C"/>
                    </a:solidFill>
                  </a:tcPr>
                </a:tc>
                <a:tc>
                  <a:txBody>
                    <a:bodyPr/>
                    <a:lstStyle/>
                    <a:p>
                      <a:pPr marL="0" indent="0">
                        <a:buNone/>
                      </a:pPr>
                      <a:r>
                        <a:rPr lang="en-US" sz="1250" b="1" dirty="0">
                          <a:solidFill>
                            <a:srgbClr val="F3F4F1"/>
                          </a:solidFill>
                          <a:latin typeface="Arial" pitchFamily="34" charset="0"/>
                          <a:ea typeface="Arial" pitchFamily="34" charset="-122"/>
                          <a:cs typeface="Arial" pitchFamily="34" charset="-120"/>
                        </a:rPr>
                        <a:t>▸ Wishlist
</a:t>
                      </a:r>
                      <a:r>
                        <a:rPr lang="en-US" sz="950" dirty="0">
                          <a:solidFill>
                            <a:srgbClr val="8E948B"/>
                          </a:solidFill>
                          <a:latin typeface="Arial" pitchFamily="34" charset="0"/>
                          <a:ea typeface="Arial" pitchFamily="34" charset="-122"/>
                          <a:cs typeface="Arial" pitchFamily="34" charset="-120"/>
                        </a:rPr>
                        <a:t>Standard Wishlist object</a:t>
                      </a:r>
                      <a:endParaRPr lang="en-US" sz="1200" dirty="0">
                        <a:latin typeface="Arial" charset="0"/>
                        <a:ea typeface="Arial" charset="0"/>
                        <a:cs typeface="Arial" charset="0"/>
                      </a:endParaRPr>
                    </a:p>
                  </a:txBody>
                  <a:tcPr marL="76200" marR="76200" marT="76200" marB="76200" anchor="ctr">
                    <a:lnL w="38100" cap="flat" cmpd="sng" algn="ctr">
                      <a:solidFill>
                        <a:srgbClr val="0E0F11"/>
                      </a:solidFill>
                      <a:prstDash val="solid"/>
                      <a:round/>
                      <a:headEnd type="none" w="med" len="med"/>
                      <a:tailEnd type="none" w="med" len="med"/>
                    </a:lnL>
                    <a:lnR w="38100" cap="flat" cmpd="sng" algn="ctr">
                      <a:solidFill>
                        <a:srgbClr val="0E0F11"/>
                      </a:solidFill>
                      <a:prstDash val="solid"/>
                      <a:round/>
                      <a:headEnd type="none" w="med" len="med"/>
                      <a:tailEnd type="none" w="med" len="med"/>
                    </a:lnR>
                    <a:lnT w="38100" cap="flat" cmpd="sng" algn="ctr">
                      <a:solidFill>
                        <a:srgbClr val="0E0F11"/>
                      </a:solidFill>
                      <a:prstDash val="solid"/>
                      <a:round/>
                      <a:headEnd type="none" w="med" len="med"/>
                      <a:tailEnd type="none" w="med" len="med"/>
                    </a:lnT>
                    <a:lnB w="38100" cap="flat" cmpd="sng" algn="ctr">
                      <a:solidFill>
                        <a:srgbClr val="0E0F11"/>
                      </a:solidFill>
                      <a:prstDash val="solid"/>
                      <a:round/>
                      <a:headEnd type="none" w="med" len="med"/>
                      <a:tailEnd type="none" w="med" len="med"/>
                    </a:lnB>
                    <a:solidFill>
                      <a:srgbClr val="16181C"/>
                    </a:solidFill>
                  </a:tcPr>
                </a:tc>
                <a:extLst>
                  <a:ext uri="{0D108BD9-81ED-4DB2-BD59-A6C34878D82A}">
                    <a16:rowId xmlns:a16="http://schemas.microsoft.com/office/drawing/2014/main" val="10001"/>
                  </a:ext>
                </a:extLst>
              </a:tr>
              <a:tr h="868680">
                <a:tc>
                  <a:txBody>
                    <a:bodyPr/>
                    <a:lstStyle/>
                    <a:p>
                      <a:pPr marL="0" indent="0">
                        <a:buNone/>
                      </a:pPr>
                      <a:r>
                        <a:rPr lang="en-US" sz="1250" b="1" dirty="0">
                          <a:solidFill>
                            <a:srgbClr val="F3F4F1"/>
                          </a:solidFill>
                          <a:latin typeface="Arial" pitchFamily="34" charset="0"/>
                          <a:ea typeface="Arial" pitchFamily="34" charset="-122"/>
                          <a:cs typeface="Arial" pitchFamily="34" charset="-120"/>
                        </a:rPr>
                        <a:t>▸ Saved addresses
</a:t>
                      </a:r>
                      <a:r>
                        <a:rPr lang="en-US" sz="950" dirty="0">
                          <a:solidFill>
                            <a:srgbClr val="8E948B"/>
                          </a:solidFill>
                          <a:latin typeface="Arial" pitchFamily="34" charset="0"/>
                          <a:ea typeface="Arial" pitchFamily="34" charset="-122"/>
                          <a:cs typeface="Arial" pitchFamily="34" charset="-120"/>
                        </a:rPr>
                        <a:t>ContactPointAddress</a:t>
                      </a:r>
                      <a:endParaRPr lang="en-US" sz="1200" dirty="0">
                        <a:latin typeface="Arial" charset="0"/>
                        <a:ea typeface="Arial" charset="0"/>
                        <a:cs typeface="Arial" charset="0"/>
                      </a:endParaRPr>
                    </a:p>
                  </a:txBody>
                  <a:tcPr marL="76200" marR="76200" marT="76200" marB="76200" anchor="ctr">
                    <a:lnL w="38100" cap="flat" cmpd="sng" algn="ctr">
                      <a:solidFill>
                        <a:srgbClr val="0E0F11"/>
                      </a:solidFill>
                      <a:prstDash val="solid"/>
                      <a:round/>
                      <a:headEnd type="none" w="med" len="med"/>
                      <a:tailEnd type="none" w="med" len="med"/>
                    </a:lnL>
                    <a:lnR w="38100" cap="flat" cmpd="sng" algn="ctr">
                      <a:solidFill>
                        <a:srgbClr val="0E0F11"/>
                      </a:solidFill>
                      <a:prstDash val="solid"/>
                      <a:round/>
                      <a:headEnd type="none" w="med" len="med"/>
                      <a:tailEnd type="none" w="med" len="med"/>
                    </a:lnR>
                    <a:lnT w="38100" cap="flat" cmpd="sng" algn="ctr">
                      <a:solidFill>
                        <a:srgbClr val="0E0F11"/>
                      </a:solidFill>
                      <a:prstDash val="solid"/>
                      <a:round/>
                      <a:headEnd type="none" w="med" len="med"/>
                      <a:tailEnd type="none" w="med" len="med"/>
                    </a:lnT>
                    <a:lnB w="38100" cap="flat" cmpd="sng" algn="ctr">
                      <a:solidFill>
                        <a:srgbClr val="0E0F11"/>
                      </a:solidFill>
                      <a:prstDash val="solid"/>
                      <a:round/>
                      <a:headEnd type="none" w="med" len="med"/>
                      <a:tailEnd type="none" w="med" len="med"/>
                    </a:lnB>
                    <a:solidFill>
                      <a:srgbClr val="16181C"/>
                    </a:solidFill>
                  </a:tcPr>
                </a:tc>
                <a:tc>
                  <a:txBody>
                    <a:bodyPr/>
                    <a:lstStyle/>
                    <a:p>
                      <a:pPr marL="0" indent="0">
                        <a:buNone/>
                      </a:pPr>
                      <a:r>
                        <a:rPr lang="en-US" sz="1250" b="1" dirty="0">
                          <a:solidFill>
                            <a:srgbClr val="F3F4F1"/>
                          </a:solidFill>
                          <a:latin typeface="Arial" pitchFamily="34" charset="0"/>
                          <a:ea typeface="Arial" pitchFamily="34" charset="-122"/>
                          <a:cs typeface="Arial" pitchFamily="34" charset="-120"/>
                        </a:rPr>
                        <a:t>▸ Live order tracking
</a:t>
                      </a:r>
                      <a:r>
                        <a:rPr lang="en-US" sz="950" dirty="0">
                          <a:solidFill>
                            <a:srgbClr val="8E948B"/>
                          </a:solidFill>
                          <a:latin typeface="Arial" pitchFamily="34" charset="0"/>
                          <a:ea typeface="Arial" pitchFamily="34" charset="-122"/>
                          <a:cs typeface="Arial" pitchFamily="34" charset="-120"/>
                        </a:rPr>
                        <a:t>CDC → SSE</a:t>
                      </a:r>
                      <a:endParaRPr lang="en-US" sz="1200" dirty="0">
                        <a:latin typeface="Arial" charset="0"/>
                        <a:ea typeface="Arial" charset="0"/>
                        <a:cs typeface="Arial" charset="0"/>
                      </a:endParaRPr>
                    </a:p>
                  </a:txBody>
                  <a:tcPr marL="76200" marR="76200" marT="76200" marB="76200" anchor="ctr">
                    <a:lnL w="38100" cap="flat" cmpd="sng" algn="ctr">
                      <a:solidFill>
                        <a:srgbClr val="0E0F11"/>
                      </a:solidFill>
                      <a:prstDash val="solid"/>
                      <a:round/>
                      <a:headEnd type="none" w="med" len="med"/>
                      <a:tailEnd type="none" w="med" len="med"/>
                    </a:lnL>
                    <a:lnR w="38100" cap="flat" cmpd="sng" algn="ctr">
                      <a:solidFill>
                        <a:srgbClr val="0E0F11"/>
                      </a:solidFill>
                      <a:prstDash val="solid"/>
                      <a:round/>
                      <a:headEnd type="none" w="med" len="med"/>
                      <a:tailEnd type="none" w="med" len="med"/>
                    </a:lnR>
                    <a:lnT w="38100" cap="flat" cmpd="sng" algn="ctr">
                      <a:solidFill>
                        <a:srgbClr val="0E0F11"/>
                      </a:solidFill>
                      <a:prstDash val="solid"/>
                      <a:round/>
                      <a:headEnd type="none" w="med" len="med"/>
                      <a:tailEnd type="none" w="med" len="med"/>
                    </a:lnT>
                    <a:lnB w="38100" cap="flat" cmpd="sng" algn="ctr">
                      <a:solidFill>
                        <a:srgbClr val="0E0F11"/>
                      </a:solidFill>
                      <a:prstDash val="solid"/>
                      <a:round/>
                      <a:headEnd type="none" w="med" len="med"/>
                      <a:tailEnd type="none" w="med" len="med"/>
                    </a:lnB>
                    <a:solidFill>
                      <a:srgbClr val="16181C"/>
                    </a:solidFill>
                  </a:tcPr>
                </a:tc>
                <a:tc>
                  <a:txBody>
                    <a:bodyPr/>
                    <a:lstStyle/>
                    <a:p>
                      <a:pPr marL="0" indent="0">
                        <a:buNone/>
                      </a:pPr>
                      <a:r>
                        <a:rPr lang="en-US" sz="1250" b="1" dirty="0">
                          <a:solidFill>
                            <a:srgbClr val="F3F4F1"/>
                          </a:solidFill>
                          <a:latin typeface="Arial" pitchFamily="34" charset="0"/>
                          <a:ea typeface="Arial" pitchFamily="34" charset="-122"/>
                          <a:cs typeface="Arial" pitchFamily="34" charset="-120"/>
                        </a:rPr>
                        <a:t>▸ Support tickets
</a:t>
                      </a:r>
                      <a:r>
                        <a:rPr lang="en-US" sz="950" dirty="0">
                          <a:solidFill>
                            <a:srgbClr val="8E948B"/>
                          </a:solidFill>
                          <a:latin typeface="Arial" pitchFamily="34" charset="0"/>
                          <a:ea typeface="Arial" pitchFamily="34" charset="-122"/>
                          <a:cs typeface="Arial" pitchFamily="34" charset="-120"/>
                        </a:rPr>
                        <a:t>Case + replies</a:t>
                      </a:r>
                      <a:endParaRPr lang="en-US" sz="1200" dirty="0">
                        <a:latin typeface="Arial" charset="0"/>
                        <a:ea typeface="Arial" charset="0"/>
                        <a:cs typeface="Arial" charset="0"/>
                      </a:endParaRPr>
                    </a:p>
                  </a:txBody>
                  <a:tcPr marL="76200" marR="76200" marT="76200" marB="76200" anchor="ctr">
                    <a:lnL w="38100" cap="flat" cmpd="sng" algn="ctr">
                      <a:solidFill>
                        <a:srgbClr val="0E0F11"/>
                      </a:solidFill>
                      <a:prstDash val="solid"/>
                      <a:round/>
                      <a:headEnd type="none" w="med" len="med"/>
                      <a:tailEnd type="none" w="med" len="med"/>
                    </a:lnL>
                    <a:lnR w="38100" cap="flat" cmpd="sng" algn="ctr">
                      <a:solidFill>
                        <a:srgbClr val="0E0F11"/>
                      </a:solidFill>
                      <a:prstDash val="solid"/>
                      <a:round/>
                      <a:headEnd type="none" w="med" len="med"/>
                      <a:tailEnd type="none" w="med" len="med"/>
                    </a:lnR>
                    <a:lnT w="38100" cap="flat" cmpd="sng" algn="ctr">
                      <a:solidFill>
                        <a:srgbClr val="0E0F11"/>
                      </a:solidFill>
                      <a:prstDash val="solid"/>
                      <a:round/>
                      <a:headEnd type="none" w="med" len="med"/>
                      <a:tailEnd type="none" w="med" len="med"/>
                    </a:lnT>
                    <a:lnB w="38100" cap="flat" cmpd="sng" algn="ctr">
                      <a:solidFill>
                        <a:srgbClr val="0E0F11"/>
                      </a:solidFill>
                      <a:prstDash val="solid"/>
                      <a:round/>
                      <a:headEnd type="none" w="med" len="med"/>
                      <a:tailEnd type="none" w="med" len="med"/>
                    </a:lnB>
                    <a:solidFill>
                      <a:srgbClr val="16181C"/>
                    </a:solidFill>
                  </a:tcPr>
                </a:tc>
                <a:tc>
                  <a:txBody>
                    <a:bodyPr/>
                    <a:lstStyle/>
                    <a:p>
                      <a:pPr marL="0" indent="0">
                        <a:buNone/>
                      </a:pPr>
                      <a:r>
                        <a:rPr lang="en-US" sz="1250" b="1" dirty="0">
                          <a:solidFill>
                            <a:srgbClr val="F3F4F1"/>
                          </a:solidFill>
                          <a:latin typeface="Arial" pitchFamily="34" charset="0"/>
                          <a:ea typeface="Arial" pitchFamily="34" charset="-122"/>
                          <a:cs typeface="Arial" pitchFamily="34" charset="-120"/>
                        </a:rPr>
                        <a:t>▸ Guest tracking
</a:t>
                      </a:r>
                      <a:r>
                        <a:rPr lang="en-US" sz="950" dirty="0">
                          <a:solidFill>
                            <a:srgbClr val="8E948B"/>
                          </a:solidFill>
                          <a:latin typeface="Arial" pitchFamily="34" charset="0"/>
                          <a:ea typeface="Arial" pitchFamily="34" charset="-122"/>
                          <a:cs typeface="Arial" pitchFamily="34" charset="-120"/>
                        </a:rPr>
                        <a:t>Order # + email</a:t>
                      </a:r>
                      <a:endParaRPr lang="en-US" sz="1200" dirty="0">
                        <a:latin typeface="Arial" charset="0"/>
                        <a:ea typeface="Arial" charset="0"/>
                        <a:cs typeface="Arial" charset="0"/>
                      </a:endParaRPr>
                    </a:p>
                  </a:txBody>
                  <a:tcPr marL="76200" marR="76200" marT="76200" marB="76200" anchor="ctr">
                    <a:lnL w="38100" cap="flat" cmpd="sng" algn="ctr">
                      <a:solidFill>
                        <a:srgbClr val="0E0F11"/>
                      </a:solidFill>
                      <a:prstDash val="solid"/>
                      <a:round/>
                      <a:headEnd type="none" w="med" len="med"/>
                      <a:tailEnd type="none" w="med" len="med"/>
                    </a:lnL>
                    <a:lnR w="38100" cap="flat" cmpd="sng" algn="ctr">
                      <a:solidFill>
                        <a:srgbClr val="0E0F11"/>
                      </a:solidFill>
                      <a:prstDash val="solid"/>
                      <a:round/>
                      <a:headEnd type="none" w="med" len="med"/>
                      <a:tailEnd type="none" w="med" len="med"/>
                    </a:lnR>
                    <a:lnT w="38100" cap="flat" cmpd="sng" algn="ctr">
                      <a:solidFill>
                        <a:srgbClr val="0E0F11"/>
                      </a:solidFill>
                      <a:prstDash val="solid"/>
                      <a:round/>
                      <a:headEnd type="none" w="med" len="med"/>
                      <a:tailEnd type="none" w="med" len="med"/>
                    </a:lnT>
                    <a:lnB w="38100" cap="flat" cmpd="sng" algn="ctr">
                      <a:solidFill>
                        <a:srgbClr val="0E0F11"/>
                      </a:solidFill>
                      <a:prstDash val="solid"/>
                      <a:round/>
                      <a:headEnd type="none" w="med" len="med"/>
                      <a:tailEnd type="none" w="med" len="med"/>
                    </a:lnB>
                    <a:solidFill>
                      <a:srgbClr val="16181C"/>
                    </a:solidFill>
                  </a:tcPr>
                </a:tc>
                <a:extLst>
                  <a:ext uri="{0D108BD9-81ED-4DB2-BD59-A6C34878D82A}">
                    <a16:rowId xmlns:a16="http://schemas.microsoft.com/office/drawing/2014/main" val="10002"/>
                  </a:ext>
                </a:extLst>
              </a:tr>
              <a:tr h="868680">
                <a:tc>
                  <a:txBody>
                    <a:bodyPr/>
                    <a:lstStyle/>
                    <a:p>
                      <a:pPr marL="0" indent="0">
                        <a:buNone/>
                      </a:pPr>
                      <a:r>
                        <a:rPr lang="en-US" sz="1250" b="1" dirty="0">
                          <a:solidFill>
                            <a:srgbClr val="F3F4F1"/>
                          </a:solidFill>
                          <a:latin typeface="Arial" pitchFamily="34" charset="0"/>
                          <a:ea typeface="Arial" pitchFamily="34" charset="-122"/>
                          <a:cs typeface="Arial" pitchFamily="34" charset="-120"/>
                        </a:rPr>
                        <a:t>▸ Light / dark theme
</a:t>
                      </a:r>
                      <a:r>
                        <a:rPr lang="en-US" sz="950" dirty="0">
                          <a:solidFill>
                            <a:srgbClr val="8E948B"/>
                          </a:solidFill>
                          <a:latin typeface="Arial" pitchFamily="34" charset="0"/>
                          <a:ea typeface="Arial" pitchFamily="34" charset="-122"/>
                          <a:cs typeface="Arial" pitchFamily="34" charset="-120"/>
                        </a:rPr>
                        <a:t>No-flash</a:t>
                      </a:r>
                      <a:endParaRPr lang="en-US" sz="1200" dirty="0">
                        <a:latin typeface="Arial" charset="0"/>
                        <a:ea typeface="Arial" charset="0"/>
                        <a:cs typeface="Arial" charset="0"/>
                      </a:endParaRPr>
                    </a:p>
                  </a:txBody>
                  <a:tcPr marL="76200" marR="76200" marT="76200" marB="76200" anchor="ctr">
                    <a:lnL w="38100" cap="flat" cmpd="sng" algn="ctr">
                      <a:solidFill>
                        <a:srgbClr val="0E0F11"/>
                      </a:solidFill>
                      <a:prstDash val="solid"/>
                      <a:round/>
                      <a:headEnd type="none" w="med" len="med"/>
                      <a:tailEnd type="none" w="med" len="med"/>
                    </a:lnL>
                    <a:lnR w="38100" cap="flat" cmpd="sng" algn="ctr">
                      <a:solidFill>
                        <a:srgbClr val="0E0F11"/>
                      </a:solidFill>
                      <a:prstDash val="solid"/>
                      <a:round/>
                      <a:headEnd type="none" w="med" len="med"/>
                      <a:tailEnd type="none" w="med" len="med"/>
                    </a:lnR>
                    <a:lnT w="38100" cap="flat" cmpd="sng" algn="ctr">
                      <a:solidFill>
                        <a:srgbClr val="0E0F11"/>
                      </a:solidFill>
                      <a:prstDash val="solid"/>
                      <a:round/>
                      <a:headEnd type="none" w="med" len="med"/>
                      <a:tailEnd type="none" w="med" len="med"/>
                    </a:lnT>
                    <a:lnB w="38100" cap="flat" cmpd="sng" algn="ctr">
                      <a:solidFill>
                        <a:srgbClr val="0E0F11"/>
                      </a:solidFill>
                      <a:prstDash val="solid"/>
                      <a:round/>
                      <a:headEnd type="none" w="med" len="med"/>
                      <a:tailEnd type="none" w="med" len="med"/>
                    </a:lnB>
                    <a:solidFill>
                      <a:srgbClr val="16181C"/>
                    </a:solidFill>
                  </a:tcPr>
                </a:tc>
                <a:tc>
                  <a:txBody>
                    <a:bodyPr/>
                    <a:lstStyle/>
                    <a:p>
                      <a:pPr marL="0" indent="0">
                        <a:buNone/>
                      </a:pPr>
                      <a:r>
                        <a:rPr lang="en-US" sz="1250" b="1" dirty="0">
                          <a:solidFill>
                            <a:srgbClr val="F3F4F1"/>
                          </a:solidFill>
                          <a:latin typeface="Arial" pitchFamily="34" charset="0"/>
                          <a:ea typeface="Arial" pitchFamily="34" charset="-122"/>
                          <a:cs typeface="Arial" pitchFamily="34" charset="-120"/>
                        </a:rPr>
                        <a:t>▸ SEO + structured data
</a:t>
                      </a:r>
                      <a:r>
                        <a:rPr lang="en-US" sz="950" dirty="0">
                          <a:solidFill>
                            <a:srgbClr val="8E948B"/>
                          </a:solidFill>
                          <a:latin typeface="Arial" pitchFamily="34" charset="0"/>
                          <a:ea typeface="Arial" pitchFamily="34" charset="-122"/>
                          <a:cs typeface="Arial" pitchFamily="34" charset="-120"/>
                        </a:rPr>
                        <a:t>Per route</a:t>
                      </a:r>
                      <a:endParaRPr lang="en-US" sz="1200" dirty="0">
                        <a:latin typeface="Arial" charset="0"/>
                        <a:ea typeface="Arial" charset="0"/>
                        <a:cs typeface="Arial" charset="0"/>
                      </a:endParaRPr>
                    </a:p>
                  </a:txBody>
                  <a:tcPr marL="76200" marR="76200" marT="76200" marB="76200" anchor="ctr">
                    <a:lnL w="38100" cap="flat" cmpd="sng" algn="ctr">
                      <a:solidFill>
                        <a:srgbClr val="0E0F11"/>
                      </a:solidFill>
                      <a:prstDash val="solid"/>
                      <a:round/>
                      <a:headEnd type="none" w="med" len="med"/>
                      <a:tailEnd type="none" w="med" len="med"/>
                    </a:lnL>
                    <a:lnR w="38100" cap="flat" cmpd="sng" algn="ctr">
                      <a:solidFill>
                        <a:srgbClr val="0E0F11"/>
                      </a:solidFill>
                      <a:prstDash val="solid"/>
                      <a:round/>
                      <a:headEnd type="none" w="med" len="med"/>
                      <a:tailEnd type="none" w="med" len="med"/>
                    </a:lnR>
                    <a:lnT w="38100" cap="flat" cmpd="sng" algn="ctr">
                      <a:solidFill>
                        <a:srgbClr val="0E0F11"/>
                      </a:solidFill>
                      <a:prstDash val="solid"/>
                      <a:round/>
                      <a:headEnd type="none" w="med" len="med"/>
                      <a:tailEnd type="none" w="med" len="med"/>
                    </a:lnT>
                    <a:lnB w="38100" cap="flat" cmpd="sng" algn="ctr">
                      <a:solidFill>
                        <a:srgbClr val="0E0F11"/>
                      </a:solidFill>
                      <a:prstDash val="solid"/>
                      <a:round/>
                      <a:headEnd type="none" w="med" len="med"/>
                      <a:tailEnd type="none" w="med" len="med"/>
                    </a:lnB>
                    <a:solidFill>
                      <a:srgbClr val="16181C"/>
                    </a:solidFill>
                  </a:tcPr>
                </a:tc>
                <a:tc>
                  <a:txBody>
                    <a:bodyPr/>
                    <a:lstStyle/>
                    <a:p>
                      <a:pPr marL="0" indent="0">
                        <a:buNone/>
                      </a:pPr>
                      <a:r>
                        <a:rPr lang="en-US" sz="1250" b="1" dirty="0">
                          <a:solidFill>
                            <a:srgbClr val="F3F4F1"/>
                          </a:solidFill>
                          <a:latin typeface="Arial" pitchFamily="34" charset="0"/>
                          <a:ea typeface="Arial" pitchFamily="34" charset="-122"/>
                          <a:cs typeface="Arial" pitchFamily="34" charset="-120"/>
                        </a:rPr>
                        <a:t>▸ Accessibility
</a:t>
                      </a:r>
                      <a:r>
                        <a:rPr lang="en-US" sz="950" dirty="0">
                          <a:solidFill>
                            <a:srgbClr val="8E948B"/>
                          </a:solidFill>
                          <a:latin typeface="Arial" pitchFamily="34" charset="0"/>
                          <a:ea typeface="Arial" pitchFamily="34" charset="-122"/>
                          <a:cs typeface="Arial" pitchFamily="34" charset="-120"/>
                        </a:rPr>
                        <a:t>Keyboard / SR-safe</a:t>
                      </a:r>
                      <a:endParaRPr lang="en-US" sz="1200" dirty="0">
                        <a:latin typeface="Arial" charset="0"/>
                        <a:ea typeface="Arial" charset="0"/>
                        <a:cs typeface="Arial" charset="0"/>
                      </a:endParaRPr>
                    </a:p>
                  </a:txBody>
                  <a:tcPr marL="76200" marR="76200" marT="76200" marB="76200" anchor="ctr">
                    <a:lnL w="38100" cap="flat" cmpd="sng" algn="ctr">
                      <a:solidFill>
                        <a:srgbClr val="0E0F11"/>
                      </a:solidFill>
                      <a:prstDash val="solid"/>
                      <a:round/>
                      <a:headEnd type="none" w="med" len="med"/>
                      <a:tailEnd type="none" w="med" len="med"/>
                    </a:lnL>
                    <a:lnR w="38100" cap="flat" cmpd="sng" algn="ctr">
                      <a:solidFill>
                        <a:srgbClr val="0E0F11"/>
                      </a:solidFill>
                      <a:prstDash val="solid"/>
                      <a:round/>
                      <a:headEnd type="none" w="med" len="med"/>
                      <a:tailEnd type="none" w="med" len="med"/>
                    </a:lnR>
                    <a:lnT w="38100" cap="flat" cmpd="sng" algn="ctr">
                      <a:solidFill>
                        <a:srgbClr val="0E0F11"/>
                      </a:solidFill>
                      <a:prstDash val="solid"/>
                      <a:round/>
                      <a:headEnd type="none" w="med" len="med"/>
                      <a:tailEnd type="none" w="med" len="med"/>
                    </a:lnT>
                    <a:lnB w="38100" cap="flat" cmpd="sng" algn="ctr">
                      <a:solidFill>
                        <a:srgbClr val="0E0F11"/>
                      </a:solidFill>
                      <a:prstDash val="solid"/>
                      <a:round/>
                      <a:headEnd type="none" w="med" len="med"/>
                      <a:tailEnd type="none" w="med" len="med"/>
                    </a:lnB>
                    <a:solidFill>
                      <a:srgbClr val="16181C"/>
                    </a:solidFill>
                  </a:tcPr>
                </a:tc>
                <a:tc>
                  <a:txBody>
                    <a:bodyPr/>
                    <a:lstStyle/>
                    <a:p>
                      <a:pPr marL="0" indent="0">
                        <a:buNone/>
                      </a:pPr>
                      <a:r>
                        <a:rPr lang="en-US" sz="1250" b="1" dirty="0">
                          <a:solidFill>
                            <a:srgbClr val="F3F4F1"/>
                          </a:solidFill>
                          <a:latin typeface="Arial" pitchFamily="34" charset="0"/>
                          <a:ea typeface="Arial" pitchFamily="34" charset="-122"/>
                          <a:cs typeface="Arial" pitchFamily="34" charset="-120"/>
                        </a:rPr>
                        <a:t>▸ End-to-end tests
</a:t>
                      </a:r>
                      <a:r>
                        <a:rPr lang="en-US" sz="950" dirty="0">
                          <a:solidFill>
                            <a:srgbClr val="8E948B"/>
                          </a:solidFill>
                          <a:latin typeface="Arial" pitchFamily="34" charset="0"/>
                          <a:ea typeface="Arial" pitchFamily="34" charset="-122"/>
                          <a:cs typeface="Arial" pitchFamily="34" charset="-120"/>
                        </a:rPr>
                        <a:t>Playwright in CI</a:t>
                      </a:r>
                      <a:endParaRPr lang="en-US" sz="1200" dirty="0">
                        <a:latin typeface="Arial" charset="0"/>
                        <a:ea typeface="Arial" charset="0"/>
                        <a:cs typeface="Arial" charset="0"/>
                      </a:endParaRPr>
                    </a:p>
                  </a:txBody>
                  <a:tcPr marL="76200" marR="76200" marT="76200" marB="76200" anchor="ctr">
                    <a:lnL w="38100" cap="flat" cmpd="sng" algn="ctr">
                      <a:solidFill>
                        <a:srgbClr val="0E0F11"/>
                      </a:solidFill>
                      <a:prstDash val="solid"/>
                      <a:round/>
                      <a:headEnd type="none" w="med" len="med"/>
                      <a:tailEnd type="none" w="med" len="med"/>
                    </a:lnL>
                    <a:lnR w="38100" cap="flat" cmpd="sng" algn="ctr">
                      <a:solidFill>
                        <a:srgbClr val="0E0F11"/>
                      </a:solidFill>
                      <a:prstDash val="solid"/>
                      <a:round/>
                      <a:headEnd type="none" w="med" len="med"/>
                      <a:tailEnd type="none" w="med" len="med"/>
                    </a:lnR>
                    <a:lnT w="38100" cap="flat" cmpd="sng" algn="ctr">
                      <a:solidFill>
                        <a:srgbClr val="0E0F11"/>
                      </a:solidFill>
                      <a:prstDash val="solid"/>
                      <a:round/>
                      <a:headEnd type="none" w="med" len="med"/>
                      <a:tailEnd type="none" w="med" len="med"/>
                    </a:lnT>
                    <a:lnB w="38100" cap="flat" cmpd="sng" algn="ctr">
                      <a:solidFill>
                        <a:srgbClr val="0E0F11"/>
                      </a:solidFill>
                      <a:prstDash val="solid"/>
                      <a:round/>
                      <a:headEnd type="none" w="med" len="med"/>
                      <a:tailEnd type="none" w="med" len="med"/>
                    </a:lnB>
                    <a:solidFill>
                      <a:srgbClr val="16181C"/>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0F11"/>
        </a:solidFill>
        <a:effectLst/>
      </p:bgPr>
    </p:bg>
    <p:spTree>
      <p:nvGrpSpPr>
        <p:cNvPr id="1" name=""/>
        <p:cNvGrpSpPr/>
        <p:nvPr/>
      </p:nvGrpSpPr>
      <p:grpSpPr>
        <a:xfrm>
          <a:off x="0" y="0"/>
          <a:ext cx="0" cy="0"/>
          <a:chOff x="0" y="0"/>
          <a:chExt cx="0" cy="0"/>
        </a:xfrm>
      </p:grpSpPr>
      <p:sp>
        <p:nvSpPr>
          <p:cNvPr id="2" name="Text 0"/>
          <p:cNvSpPr/>
          <p:nvPr/>
        </p:nvSpPr>
        <p:spPr>
          <a:xfrm>
            <a:off x="566928" y="384048"/>
            <a:ext cx="7315200" cy="320040"/>
          </a:xfrm>
          <a:prstGeom prst="rect">
            <a:avLst/>
          </a:prstGeom>
          <a:noFill/>
          <a:ln/>
        </p:spPr>
        <p:txBody>
          <a:bodyPr wrap="square" rtlCol="0" anchor="ctr"/>
          <a:lstStyle/>
          <a:p>
            <a:pPr marL="0" indent="0">
              <a:buNone/>
            </a:pPr>
            <a:r>
              <a:rPr lang="en-US" sz="1100" b="1" kern="0" spc="300" dirty="0">
                <a:solidFill>
                  <a:srgbClr val="86BC25"/>
                </a:solidFill>
                <a:latin typeface="Arial" pitchFamily="34" charset="0"/>
                <a:ea typeface="Arial" pitchFamily="34" charset="-122"/>
                <a:cs typeface="Arial" pitchFamily="34" charset="-120"/>
              </a:rPr>
              <a:t>HOW IT WAS BUILT</a:t>
            </a:r>
            <a:endParaRPr lang="en-US" sz="1100" dirty="0"/>
          </a:p>
        </p:txBody>
      </p:sp>
      <p:sp>
        <p:nvSpPr>
          <p:cNvPr id="3" name="Text 1"/>
          <p:cNvSpPr/>
          <p:nvPr/>
        </p:nvSpPr>
        <p:spPr>
          <a:xfrm>
            <a:off x="8881567" y="365760"/>
            <a:ext cx="2743200" cy="365760"/>
          </a:xfrm>
          <a:prstGeom prst="rect">
            <a:avLst/>
          </a:prstGeom>
          <a:noFill/>
          <a:ln/>
        </p:spPr>
        <p:txBody>
          <a:bodyPr wrap="square" rtlCol="0" anchor="ctr"/>
          <a:lstStyle/>
          <a:p>
            <a:pPr marL="0" indent="0" algn="r">
              <a:buNone/>
            </a:pPr>
            <a:r>
              <a:rPr lang="en-US" sz="1500" b="1" dirty="0">
                <a:solidFill>
                  <a:srgbClr val="F3F4F1"/>
                </a:solidFill>
                <a:latin typeface="Arial" pitchFamily="34" charset="0"/>
                <a:ea typeface="Arial" pitchFamily="34" charset="-122"/>
                <a:cs typeface="Arial" pitchFamily="34" charset="-120"/>
              </a:rPr>
              <a:t>Deloitte</a:t>
            </a:r>
            <a:r>
              <a:rPr lang="en-US" sz="1500" b="1" dirty="0">
                <a:solidFill>
                  <a:srgbClr val="86BC25"/>
                </a:solidFill>
                <a:latin typeface="Arial" pitchFamily="34" charset="0"/>
                <a:ea typeface="Arial" pitchFamily="34" charset="-122"/>
                <a:cs typeface="Arial" pitchFamily="34" charset="-120"/>
              </a:rPr>
              <a:t>.</a:t>
            </a:r>
            <a:endParaRPr lang="en-US" sz="1500" dirty="0"/>
          </a:p>
        </p:txBody>
      </p:sp>
      <p:sp>
        <p:nvSpPr>
          <p:cNvPr id="4" name="Shape 2"/>
          <p:cNvSpPr/>
          <p:nvPr/>
        </p:nvSpPr>
        <p:spPr>
          <a:xfrm>
            <a:off x="566928" y="841248"/>
            <a:ext cx="11057839" cy="0"/>
          </a:xfrm>
          <a:prstGeom prst="line">
            <a:avLst/>
          </a:prstGeom>
          <a:noFill/>
          <a:ln w="12700">
            <a:solidFill>
              <a:srgbClr val="2C2F34"/>
            </a:solidFill>
            <a:prstDash val="solid"/>
          </a:ln>
        </p:spPr>
        <p:txBody>
          <a:bodyPr/>
          <a:lstStyle/>
          <a:p>
            <a:endParaRPr lang="en-US"/>
          </a:p>
        </p:txBody>
      </p:sp>
      <p:sp>
        <p:nvSpPr>
          <p:cNvPr id="5" name="Text 3"/>
          <p:cNvSpPr/>
          <p:nvPr/>
        </p:nvSpPr>
        <p:spPr>
          <a:xfrm>
            <a:off x="566928" y="1024128"/>
            <a:ext cx="11057839" cy="914400"/>
          </a:xfrm>
          <a:prstGeom prst="rect">
            <a:avLst/>
          </a:prstGeom>
          <a:noFill/>
          <a:ln/>
        </p:spPr>
        <p:txBody>
          <a:bodyPr wrap="square" rtlCol="0" anchor="t"/>
          <a:lstStyle/>
          <a:p>
            <a:pPr marL="0" indent="0" algn="l">
              <a:buNone/>
            </a:pPr>
            <a:r>
              <a:rPr lang="en-US" sz="2700" b="1" dirty="0">
                <a:solidFill>
                  <a:srgbClr val="F3F4F1"/>
                </a:solidFill>
                <a:latin typeface="Arial" pitchFamily="34" charset="0"/>
                <a:ea typeface="Arial" pitchFamily="34" charset="-122"/>
                <a:cs typeface="Arial" pitchFamily="34" charset="-120"/>
              </a:rPr>
              <a:t>Claude, in a plan → build → verify loop</a:t>
            </a:r>
            <a:endParaRPr lang="en-US" sz="2700" dirty="0"/>
          </a:p>
        </p:txBody>
      </p:sp>
      <p:sp>
        <p:nvSpPr>
          <p:cNvPr id="6" name="Shape 4"/>
          <p:cNvSpPr/>
          <p:nvPr/>
        </p:nvSpPr>
        <p:spPr>
          <a:xfrm>
            <a:off x="566928" y="6291072"/>
            <a:ext cx="11057839" cy="0"/>
          </a:xfrm>
          <a:prstGeom prst="line">
            <a:avLst/>
          </a:prstGeom>
          <a:noFill/>
          <a:ln w="12700">
            <a:solidFill>
              <a:srgbClr val="2C2F34"/>
            </a:solidFill>
            <a:prstDash val="solid"/>
          </a:ln>
        </p:spPr>
        <p:txBody>
          <a:bodyPr/>
          <a:lstStyle/>
          <a:p>
            <a:endParaRPr lang="en-US"/>
          </a:p>
        </p:txBody>
      </p:sp>
      <p:sp>
        <p:nvSpPr>
          <p:cNvPr id="7" name="Text 5"/>
          <p:cNvSpPr/>
          <p:nvPr/>
        </p:nvSpPr>
        <p:spPr>
          <a:xfrm>
            <a:off x="566928" y="6355080"/>
            <a:ext cx="8229600" cy="274320"/>
          </a:xfrm>
          <a:prstGeom prst="rect">
            <a:avLst/>
          </a:prstGeom>
          <a:noFill/>
          <a:ln/>
        </p:spPr>
        <p:txBody>
          <a:bodyPr wrap="square" rtlCol="0" anchor="ctr"/>
          <a:lstStyle/>
          <a:p>
            <a:pPr marL="0" indent="0">
              <a:buNone/>
            </a:pPr>
            <a:r>
              <a:rPr lang="en-US" sz="950" kern="0" spc="100" dirty="0">
                <a:solidFill>
                  <a:srgbClr val="8E948B"/>
                </a:solidFill>
                <a:latin typeface="Arial" pitchFamily="34" charset="0"/>
                <a:ea typeface="Arial" pitchFamily="34" charset="-122"/>
                <a:cs typeface="Arial" pitchFamily="34" charset="-120"/>
              </a:rPr>
              <a:t>Velocity with an audit trail — plans, tests, commits, docs</a:t>
            </a:r>
            <a:endParaRPr lang="en-US" sz="950" dirty="0"/>
          </a:p>
        </p:txBody>
      </p:sp>
      <p:sp>
        <p:nvSpPr>
          <p:cNvPr id="8" name="Text 6"/>
          <p:cNvSpPr/>
          <p:nvPr/>
        </p:nvSpPr>
        <p:spPr>
          <a:xfrm>
            <a:off x="9795967" y="6355080"/>
            <a:ext cx="1828800" cy="274320"/>
          </a:xfrm>
          <a:prstGeom prst="rect">
            <a:avLst/>
          </a:prstGeom>
          <a:noFill/>
          <a:ln/>
        </p:spPr>
        <p:txBody>
          <a:bodyPr wrap="square" rtlCol="0" anchor="ctr"/>
          <a:lstStyle/>
          <a:p>
            <a:pPr marL="0" indent="0" algn="r">
              <a:buNone/>
            </a:pPr>
            <a:r>
              <a:rPr lang="en-US" sz="950" dirty="0">
                <a:solidFill>
                  <a:srgbClr val="8E948B"/>
                </a:solidFill>
                <a:latin typeface="Arial" pitchFamily="34" charset="0"/>
                <a:ea typeface="Arial" pitchFamily="34" charset="-122"/>
                <a:cs typeface="Arial" pitchFamily="34" charset="-120"/>
              </a:rPr>
              <a:t>10 / 12</a:t>
            </a:r>
            <a:endParaRPr lang="en-US" sz="950" dirty="0"/>
          </a:p>
        </p:txBody>
      </p:sp>
      <p:sp>
        <p:nvSpPr>
          <p:cNvPr id="9" name="Shape 7"/>
          <p:cNvSpPr/>
          <p:nvPr/>
        </p:nvSpPr>
        <p:spPr>
          <a:xfrm>
            <a:off x="566928" y="6748272"/>
            <a:ext cx="9214866" cy="45720"/>
          </a:xfrm>
          <a:prstGeom prst="rect">
            <a:avLst/>
          </a:prstGeom>
          <a:solidFill>
            <a:srgbClr val="86BC25"/>
          </a:solidFill>
          <a:ln/>
        </p:spPr>
        <p:txBody>
          <a:bodyPr/>
          <a:lstStyle/>
          <a:p>
            <a:endParaRPr lang="en-US"/>
          </a:p>
        </p:txBody>
      </p:sp>
      <p:sp>
        <p:nvSpPr>
          <p:cNvPr id="10" name="Text 8"/>
          <p:cNvSpPr/>
          <p:nvPr/>
        </p:nvSpPr>
        <p:spPr>
          <a:xfrm>
            <a:off x="566928" y="2057400"/>
            <a:ext cx="11064240" cy="2468880"/>
          </a:xfrm>
          <a:prstGeom prst="rect">
            <a:avLst/>
          </a:prstGeom>
          <a:noFill/>
          <a:ln/>
        </p:spPr>
        <p:txBody>
          <a:bodyPr wrap="square" rtlCol="0" anchor="t"/>
          <a:lstStyle/>
          <a:p>
            <a:pPr marL="203200" indent="-203200">
              <a:lnSpc>
                <a:spcPct val="112000"/>
              </a:lnSpc>
              <a:spcAft>
                <a:spcPts val="1200"/>
              </a:spcAft>
              <a:buSzPct val="100000"/>
              <a:buChar char="▪"/>
            </a:pPr>
            <a:r>
              <a:rPr lang="en-US" sz="1500" b="1" dirty="0">
                <a:solidFill>
                  <a:srgbClr val="F3F4F1"/>
                </a:solidFill>
                <a:latin typeface="Arial" pitchFamily="34" charset="0"/>
                <a:ea typeface="Arial" pitchFamily="34" charset="-122"/>
                <a:cs typeface="Arial" pitchFamily="34" charset="-120"/>
              </a:rPr>
              <a:t>Plan first. </a:t>
            </a:r>
            <a:r>
              <a:rPr lang="en-US" sz="1500" dirty="0">
                <a:solidFill>
                  <a:srgbClr val="C4C8C0"/>
                </a:solidFill>
                <a:latin typeface="Arial" pitchFamily="34" charset="0"/>
                <a:ea typeface="Arial" pitchFamily="34" charset="-122"/>
                <a:cs typeface="Arial" pitchFamily="34" charset="-120"/>
              </a:rPr>
              <a:t>Every feature is designed and approved before a line of code.</a:t>
            </a:r>
            <a:endParaRPr lang="en-US" sz="1500" dirty="0"/>
          </a:p>
          <a:p>
            <a:pPr marL="203200" indent="-203200">
              <a:lnSpc>
                <a:spcPct val="112000"/>
              </a:lnSpc>
              <a:spcAft>
                <a:spcPts val="1200"/>
              </a:spcAft>
              <a:buSzPct val="100000"/>
              <a:buChar char="▪"/>
            </a:pPr>
            <a:r>
              <a:rPr lang="en-US" sz="1500" b="1" dirty="0">
                <a:solidFill>
                  <a:srgbClr val="F3F4F1"/>
                </a:solidFill>
                <a:latin typeface="Arial" pitchFamily="34" charset="0"/>
                <a:ea typeface="Arial" pitchFamily="34" charset="-122"/>
                <a:cs typeface="Arial" pitchFamily="34" charset="-120"/>
              </a:rPr>
              <a:t>Build the full stack. </a:t>
            </a:r>
            <a:r>
              <a:rPr lang="en-US" sz="1500" dirty="0">
                <a:solidFill>
                  <a:srgbClr val="C4C8C0"/>
                </a:solidFill>
                <a:latin typeface="Arial" pitchFamily="34" charset="0"/>
                <a:ea typeface="Arial" pitchFamily="34" charset="-122"/>
                <a:cs typeface="Arial" pitchFamily="34" charset="-120"/>
              </a:rPr>
              <a:t>Frontend, middleware and Salesforce schema together, in one workflow.</a:t>
            </a:r>
            <a:endParaRPr lang="en-US" sz="1500" dirty="0"/>
          </a:p>
          <a:p>
            <a:pPr marL="203200" indent="-203200">
              <a:lnSpc>
                <a:spcPct val="112000"/>
              </a:lnSpc>
              <a:spcAft>
                <a:spcPts val="1200"/>
              </a:spcAft>
              <a:buSzPct val="100000"/>
              <a:buChar char="▪"/>
            </a:pPr>
            <a:r>
              <a:rPr lang="en-US" sz="1500" b="1" dirty="0">
                <a:solidFill>
                  <a:srgbClr val="F3F4F1"/>
                </a:solidFill>
                <a:latin typeface="Arial" pitchFamily="34" charset="0"/>
                <a:ea typeface="Arial" pitchFamily="34" charset="-122"/>
                <a:cs typeface="Arial" pitchFamily="34" charset="-120"/>
              </a:rPr>
              <a:t>Verify against a real org. </a:t>
            </a:r>
            <a:r>
              <a:rPr lang="en-US" sz="1500" dirty="0">
                <a:solidFill>
                  <a:srgbClr val="C4C8C0"/>
                </a:solidFill>
                <a:latin typeface="Arial" pitchFamily="34" charset="0"/>
                <a:ea typeface="Arial" pitchFamily="34" charset="-122"/>
                <a:cs typeface="Arial" pitchFamily="34" charset="-120"/>
              </a:rPr>
              <a:t>Live round-trips + headless-browser screenshots every step — not assumptions.</a:t>
            </a:r>
            <a:endParaRPr lang="en-US" sz="1500" dirty="0"/>
          </a:p>
          <a:p>
            <a:pPr marL="203200" indent="-203200">
              <a:lnSpc>
                <a:spcPct val="112000"/>
              </a:lnSpc>
              <a:spcAft>
                <a:spcPts val="1200"/>
              </a:spcAft>
              <a:buSzPct val="100000"/>
              <a:buChar char="▪"/>
            </a:pPr>
            <a:r>
              <a:rPr lang="en-US" sz="1500" b="1" dirty="0">
                <a:solidFill>
                  <a:srgbClr val="F3F4F1"/>
                </a:solidFill>
                <a:latin typeface="Arial" pitchFamily="34" charset="0"/>
                <a:ea typeface="Arial" pitchFamily="34" charset="-122"/>
                <a:cs typeface="Arial" pitchFamily="34" charset="-120"/>
              </a:rPr>
              <a:t>Quality gates. </a:t>
            </a:r>
            <a:r>
              <a:rPr lang="en-US" sz="1500" dirty="0">
                <a:solidFill>
                  <a:srgbClr val="C4C8C0"/>
                </a:solidFill>
                <a:latin typeface="Arial" pitchFamily="34" charset="0"/>
                <a:ea typeface="Arial" pitchFamily="34" charset="-122"/>
                <a:cs typeface="Arial" pitchFamily="34" charset="-120"/>
              </a:rPr>
              <a:t>End-to-end tests, lint and build must pass before each commit.</a:t>
            </a:r>
            <a:endParaRPr lang="en-US" sz="1500" dirty="0"/>
          </a:p>
          <a:p>
            <a:pPr marL="203200" indent="-203200">
              <a:lnSpc>
                <a:spcPct val="112000"/>
              </a:lnSpc>
              <a:spcAft>
                <a:spcPts val="1200"/>
              </a:spcAft>
              <a:buSzPct val="100000"/>
              <a:buChar char="▪"/>
            </a:pPr>
            <a:r>
              <a:rPr lang="en-US" sz="1500" b="1" dirty="0">
                <a:solidFill>
                  <a:srgbClr val="F3F4F1"/>
                </a:solidFill>
                <a:latin typeface="Arial" pitchFamily="34" charset="0"/>
                <a:ea typeface="Arial" pitchFamily="34" charset="-122"/>
                <a:cs typeface="Arial" pitchFamily="34" charset="-120"/>
              </a:rPr>
              <a:t>Docs stay in sync, </a:t>
            </a:r>
            <a:r>
              <a:rPr lang="en-US" sz="1500" dirty="0">
                <a:solidFill>
                  <a:srgbClr val="C4C8C0"/>
                </a:solidFill>
                <a:latin typeface="Arial" pitchFamily="34" charset="0"/>
                <a:ea typeface="Arial" pitchFamily="34" charset="-122"/>
                <a:cs typeface="Arial" pitchFamily="34" charset="-120"/>
              </a:rPr>
              <a:t>with one reviewed commit per feature.</a:t>
            </a:r>
            <a:endParaRPr lang="en-US" sz="1500" dirty="0"/>
          </a:p>
        </p:txBody>
      </p:sp>
      <p:sp>
        <p:nvSpPr>
          <p:cNvPr id="11" name="Shape 9"/>
          <p:cNvSpPr/>
          <p:nvPr/>
        </p:nvSpPr>
        <p:spPr>
          <a:xfrm>
            <a:off x="566928" y="4709160"/>
            <a:ext cx="3566160" cy="0"/>
          </a:xfrm>
          <a:prstGeom prst="line">
            <a:avLst/>
          </a:prstGeom>
          <a:noFill/>
          <a:ln w="31750">
            <a:solidFill>
              <a:srgbClr val="86BC25"/>
            </a:solidFill>
            <a:prstDash val="solid"/>
          </a:ln>
        </p:spPr>
        <p:txBody>
          <a:bodyPr/>
          <a:lstStyle/>
          <a:p>
            <a:endParaRPr lang="en-US"/>
          </a:p>
        </p:txBody>
      </p:sp>
      <p:sp>
        <p:nvSpPr>
          <p:cNvPr id="12" name="Text 10"/>
          <p:cNvSpPr/>
          <p:nvPr/>
        </p:nvSpPr>
        <p:spPr>
          <a:xfrm>
            <a:off x="566928" y="4818888"/>
            <a:ext cx="3566160" cy="1005840"/>
          </a:xfrm>
          <a:prstGeom prst="rect">
            <a:avLst/>
          </a:prstGeom>
          <a:noFill/>
          <a:ln/>
        </p:spPr>
        <p:txBody>
          <a:bodyPr wrap="square" rtlCol="0" anchor="t"/>
          <a:lstStyle/>
          <a:p>
            <a:pPr marL="0" indent="0">
              <a:lnSpc>
                <a:spcPct val="110000"/>
              </a:lnSpc>
              <a:buNone/>
            </a:pPr>
            <a:r>
              <a:rPr lang="en-US" sz="2000" b="1" dirty="0">
                <a:solidFill>
                  <a:srgbClr val="F3F4F1"/>
                </a:solidFill>
                <a:latin typeface="Arial" pitchFamily="34" charset="0"/>
                <a:ea typeface="Arial" pitchFamily="34" charset="-122"/>
                <a:cs typeface="Arial" pitchFamily="34" charset="-120"/>
              </a:rPr>
              <a:t>Full-stack
</a:t>
            </a:r>
            <a:r>
              <a:rPr lang="en-US" sz="1050" dirty="0">
                <a:solidFill>
                  <a:srgbClr val="8E948B"/>
                </a:solidFill>
                <a:latin typeface="Arial" pitchFamily="34" charset="0"/>
                <a:ea typeface="Arial" pitchFamily="34" charset="-122"/>
                <a:cs typeface="Arial" pitchFamily="34" charset="-120"/>
              </a:rPr>
              <a:t>UI · middleware · Salesforce, one workflow</a:t>
            </a:r>
            <a:endParaRPr lang="en-US" sz="2000" dirty="0"/>
          </a:p>
        </p:txBody>
      </p:sp>
      <p:sp>
        <p:nvSpPr>
          <p:cNvPr id="13" name="Shape 11"/>
          <p:cNvSpPr/>
          <p:nvPr/>
        </p:nvSpPr>
        <p:spPr>
          <a:xfrm>
            <a:off x="4297680" y="4709160"/>
            <a:ext cx="3566160" cy="0"/>
          </a:xfrm>
          <a:prstGeom prst="line">
            <a:avLst/>
          </a:prstGeom>
          <a:noFill/>
          <a:ln w="31750">
            <a:solidFill>
              <a:srgbClr val="86BC25"/>
            </a:solidFill>
            <a:prstDash val="solid"/>
          </a:ln>
        </p:spPr>
        <p:txBody>
          <a:bodyPr/>
          <a:lstStyle/>
          <a:p>
            <a:endParaRPr lang="en-US"/>
          </a:p>
        </p:txBody>
      </p:sp>
      <p:sp>
        <p:nvSpPr>
          <p:cNvPr id="14" name="Text 12"/>
          <p:cNvSpPr/>
          <p:nvPr/>
        </p:nvSpPr>
        <p:spPr>
          <a:xfrm>
            <a:off x="4297680" y="4818888"/>
            <a:ext cx="3566160" cy="1005840"/>
          </a:xfrm>
          <a:prstGeom prst="rect">
            <a:avLst/>
          </a:prstGeom>
          <a:noFill/>
          <a:ln/>
        </p:spPr>
        <p:txBody>
          <a:bodyPr wrap="square" rtlCol="0" anchor="t"/>
          <a:lstStyle/>
          <a:p>
            <a:pPr marL="0" indent="0">
              <a:lnSpc>
                <a:spcPct val="110000"/>
              </a:lnSpc>
              <a:buNone/>
            </a:pPr>
            <a:r>
              <a:rPr lang="en-US" sz="2000" b="1" dirty="0">
                <a:solidFill>
                  <a:srgbClr val="F3F4F1"/>
                </a:solidFill>
                <a:latin typeface="Arial" pitchFamily="34" charset="0"/>
                <a:ea typeface="Arial" pitchFamily="34" charset="-122"/>
                <a:cs typeface="Arial" pitchFamily="34" charset="-120"/>
              </a:rPr>
              <a:t>Live-verified
</a:t>
            </a:r>
            <a:r>
              <a:rPr lang="en-US" sz="1050" dirty="0">
                <a:solidFill>
                  <a:srgbClr val="8E948B"/>
                </a:solidFill>
                <a:latin typeface="Arial" pitchFamily="34" charset="0"/>
                <a:ea typeface="Arial" pitchFamily="34" charset="-122"/>
                <a:cs typeface="Arial" pitchFamily="34" charset="-120"/>
              </a:rPr>
              <a:t>Every feature proven on a real org</a:t>
            </a:r>
            <a:endParaRPr lang="en-US" sz="2000" dirty="0"/>
          </a:p>
        </p:txBody>
      </p:sp>
      <p:sp>
        <p:nvSpPr>
          <p:cNvPr id="15" name="Shape 13"/>
          <p:cNvSpPr/>
          <p:nvPr/>
        </p:nvSpPr>
        <p:spPr>
          <a:xfrm>
            <a:off x="8028432" y="4709160"/>
            <a:ext cx="3566160" cy="0"/>
          </a:xfrm>
          <a:prstGeom prst="line">
            <a:avLst/>
          </a:prstGeom>
          <a:noFill/>
          <a:ln w="31750">
            <a:solidFill>
              <a:srgbClr val="86BC25"/>
            </a:solidFill>
            <a:prstDash val="solid"/>
          </a:ln>
        </p:spPr>
        <p:txBody>
          <a:bodyPr/>
          <a:lstStyle/>
          <a:p>
            <a:endParaRPr lang="en-US"/>
          </a:p>
        </p:txBody>
      </p:sp>
      <p:sp>
        <p:nvSpPr>
          <p:cNvPr id="16" name="Text 14"/>
          <p:cNvSpPr/>
          <p:nvPr/>
        </p:nvSpPr>
        <p:spPr>
          <a:xfrm>
            <a:off x="8028432" y="4818888"/>
            <a:ext cx="3566160" cy="1005840"/>
          </a:xfrm>
          <a:prstGeom prst="rect">
            <a:avLst/>
          </a:prstGeom>
          <a:noFill/>
          <a:ln/>
        </p:spPr>
        <p:txBody>
          <a:bodyPr wrap="square" rtlCol="0" anchor="t"/>
          <a:lstStyle/>
          <a:p>
            <a:pPr marL="0" indent="0">
              <a:lnSpc>
                <a:spcPct val="110000"/>
              </a:lnSpc>
              <a:buNone/>
            </a:pPr>
            <a:r>
              <a:rPr lang="en-US" sz="2000" b="1" dirty="0">
                <a:solidFill>
                  <a:srgbClr val="F3F4F1"/>
                </a:solidFill>
                <a:latin typeface="Arial" pitchFamily="34" charset="0"/>
                <a:ea typeface="Arial" pitchFamily="34" charset="-122"/>
                <a:cs typeface="Arial" pitchFamily="34" charset="-120"/>
              </a:rPr>
              <a:t>Days, not months
</a:t>
            </a:r>
            <a:r>
              <a:rPr lang="en-US" sz="1050" dirty="0">
                <a:solidFill>
                  <a:srgbClr val="8E948B"/>
                </a:solidFill>
                <a:latin typeface="Arial" pitchFamily="34" charset="0"/>
                <a:ea typeface="Arial" pitchFamily="34" charset="-122"/>
                <a:cs typeface="Arial" pitchFamily="34" charset="-120"/>
              </a:rPr>
              <a:t>AI-accelerated delivery</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0F11"/>
        </a:solidFill>
        <a:effectLst/>
      </p:bgPr>
    </p:bg>
    <p:spTree>
      <p:nvGrpSpPr>
        <p:cNvPr id="1" name=""/>
        <p:cNvGrpSpPr/>
        <p:nvPr/>
      </p:nvGrpSpPr>
      <p:grpSpPr>
        <a:xfrm>
          <a:off x="0" y="0"/>
          <a:ext cx="0" cy="0"/>
          <a:chOff x="0" y="0"/>
          <a:chExt cx="0" cy="0"/>
        </a:xfrm>
      </p:grpSpPr>
      <p:sp>
        <p:nvSpPr>
          <p:cNvPr id="2" name="Text 0"/>
          <p:cNvSpPr/>
          <p:nvPr/>
        </p:nvSpPr>
        <p:spPr>
          <a:xfrm>
            <a:off x="566928" y="384048"/>
            <a:ext cx="7315200" cy="320040"/>
          </a:xfrm>
          <a:prstGeom prst="rect">
            <a:avLst/>
          </a:prstGeom>
          <a:noFill/>
          <a:ln/>
        </p:spPr>
        <p:txBody>
          <a:bodyPr wrap="square" rtlCol="0" anchor="ctr"/>
          <a:lstStyle/>
          <a:p>
            <a:pPr marL="0" indent="0">
              <a:buNone/>
            </a:pPr>
            <a:r>
              <a:rPr lang="en-US" sz="1100" b="1" kern="0" spc="300" dirty="0">
                <a:solidFill>
                  <a:srgbClr val="86BC25"/>
                </a:solidFill>
                <a:latin typeface="Arial" pitchFamily="34" charset="0"/>
                <a:ea typeface="Arial" pitchFamily="34" charset="-122"/>
                <a:cs typeface="Arial" pitchFamily="34" charset="-120"/>
              </a:rPr>
              <a:t>WHY IT MATTERS</a:t>
            </a:r>
            <a:endParaRPr lang="en-US" sz="1100" dirty="0"/>
          </a:p>
        </p:txBody>
      </p:sp>
      <p:sp>
        <p:nvSpPr>
          <p:cNvPr id="3" name="Text 1"/>
          <p:cNvSpPr/>
          <p:nvPr/>
        </p:nvSpPr>
        <p:spPr>
          <a:xfrm>
            <a:off x="8881567" y="365760"/>
            <a:ext cx="2743200" cy="365760"/>
          </a:xfrm>
          <a:prstGeom prst="rect">
            <a:avLst/>
          </a:prstGeom>
          <a:noFill/>
          <a:ln/>
        </p:spPr>
        <p:txBody>
          <a:bodyPr wrap="square" rtlCol="0" anchor="ctr"/>
          <a:lstStyle/>
          <a:p>
            <a:pPr marL="0" indent="0" algn="r">
              <a:buNone/>
            </a:pPr>
            <a:r>
              <a:rPr lang="en-US" sz="1500" b="1" dirty="0">
                <a:solidFill>
                  <a:srgbClr val="F3F4F1"/>
                </a:solidFill>
                <a:latin typeface="Arial" pitchFamily="34" charset="0"/>
                <a:ea typeface="Arial" pitchFamily="34" charset="-122"/>
                <a:cs typeface="Arial" pitchFamily="34" charset="-120"/>
              </a:rPr>
              <a:t>Deloitte</a:t>
            </a:r>
            <a:r>
              <a:rPr lang="en-US" sz="1500" b="1" dirty="0">
                <a:solidFill>
                  <a:srgbClr val="86BC25"/>
                </a:solidFill>
                <a:latin typeface="Arial" pitchFamily="34" charset="0"/>
                <a:ea typeface="Arial" pitchFamily="34" charset="-122"/>
                <a:cs typeface="Arial" pitchFamily="34" charset="-120"/>
              </a:rPr>
              <a:t>.</a:t>
            </a:r>
            <a:endParaRPr lang="en-US" sz="1500" dirty="0"/>
          </a:p>
        </p:txBody>
      </p:sp>
      <p:sp>
        <p:nvSpPr>
          <p:cNvPr id="4" name="Shape 2"/>
          <p:cNvSpPr/>
          <p:nvPr/>
        </p:nvSpPr>
        <p:spPr>
          <a:xfrm>
            <a:off x="566928" y="841248"/>
            <a:ext cx="11057839" cy="0"/>
          </a:xfrm>
          <a:prstGeom prst="line">
            <a:avLst/>
          </a:prstGeom>
          <a:noFill/>
          <a:ln w="12700">
            <a:solidFill>
              <a:srgbClr val="2C2F34"/>
            </a:solidFill>
            <a:prstDash val="solid"/>
          </a:ln>
        </p:spPr>
        <p:txBody>
          <a:bodyPr/>
          <a:lstStyle/>
          <a:p>
            <a:endParaRPr lang="en-US"/>
          </a:p>
        </p:txBody>
      </p:sp>
      <p:sp>
        <p:nvSpPr>
          <p:cNvPr id="5" name="Text 3"/>
          <p:cNvSpPr/>
          <p:nvPr/>
        </p:nvSpPr>
        <p:spPr>
          <a:xfrm>
            <a:off x="566928" y="1024128"/>
            <a:ext cx="11057839" cy="914400"/>
          </a:xfrm>
          <a:prstGeom prst="rect">
            <a:avLst/>
          </a:prstGeom>
          <a:noFill/>
          <a:ln/>
        </p:spPr>
        <p:txBody>
          <a:bodyPr wrap="square" rtlCol="0" anchor="t"/>
          <a:lstStyle/>
          <a:p>
            <a:pPr marL="0" indent="0" algn="l">
              <a:buNone/>
            </a:pPr>
            <a:r>
              <a:rPr lang="en-US" sz="2700" b="1" dirty="0">
                <a:solidFill>
                  <a:srgbClr val="F3F4F1"/>
                </a:solidFill>
                <a:latin typeface="Arial" pitchFamily="34" charset="0"/>
                <a:ea typeface="Arial" pitchFamily="34" charset="-122"/>
                <a:cs typeface="Arial" pitchFamily="34" charset="-120"/>
              </a:rPr>
              <a:t>A reusable pattern for Salesforce customers</a:t>
            </a:r>
            <a:endParaRPr lang="en-US" sz="2700" dirty="0"/>
          </a:p>
        </p:txBody>
      </p:sp>
      <p:sp>
        <p:nvSpPr>
          <p:cNvPr id="6" name="Shape 4"/>
          <p:cNvSpPr/>
          <p:nvPr/>
        </p:nvSpPr>
        <p:spPr>
          <a:xfrm>
            <a:off x="566928" y="6291072"/>
            <a:ext cx="11057839" cy="0"/>
          </a:xfrm>
          <a:prstGeom prst="line">
            <a:avLst/>
          </a:prstGeom>
          <a:noFill/>
          <a:ln w="12700">
            <a:solidFill>
              <a:srgbClr val="2C2F34"/>
            </a:solidFill>
            <a:prstDash val="solid"/>
          </a:ln>
        </p:spPr>
        <p:txBody>
          <a:bodyPr/>
          <a:lstStyle/>
          <a:p>
            <a:endParaRPr lang="en-US"/>
          </a:p>
        </p:txBody>
      </p:sp>
      <p:sp>
        <p:nvSpPr>
          <p:cNvPr id="7" name="Text 5"/>
          <p:cNvSpPr/>
          <p:nvPr/>
        </p:nvSpPr>
        <p:spPr>
          <a:xfrm>
            <a:off x="566928" y="6355080"/>
            <a:ext cx="8229600" cy="274320"/>
          </a:xfrm>
          <a:prstGeom prst="rect">
            <a:avLst/>
          </a:prstGeom>
          <a:noFill/>
          <a:ln/>
        </p:spPr>
        <p:txBody>
          <a:bodyPr wrap="square" rtlCol="0" anchor="ctr"/>
          <a:lstStyle/>
          <a:p>
            <a:pPr marL="0" indent="0">
              <a:buNone/>
            </a:pPr>
            <a:r>
              <a:rPr lang="en-US" sz="950" kern="0" spc="100" dirty="0">
                <a:solidFill>
                  <a:srgbClr val="8E948B"/>
                </a:solidFill>
                <a:latin typeface="Arial" pitchFamily="34" charset="0"/>
                <a:ea typeface="Arial" pitchFamily="34" charset="-122"/>
                <a:cs typeface="Arial" pitchFamily="34" charset="-120"/>
              </a:rPr>
              <a:t>One pattern, many front doors onto Salesforce</a:t>
            </a:r>
            <a:endParaRPr lang="en-US" sz="950" dirty="0"/>
          </a:p>
        </p:txBody>
      </p:sp>
      <p:sp>
        <p:nvSpPr>
          <p:cNvPr id="8" name="Text 6"/>
          <p:cNvSpPr/>
          <p:nvPr/>
        </p:nvSpPr>
        <p:spPr>
          <a:xfrm>
            <a:off x="9795967" y="6355080"/>
            <a:ext cx="1828800" cy="274320"/>
          </a:xfrm>
          <a:prstGeom prst="rect">
            <a:avLst/>
          </a:prstGeom>
          <a:noFill/>
          <a:ln/>
        </p:spPr>
        <p:txBody>
          <a:bodyPr wrap="square" rtlCol="0" anchor="ctr"/>
          <a:lstStyle/>
          <a:p>
            <a:pPr marL="0" indent="0" algn="r">
              <a:buNone/>
            </a:pPr>
            <a:r>
              <a:rPr lang="en-US" sz="950" dirty="0">
                <a:solidFill>
                  <a:srgbClr val="8E948B"/>
                </a:solidFill>
                <a:latin typeface="Arial" pitchFamily="34" charset="0"/>
                <a:ea typeface="Arial" pitchFamily="34" charset="-122"/>
                <a:cs typeface="Arial" pitchFamily="34" charset="-120"/>
              </a:rPr>
              <a:t>11 / 12</a:t>
            </a:r>
            <a:endParaRPr lang="en-US" sz="950" dirty="0"/>
          </a:p>
        </p:txBody>
      </p:sp>
      <p:sp>
        <p:nvSpPr>
          <p:cNvPr id="9" name="Shape 7"/>
          <p:cNvSpPr/>
          <p:nvPr/>
        </p:nvSpPr>
        <p:spPr>
          <a:xfrm>
            <a:off x="566928" y="6748272"/>
            <a:ext cx="10136353" cy="45720"/>
          </a:xfrm>
          <a:prstGeom prst="rect">
            <a:avLst/>
          </a:prstGeom>
          <a:solidFill>
            <a:srgbClr val="86BC25"/>
          </a:solidFill>
          <a:ln/>
        </p:spPr>
        <p:txBody>
          <a:bodyPr/>
          <a:lstStyle/>
          <a:p>
            <a:endParaRPr lang="en-US"/>
          </a:p>
        </p:txBody>
      </p:sp>
      <p:sp>
        <p:nvSpPr>
          <p:cNvPr id="10" name="Text 8"/>
          <p:cNvSpPr/>
          <p:nvPr/>
        </p:nvSpPr>
        <p:spPr>
          <a:xfrm>
            <a:off x="566928" y="2103120"/>
            <a:ext cx="11064240" cy="2194560"/>
          </a:xfrm>
          <a:prstGeom prst="rect">
            <a:avLst/>
          </a:prstGeom>
          <a:noFill/>
          <a:ln/>
        </p:spPr>
        <p:txBody>
          <a:bodyPr wrap="square" rtlCol="0" anchor="t"/>
          <a:lstStyle/>
          <a:p>
            <a:pPr marL="203200" indent="-203200">
              <a:lnSpc>
                <a:spcPct val="112000"/>
              </a:lnSpc>
              <a:spcAft>
                <a:spcPts val="1300"/>
              </a:spcAft>
              <a:buSzPct val="100000"/>
              <a:buChar char="▪"/>
            </a:pPr>
            <a:r>
              <a:rPr lang="en-US" sz="1550" b="1" dirty="0">
                <a:solidFill>
                  <a:srgbClr val="F3F4F1"/>
                </a:solidFill>
                <a:latin typeface="Arial" pitchFamily="34" charset="0"/>
                <a:ea typeface="Arial" pitchFamily="34" charset="-122"/>
                <a:cs typeface="Arial" pitchFamily="34" charset="-120"/>
              </a:rPr>
              <a:t>A modern, fast, on-brand experience </a:t>
            </a:r>
            <a:r>
              <a:rPr lang="en-US" sz="1550" dirty="0">
                <a:solidFill>
                  <a:srgbClr val="C4C8C0"/>
                </a:solidFill>
                <a:latin typeface="Arial" pitchFamily="34" charset="0"/>
                <a:ea typeface="Arial" pitchFamily="34" charset="-122"/>
                <a:cs typeface="Arial" pitchFamily="34" charset="-120"/>
              </a:rPr>
              <a:t>— on any frontend stack.</a:t>
            </a:r>
            <a:endParaRPr lang="en-US" sz="1550" dirty="0"/>
          </a:p>
          <a:p>
            <a:pPr marL="203200" indent="-203200">
              <a:lnSpc>
                <a:spcPct val="112000"/>
              </a:lnSpc>
              <a:spcAft>
                <a:spcPts val="1300"/>
              </a:spcAft>
              <a:buSzPct val="100000"/>
              <a:buChar char="▪"/>
            </a:pPr>
            <a:r>
              <a:rPr lang="en-US" sz="1550" b="1" dirty="0">
                <a:solidFill>
                  <a:srgbClr val="F3F4F1"/>
                </a:solidFill>
                <a:latin typeface="Arial" pitchFamily="34" charset="0"/>
                <a:ea typeface="Arial" pitchFamily="34" charset="-122"/>
                <a:cs typeface="Arial" pitchFamily="34" charset="-120"/>
              </a:rPr>
              <a:t>Salesforce stays the single source of truth </a:t>
            </a:r>
            <a:r>
              <a:rPr lang="en-US" sz="1550" dirty="0">
                <a:solidFill>
                  <a:srgbClr val="C4C8C0"/>
                </a:solidFill>
                <a:latin typeface="Arial" pitchFamily="34" charset="0"/>
                <a:ea typeface="Arial" pitchFamily="34" charset="-122"/>
                <a:cs typeface="Arial" pitchFamily="34" charset="-120"/>
              </a:rPr>
              <a:t>— no data silo, no sync headaches.</a:t>
            </a:r>
            <a:endParaRPr lang="en-US" sz="1550" dirty="0"/>
          </a:p>
          <a:p>
            <a:pPr marL="203200" indent="-203200">
              <a:lnSpc>
                <a:spcPct val="112000"/>
              </a:lnSpc>
              <a:spcAft>
                <a:spcPts val="1300"/>
              </a:spcAft>
              <a:buSzPct val="100000"/>
              <a:buChar char="▪"/>
            </a:pPr>
            <a:r>
              <a:rPr lang="en-US" sz="1550" b="1" dirty="0">
                <a:solidFill>
                  <a:srgbClr val="F3F4F1"/>
                </a:solidFill>
                <a:latin typeface="Arial" pitchFamily="34" charset="0"/>
                <a:ea typeface="Arial" pitchFamily="34" charset="-122"/>
                <a:cs typeface="Arial" pitchFamily="34" charset="-120"/>
              </a:rPr>
              <a:t>B2C or B2B </a:t>
            </a:r>
            <a:r>
              <a:rPr lang="en-US" sz="1550" dirty="0">
                <a:solidFill>
                  <a:srgbClr val="C4C8C0"/>
                </a:solidFill>
                <a:latin typeface="Arial" pitchFamily="34" charset="0"/>
                <a:ea typeface="Arial" pitchFamily="34" charset="-122"/>
                <a:cs typeface="Arial" pitchFamily="34" charset="-120"/>
              </a:rPr>
              <a:t>— and you can start without a Commerce Cloud license.</a:t>
            </a:r>
            <a:endParaRPr lang="en-US" sz="1550" dirty="0"/>
          </a:p>
          <a:p>
            <a:pPr marL="203200" indent="-203200">
              <a:lnSpc>
                <a:spcPct val="112000"/>
              </a:lnSpc>
              <a:spcAft>
                <a:spcPts val="1300"/>
              </a:spcAft>
              <a:buSzPct val="100000"/>
              <a:buChar char="▪"/>
            </a:pPr>
            <a:r>
              <a:rPr lang="en-US" sz="1550" b="1" dirty="0">
                <a:solidFill>
                  <a:srgbClr val="F3F4F1"/>
                </a:solidFill>
                <a:latin typeface="Arial" pitchFamily="34" charset="0"/>
                <a:ea typeface="Arial" pitchFamily="34" charset="-122"/>
                <a:cs typeface="Arial" pitchFamily="34" charset="-120"/>
              </a:rPr>
              <a:t>AI-accelerated </a:t>
            </a:r>
            <a:r>
              <a:rPr lang="en-US" sz="1550" dirty="0">
                <a:solidFill>
                  <a:srgbClr val="C4C8C0"/>
                </a:solidFill>
                <a:latin typeface="Arial" pitchFamily="34" charset="0"/>
                <a:ea typeface="Arial" pitchFamily="34" charset="-122"/>
                <a:cs typeface="Arial" pitchFamily="34" charset="-120"/>
              </a:rPr>
              <a:t>— compress weeks of engineering into days, with quality gates.</a:t>
            </a:r>
            <a:endParaRPr lang="en-US" sz="1550" dirty="0"/>
          </a:p>
        </p:txBody>
      </p:sp>
      <p:sp>
        <p:nvSpPr>
          <p:cNvPr id="11" name="Shape 9"/>
          <p:cNvSpPr/>
          <p:nvPr/>
        </p:nvSpPr>
        <p:spPr>
          <a:xfrm>
            <a:off x="566928" y="4754880"/>
            <a:ext cx="1856232" cy="548640"/>
          </a:xfrm>
          <a:prstGeom prst="roundRect">
            <a:avLst>
              <a:gd name="adj" fmla="val 16667"/>
            </a:avLst>
          </a:prstGeom>
          <a:solidFill>
            <a:srgbClr val="1A2410"/>
          </a:solidFill>
          <a:ln w="12700">
            <a:solidFill>
              <a:srgbClr val="86BC25"/>
            </a:solidFill>
            <a:prstDash val="solid"/>
          </a:ln>
        </p:spPr>
        <p:txBody>
          <a:bodyPr/>
          <a:lstStyle/>
          <a:p>
            <a:endParaRPr lang="en-US"/>
          </a:p>
        </p:txBody>
      </p:sp>
      <p:sp>
        <p:nvSpPr>
          <p:cNvPr id="12" name="Text 10"/>
          <p:cNvSpPr/>
          <p:nvPr/>
        </p:nvSpPr>
        <p:spPr>
          <a:xfrm>
            <a:off x="566928" y="4754880"/>
            <a:ext cx="1856232" cy="548640"/>
          </a:xfrm>
          <a:prstGeom prst="rect">
            <a:avLst/>
          </a:prstGeom>
          <a:noFill/>
          <a:ln/>
        </p:spPr>
        <p:txBody>
          <a:bodyPr wrap="square" rtlCol="0" anchor="ctr"/>
          <a:lstStyle/>
          <a:p>
            <a:pPr marL="0" indent="0" algn="ctr">
              <a:buNone/>
            </a:pPr>
            <a:r>
              <a:rPr lang="en-US" sz="1200" b="1" dirty="0">
                <a:solidFill>
                  <a:srgbClr val="F3F4F1"/>
                </a:solidFill>
                <a:latin typeface="Arial" pitchFamily="34" charset="0"/>
                <a:ea typeface="Arial" pitchFamily="34" charset="-122"/>
                <a:cs typeface="Arial" pitchFamily="34" charset="-120"/>
              </a:rPr>
              <a:t>DTC storefront</a:t>
            </a:r>
            <a:endParaRPr lang="en-US" sz="1200" dirty="0"/>
          </a:p>
        </p:txBody>
      </p:sp>
      <p:sp>
        <p:nvSpPr>
          <p:cNvPr id="13" name="Shape 11"/>
          <p:cNvSpPr/>
          <p:nvPr/>
        </p:nvSpPr>
        <p:spPr>
          <a:xfrm>
            <a:off x="2606040" y="4754880"/>
            <a:ext cx="3328416" cy="548640"/>
          </a:xfrm>
          <a:prstGeom prst="roundRect">
            <a:avLst>
              <a:gd name="adj" fmla="val 16667"/>
            </a:avLst>
          </a:prstGeom>
          <a:solidFill>
            <a:srgbClr val="1A2410"/>
          </a:solidFill>
          <a:ln w="12700">
            <a:solidFill>
              <a:srgbClr val="86BC25"/>
            </a:solidFill>
            <a:prstDash val="solid"/>
          </a:ln>
        </p:spPr>
        <p:txBody>
          <a:bodyPr/>
          <a:lstStyle/>
          <a:p>
            <a:endParaRPr lang="en-US"/>
          </a:p>
        </p:txBody>
      </p:sp>
      <p:sp>
        <p:nvSpPr>
          <p:cNvPr id="14" name="Text 12"/>
          <p:cNvSpPr/>
          <p:nvPr/>
        </p:nvSpPr>
        <p:spPr>
          <a:xfrm>
            <a:off x="2606040" y="4754880"/>
            <a:ext cx="3328416" cy="548640"/>
          </a:xfrm>
          <a:prstGeom prst="rect">
            <a:avLst/>
          </a:prstGeom>
          <a:noFill/>
          <a:ln/>
        </p:spPr>
        <p:txBody>
          <a:bodyPr wrap="square" rtlCol="0" anchor="ctr"/>
          <a:lstStyle/>
          <a:p>
            <a:pPr marL="0" indent="0" algn="ctr">
              <a:buNone/>
            </a:pPr>
            <a:r>
              <a:rPr lang="en-US" sz="1200" b="1" dirty="0">
                <a:solidFill>
                  <a:srgbClr val="F3F4F1"/>
                </a:solidFill>
                <a:latin typeface="Arial" pitchFamily="34" charset="0"/>
                <a:ea typeface="Arial" pitchFamily="34" charset="-122"/>
                <a:cs typeface="Arial" pitchFamily="34" charset="-120"/>
              </a:rPr>
              <a:t>Customer self-service portal</a:t>
            </a:r>
            <a:endParaRPr lang="en-US" sz="1200" dirty="0"/>
          </a:p>
        </p:txBody>
      </p:sp>
      <p:sp>
        <p:nvSpPr>
          <p:cNvPr id="15" name="Shape 13"/>
          <p:cNvSpPr/>
          <p:nvPr/>
        </p:nvSpPr>
        <p:spPr>
          <a:xfrm>
            <a:off x="6117336" y="4754880"/>
            <a:ext cx="2066544" cy="548640"/>
          </a:xfrm>
          <a:prstGeom prst="roundRect">
            <a:avLst>
              <a:gd name="adj" fmla="val 16667"/>
            </a:avLst>
          </a:prstGeom>
          <a:solidFill>
            <a:srgbClr val="1A2410"/>
          </a:solidFill>
          <a:ln w="12700">
            <a:solidFill>
              <a:srgbClr val="86BC25"/>
            </a:solidFill>
            <a:prstDash val="solid"/>
          </a:ln>
        </p:spPr>
        <p:txBody>
          <a:bodyPr/>
          <a:lstStyle/>
          <a:p>
            <a:endParaRPr lang="en-US"/>
          </a:p>
        </p:txBody>
      </p:sp>
      <p:sp>
        <p:nvSpPr>
          <p:cNvPr id="16" name="Text 14"/>
          <p:cNvSpPr/>
          <p:nvPr/>
        </p:nvSpPr>
        <p:spPr>
          <a:xfrm>
            <a:off x="6117336" y="4754880"/>
            <a:ext cx="2066544" cy="548640"/>
          </a:xfrm>
          <a:prstGeom prst="rect">
            <a:avLst/>
          </a:prstGeom>
          <a:noFill/>
          <a:ln/>
        </p:spPr>
        <p:txBody>
          <a:bodyPr wrap="square" rtlCol="0" anchor="ctr"/>
          <a:lstStyle/>
          <a:p>
            <a:pPr marL="0" indent="0" algn="ctr">
              <a:buNone/>
            </a:pPr>
            <a:r>
              <a:rPr lang="en-US" sz="1200" b="1" dirty="0">
                <a:solidFill>
                  <a:srgbClr val="F3F4F1"/>
                </a:solidFill>
                <a:latin typeface="Arial" pitchFamily="34" charset="0"/>
                <a:ea typeface="Arial" pitchFamily="34" charset="-122"/>
                <a:cs typeface="Arial" pitchFamily="34" charset="-120"/>
              </a:rPr>
              <a:t>Partner ordering</a:t>
            </a:r>
            <a:endParaRPr lang="en-US" sz="1200" dirty="0"/>
          </a:p>
        </p:txBody>
      </p:sp>
      <p:sp>
        <p:nvSpPr>
          <p:cNvPr id="17" name="Shape 15"/>
          <p:cNvSpPr/>
          <p:nvPr/>
        </p:nvSpPr>
        <p:spPr>
          <a:xfrm>
            <a:off x="8366760" y="4754880"/>
            <a:ext cx="3538728" cy="548640"/>
          </a:xfrm>
          <a:prstGeom prst="roundRect">
            <a:avLst>
              <a:gd name="adj" fmla="val 16667"/>
            </a:avLst>
          </a:prstGeom>
          <a:solidFill>
            <a:srgbClr val="1A2410"/>
          </a:solidFill>
          <a:ln w="12700">
            <a:solidFill>
              <a:srgbClr val="86BC25"/>
            </a:solidFill>
            <a:prstDash val="solid"/>
          </a:ln>
        </p:spPr>
        <p:txBody>
          <a:bodyPr/>
          <a:lstStyle/>
          <a:p>
            <a:endParaRPr lang="en-US"/>
          </a:p>
        </p:txBody>
      </p:sp>
      <p:sp>
        <p:nvSpPr>
          <p:cNvPr id="18" name="Text 16"/>
          <p:cNvSpPr/>
          <p:nvPr/>
        </p:nvSpPr>
        <p:spPr>
          <a:xfrm>
            <a:off x="8366760" y="4754880"/>
            <a:ext cx="3538728" cy="548640"/>
          </a:xfrm>
          <a:prstGeom prst="rect">
            <a:avLst/>
          </a:prstGeom>
          <a:noFill/>
          <a:ln/>
        </p:spPr>
        <p:txBody>
          <a:bodyPr wrap="square" rtlCol="0" anchor="ctr"/>
          <a:lstStyle/>
          <a:p>
            <a:pPr marL="0" indent="0" algn="ctr">
              <a:buNone/>
            </a:pPr>
            <a:r>
              <a:rPr lang="en-US" sz="1200" b="1" dirty="0">
                <a:solidFill>
                  <a:srgbClr val="F3F4F1"/>
                </a:solidFill>
                <a:latin typeface="Arial" pitchFamily="34" charset="0"/>
                <a:ea typeface="Arial" pitchFamily="34" charset="-122"/>
                <a:cs typeface="Arial" pitchFamily="34" charset="-120"/>
              </a:rPr>
              <a:t>Internal catalog / procurement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0F11"/>
        </a:solidFill>
        <a:effectLst/>
      </p:bgPr>
    </p:bg>
    <p:spTree>
      <p:nvGrpSpPr>
        <p:cNvPr id="1" name=""/>
        <p:cNvGrpSpPr/>
        <p:nvPr/>
      </p:nvGrpSpPr>
      <p:grpSpPr>
        <a:xfrm>
          <a:off x="0" y="0"/>
          <a:ext cx="0" cy="0"/>
          <a:chOff x="0" y="0"/>
          <a:chExt cx="0" cy="0"/>
        </a:xfrm>
      </p:grpSpPr>
      <p:sp>
        <p:nvSpPr>
          <p:cNvPr id="2" name="Text 0"/>
          <p:cNvSpPr/>
          <p:nvPr/>
        </p:nvSpPr>
        <p:spPr>
          <a:xfrm>
            <a:off x="566928" y="384048"/>
            <a:ext cx="7315200" cy="320040"/>
          </a:xfrm>
          <a:prstGeom prst="rect">
            <a:avLst/>
          </a:prstGeom>
          <a:noFill/>
          <a:ln/>
        </p:spPr>
        <p:txBody>
          <a:bodyPr wrap="square" rtlCol="0" anchor="ctr"/>
          <a:lstStyle/>
          <a:p>
            <a:pPr marL="0" indent="0">
              <a:buNone/>
            </a:pPr>
            <a:r>
              <a:rPr lang="en-US" sz="1100" b="1" kern="0" spc="300" dirty="0">
                <a:solidFill>
                  <a:srgbClr val="86BC25"/>
                </a:solidFill>
                <a:latin typeface="Arial" pitchFamily="34" charset="0"/>
                <a:ea typeface="Arial" pitchFamily="34" charset="-122"/>
                <a:cs typeface="Arial" pitchFamily="34" charset="-120"/>
              </a:rPr>
              <a:t>LET'S SEE IT</a:t>
            </a:r>
            <a:endParaRPr lang="en-US" sz="1100" dirty="0"/>
          </a:p>
        </p:txBody>
      </p:sp>
      <p:sp>
        <p:nvSpPr>
          <p:cNvPr id="3" name="Text 1"/>
          <p:cNvSpPr/>
          <p:nvPr/>
        </p:nvSpPr>
        <p:spPr>
          <a:xfrm>
            <a:off x="8881567" y="365760"/>
            <a:ext cx="2743200" cy="365760"/>
          </a:xfrm>
          <a:prstGeom prst="rect">
            <a:avLst/>
          </a:prstGeom>
          <a:noFill/>
          <a:ln/>
        </p:spPr>
        <p:txBody>
          <a:bodyPr wrap="square" rtlCol="0" anchor="ctr"/>
          <a:lstStyle/>
          <a:p>
            <a:pPr marL="0" indent="0" algn="r">
              <a:buNone/>
            </a:pPr>
            <a:r>
              <a:rPr lang="en-US" sz="1500" b="1" dirty="0">
                <a:solidFill>
                  <a:srgbClr val="F3F4F1"/>
                </a:solidFill>
                <a:latin typeface="Arial" pitchFamily="34" charset="0"/>
                <a:ea typeface="Arial" pitchFamily="34" charset="-122"/>
                <a:cs typeface="Arial" pitchFamily="34" charset="-120"/>
              </a:rPr>
              <a:t>Deloitte</a:t>
            </a:r>
            <a:r>
              <a:rPr lang="en-US" sz="1500" b="1" dirty="0">
                <a:solidFill>
                  <a:srgbClr val="86BC25"/>
                </a:solidFill>
                <a:latin typeface="Arial" pitchFamily="34" charset="0"/>
                <a:ea typeface="Arial" pitchFamily="34" charset="-122"/>
                <a:cs typeface="Arial" pitchFamily="34" charset="-120"/>
              </a:rPr>
              <a:t>.</a:t>
            </a:r>
            <a:endParaRPr lang="en-US" sz="1500" dirty="0"/>
          </a:p>
        </p:txBody>
      </p:sp>
      <p:sp>
        <p:nvSpPr>
          <p:cNvPr id="4" name="Shape 2"/>
          <p:cNvSpPr/>
          <p:nvPr/>
        </p:nvSpPr>
        <p:spPr>
          <a:xfrm>
            <a:off x="566928" y="841248"/>
            <a:ext cx="11057839" cy="0"/>
          </a:xfrm>
          <a:prstGeom prst="line">
            <a:avLst/>
          </a:prstGeom>
          <a:noFill/>
          <a:ln w="12700">
            <a:solidFill>
              <a:srgbClr val="2C2F34"/>
            </a:solidFill>
            <a:prstDash val="solid"/>
          </a:ln>
        </p:spPr>
        <p:txBody>
          <a:bodyPr/>
          <a:lstStyle/>
          <a:p>
            <a:endParaRPr lang="en-US"/>
          </a:p>
        </p:txBody>
      </p:sp>
      <p:sp>
        <p:nvSpPr>
          <p:cNvPr id="5" name="Text 3"/>
          <p:cNvSpPr/>
          <p:nvPr/>
        </p:nvSpPr>
        <p:spPr>
          <a:xfrm>
            <a:off x="566928" y="1024128"/>
            <a:ext cx="11057839" cy="914400"/>
          </a:xfrm>
          <a:prstGeom prst="rect">
            <a:avLst/>
          </a:prstGeom>
          <a:noFill/>
          <a:ln/>
        </p:spPr>
        <p:txBody>
          <a:bodyPr wrap="square" rtlCol="0" anchor="t"/>
          <a:lstStyle/>
          <a:p>
            <a:pPr marL="0" indent="0" algn="l">
              <a:buNone/>
            </a:pPr>
            <a:r>
              <a:rPr lang="en-US" sz="4000" b="1" dirty="0">
                <a:solidFill>
                  <a:srgbClr val="F3F4F1"/>
                </a:solidFill>
                <a:latin typeface="Arial" pitchFamily="34" charset="0"/>
                <a:ea typeface="Arial" pitchFamily="34" charset="-122"/>
                <a:cs typeface="Arial" pitchFamily="34" charset="-120"/>
              </a:rPr>
              <a:t>Live demo</a:t>
            </a:r>
            <a:endParaRPr lang="en-US" sz="4000" dirty="0"/>
          </a:p>
        </p:txBody>
      </p:sp>
      <p:sp>
        <p:nvSpPr>
          <p:cNvPr id="6" name="Shape 4"/>
          <p:cNvSpPr/>
          <p:nvPr/>
        </p:nvSpPr>
        <p:spPr>
          <a:xfrm>
            <a:off x="566928" y="6291072"/>
            <a:ext cx="11057839" cy="0"/>
          </a:xfrm>
          <a:prstGeom prst="line">
            <a:avLst/>
          </a:prstGeom>
          <a:noFill/>
          <a:ln w="12700">
            <a:solidFill>
              <a:srgbClr val="2C2F34"/>
            </a:solidFill>
            <a:prstDash val="solid"/>
          </a:ln>
        </p:spPr>
        <p:txBody>
          <a:bodyPr/>
          <a:lstStyle/>
          <a:p>
            <a:endParaRPr lang="en-US"/>
          </a:p>
        </p:txBody>
      </p:sp>
      <p:sp>
        <p:nvSpPr>
          <p:cNvPr id="7" name="Text 5"/>
          <p:cNvSpPr/>
          <p:nvPr/>
        </p:nvSpPr>
        <p:spPr>
          <a:xfrm>
            <a:off x="566928" y="6355080"/>
            <a:ext cx="8229600" cy="274320"/>
          </a:xfrm>
          <a:prstGeom prst="rect">
            <a:avLst/>
          </a:prstGeom>
          <a:noFill/>
          <a:ln/>
        </p:spPr>
        <p:txBody>
          <a:bodyPr wrap="square" rtlCol="0" anchor="ctr"/>
          <a:lstStyle/>
          <a:p>
            <a:pPr marL="0" indent="0">
              <a:buNone/>
            </a:pPr>
            <a:r>
              <a:rPr lang="en-US" sz="950" kern="0" spc="100" dirty="0">
                <a:solidFill>
                  <a:srgbClr val="8E948B"/>
                </a:solidFill>
                <a:latin typeface="Arial" pitchFamily="34" charset="0"/>
                <a:ea typeface="Arial" pitchFamily="34" charset="-122"/>
                <a:cs typeface="Arial" pitchFamily="34" charset="-120"/>
              </a:rPr>
              <a:t>Thank you · Meridian × Salesforce</a:t>
            </a:r>
            <a:endParaRPr lang="en-US" sz="950" dirty="0"/>
          </a:p>
        </p:txBody>
      </p:sp>
      <p:sp>
        <p:nvSpPr>
          <p:cNvPr id="8" name="Text 6"/>
          <p:cNvSpPr/>
          <p:nvPr/>
        </p:nvSpPr>
        <p:spPr>
          <a:xfrm>
            <a:off x="9795967" y="6355080"/>
            <a:ext cx="1828800" cy="274320"/>
          </a:xfrm>
          <a:prstGeom prst="rect">
            <a:avLst/>
          </a:prstGeom>
          <a:noFill/>
          <a:ln/>
        </p:spPr>
        <p:txBody>
          <a:bodyPr wrap="square" rtlCol="0" anchor="ctr"/>
          <a:lstStyle/>
          <a:p>
            <a:pPr marL="0" indent="0" algn="r">
              <a:buNone/>
            </a:pPr>
            <a:r>
              <a:rPr lang="en-US" sz="950" dirty="0">
                <a:solidFill>
                  <a:srgbClr val="8E948B"/>
                </a:solidFill>
                <a:latin typeface="Arial" pitchFamily="34" charset="0"/>
                <a:ea typeface="Arial" pitchFamily="34" charset="-122"/>
                <a:cs typeface="Arial" pitchFamily="34" charset="-120"/>
              </a:rPr>
              <a:t>12 / 12</a:t>
            </a:r>
            <a:endParaRPr lang="en-US" sz="950" dirty="0"/>
          </a:p>
        </p:txBody>
      </p:sp>
      <p:sp>
        <p:nvSpPr>
          <p:cNvPr id="9" name="Shape 7"/>
          <p:cNvSpPr/>
          <p:nvPr/>
        </p:nvSpPr>
        <p:spPr>
          <a:xfrm>
            <a:off x="566928" y="6748272"/>
            <a:ext cx="11057839" cy="45720"/>
          </a:xfrm>
          <a:prstGeom prst="rect">
            <a:avLst/>
          </a:prstGeom>
          <a:solidFill>
            <a:srgbClr val="86BC25"/>
          </a:solidFill>
          <a:ln/>
        </p:spPr>
        <p:txBody>
          <a:bodyPr/>
          <a:lstStyle/>
          <a:p>
            <a:endParaRPr lang="en-US"/>
          </a:p>
        </p:txBody>
      </p:sp>
      <p:sp>
        <p:nvSpPr>
          <p:cNvPr id="10" name="Text 8"/>
          <p:cNvSpPr/>
          <p:nvPr/>
        </p:nvSpPr>
        <p:spPr>
          <a:xfrm>
            <a:off x="566928" y="2240280"/>
            <a:ext cx="5486400" cy="274320"/>
          </a:xfrm>
          <a:prstGeom prst="rect">
            <a:avLst/>
          </a:prstGeom>
          <a:noFill/>
          <a:ln/>
        </p:spPr>
        <p:txBody>
          <a:bodyPr wrap="square" rtlCol="0" anchor="ctr"/>
          <a:lstStyle/>
          <a:p>
            <a:pPr marL="0" indent="0">
              <a:buNone/>
            </a:pPr>
            <a:r>
              <a:rPr lang="en-US" sz="1100" b="1" kern="0" spc="200" dirty="0">
                <a:solidFill>
                  <a:srgbClr val="86BC25"/>
                </a:solidFill>
                <a:latin typeface="Arial" pitchFamily="34" charset="0"/>
                <a:ea typeface="Arial" pitchFamily="34" charset="-122"/>
                <a:cs typeface="Arial" pitchFamily="34" charset="-120"/>
              </a:rPr>
              <a:t>IN THE WALKTHROUGH</a:t>
            </a:r>
            <a:endParaRPr lang="en-US" sz="1100" dirty="0"/>
          </a:p>
        </p:txBody>
      </p:sp>
      <p:sp>
        <p:nvSpPr>
          <p:cNvPr id="11" name="Text 9"/>
          <p:cNvSpPr/>
          <p:nvPr/>
        </p:nvSpPr>
        <p:spPr>
          <a:xfrm>
            <a:off x="566928" y="2651760"/>
            <a:ext cx="5394960" cy="2743200"/>
          </a:xfrm>
          <a:prstGeom prst="rect">
            <a:avLst/>
          </a:prstGeom>
          <a:noFill/>
          <a:ln/>
        </p:spPr>
        <p:txBody>
          <a:bodyPr wrap="square" rtlCol="0" anchor="t"/>
          <a:lstStyle/>
          <a:p>
            <a:pPr marL="203200" indent="-203200">
              <a:lnSpc>
                <a:spcPct val="112000"/>
              </a:lnSpc>
              <a:spcAft>
                <a:spcPts val="1400"/>
              </a:spcAft>
              <a:buSzPct val="100000"/>
              <a:buChar char="▪"/>
            </a:pPr>
            <a:r>
              <a:rPr lang="en-US" sz="1500" b="1" dirty="0">
                <a:solidFill>
                  <a:srgbClr val="F3F4F1"/>
                </a:solidFill>
                <a:latin typeface="Arial" pitchFamily="34" charset="0"/>
                <a:ea typeface="Arial" pitchFamily="34" charset="-122"/>
                <a:cs typeface="Arial" pitchFamily="34" charset="-120"/>
              </a:rPr>
              <a:t>Browse, add to cart, check out</a:t>
            </a:r>
            <a:endParaRPr lang="en-US" sz="1500" dirty="0"/>
          </a:p>
          <a:p>
            <a:pPr marL="203200" indent="-203200">
              <a:lnSpc>
                <a:spcPct val="112000"/>
              </a:lnSpc>
              <a:spcAft>
                <a:spcPts val="1400"/>
              </a:spcAft>
              <a:buSzPct val="100000"/>
              <a:buChar char="▪"/>
            </a:pPr>
            <a:r>
              <a:rPr lang="en-US" sz="1500" b="1" dirty="0">
                <a:solidFill>
                  <a:srgbClr val="F3F4F1"/>
                </a:solidFill>
                <a:latin typeface="Arial" pitchFamily="34" charset="0"/>
                <a:ea typeface="Arial" pitchFamily="34" charset="-122"/>
                <a:cs typeface="Arial" pitchFamily="34" charset="-120"/>
              </a:rPr>
              <a:t>Watch an order update live </a:t>
            </a:r>
            <a:r>
              <a:rPr lang="en-US" sz="1500" dirty="0">
                <a:solidFill>
                  <a:srgbClr val="C4C8C0"/>
                </a:solidFill>
                <a:latin typeface="Arial" pitchFamily="34" charset="0"/>
                <a:ea typeface="Arial" pitchFamily="34" charset="-122"/>
                <a:cs typeface="Arial" pitchFamily="34" charset="-120"/>
              </a:rPr>
              <a:t>from Salesforce</a:t>
            </a:r>
            <a:endParaRPr lang="en-US" sz="1500" dirty="0"/>
          </a:p>
          <a:p>
            <a:pPr marL="203200" indent="-203200">
              <a:lnSpc>
                <a:spcPct val="112000"/>
              </a:lnSpc>
              <a:spcAft>
                <a:spcPts val="1400"/>
              </a:spcAft>
              <a:buSzPct val="100000"/>
              <a:buChar char="▪"/>
            </a:pPr>
            <a:r>
              <a:rPr lang="en-US" sz="1500" b="1" dirty="0">
                <a:solidFill>
                  <a:srgbClr val="F3F4F1"/>
                </a:solidFill>
                <a:latin typeface="Arial" pitchFamily="34" charset="0"/>
                <a:ea typeface="Arial" pitchFamily="34" charset="-122"/>
                <a:cs typeface="Arial" pitchFamily="34" charset="-120"/>
              </a:rPr>
              <a:t>Raise &amp; track a support ticket</a:t>
            </a:r>
            <a:endParaRPr lang="en-US" sz="1500" dirty="0"/>
          </a:p>
          <a:p>
            <a:pPr marL="203200" indent="-203200">
              <a:lnSpc>
                <a:spcPct val="112000"/>
              </a:lnSpc>
              <a:spcAft>
                <a:spcPts val="1400"/>
              </a:spcAft>
              <a:buSzPct val="100000"/>
              <a:buChar char="▪"/>
            </a:pPr>
            <a:r>
              <a:rPr lang="en-US" sz="1500" b="1" dirty="0">
                <a:solidFill>
                  <a:srgbClr val="F3F4F1"/>
                </a:solidFill>
                <a:latin typeface="Arial" pitchFamily="34" charset="0"/>
                <a:ea typeface="Arial" pitchFamily="34" charset="-122"/>
                <a:cs typeface="Arial" pitchFamily="34" charset="-120"/>
              </a:rPr>
              <a:t>See the records land </a:t>
            </a:r>
            <a:r>
              <a:rPr lang="en-US" sz="1500" dirty="0">
                <a:solidFill>
                  <a:srgbClr val="C4C8C0"/>
                </a:solidFill>
                <a:latin typeface="Arial" pitchFamily="34" charset="0"/>
                <a:ea typeface="Arial" pitchFamily="34" charset="-122"/>
                <a:cs typeface="Arial" pitchFamily="34" charset="-120"/>
              </a:rPr>
              <a:t>in the org</a:t>
            </a:r>
            <a:endParaRPr lang="en-US" sz="1500" dirty="0"/>
          </a:p>
        </p:txBody>
      </p:sp>
      <p:sp>
        <p:nvSpPr>
          <p:cNvPr id="12" name="Text 10"/>
          <p:cNvSpPr/>
          <p:nvPr/>
        </p:nvSpPr>
        <p:spPr>
          <a:xfrm>
            <a:off x="6419088" y="2240280"/>
            <a:ext cx="5486400" cy="274320"/>
          </a:xfrm>
          <a:prstGeom prst="rect">
            <a:avLst/>
          </a:prstGeom>
          <a:noFill/>
          <a:ln/>
        </p:spPr>
        <p:txBody>
          <a:bodyPr wrap="square" rtlCol="0" anchor="ctr"/>
          <a:lstStyle/>
          <a:p>
            <a:pPr marL="0" indent="0">
              <a:buNone/>
            </a:pPr>
            <a:r>
              <a:rPr lang="en-US" sz="1100" b="1" kern="0" spc="200" dirty="0">
                <a:solidFill>
                  <a:srgbClr val="86BC25"/>
                </a:solidFill>
                <a:latin typeface="Arial" pitchFamily="34" charset="0"/>
                <a:ea typeface="Arial" pitchFamily="34" charset="-122"/>
                <a:cs typeface="Arial" pitchFamily="34" charset="-120"/>
              </a:rPr>
              <a:t>WHERE IT CAN GO NEXT</a:t>
            </a:r>
            <a:endParaRPr lang="en-US" sz="1100" dirty="0"/>
          </a:p>
        </p:txBody>
      </p:sp>
      <p:sp>
        <p:nvSpPr>
          <p:cNvPr id="13" name="Text 11"/>
          <p:cNvSpPr/>
          <p:nvPr/>
        </p:nvSpPr>
        <p:spPr>
          <a:xfrm>
            <a:off x="6419088" y="2651760"/>
            <a:ext cx="5394960" cy="2743200"/>
          </a:xfrm>
          <a:prstGeom prst="rect">
            <a:avLst/>
          </a:prstGeom>
          <a:noFill/>
          <a:ln/>
        </p:spPr>
        <p:txBody>
          <a:bodyPr wrap="square" rtlCol="0" anchor="t"/>
          <a:lstStyle/>
          <a:p>
            <a:pPr marL="203200" indent="-203200">
              <a:lnSpc>
                <a:spcPct val="112000"/>
              </a:lnSpc>
              <a:spcAft>
                <a:spcPts val="1400"/>
              </a:spcAft>
              <a:buSzPct val="100000"/>
              <a:buChar char="▪"/>
            </a:pPr>
            <a:r>
              <a:rPr lang="en-US" sz="1500" b="1" dirty="0">
                <a:solidFill>
                  <a:srgbClr val="F3F4F1"/>
                </a:solidFill>
                <a:latin typeface="Arial" pitchFamily="34" charset="0"/>
                <a:ea typeface="Arial" pitchFamily="34" charset="-122"/>
                <a:cs typeface="Arial" pitchFamily="34" charset="-120"/>
              </a:rPr>
              <a:t>Subscriptions (Contracts) </a:t>
            </a:r>
            <a:r>
              <a:rPr lang="en-US" sz="1500" dirty="0">
                <a:solidFill>
                  <a:srgbClr val="C4C8C0"/>
                </a:solidFill>
                <a:latin typeface="Arial" pitchFamily="34" charset="0"/>
                <a:ea typeface="Arial" pitchFamily="34" charset="-122"/>
                <a:cs typeface="Arial" pitchFamily="34" charset="-120"/>
              </a:rPr>
              <a:t>&amp; replenishment</a:t>
            </a:r>
            <a:endParaRPr lang="en-US" sz="1500" dirty="0"/>
          </a:p>
          <a:p>
            <a:pPr marL="203200" indent="-203200">
              <a:lnSpc>
                <a:spcPct val="112000"/>
              </a:lnSpc>
              <a:spcAft>
                <a:spcPts val="1400"/>
              </a:spcAft>
              <a:buSzPct val="100000"/>
              <a:buChar char="▪"/>
            </a:pPr>
            <a:r>
              <a:rPr lang="en-US" sz="1500" b="1" dirty="0">
                <a:solidFill>
                  <a:srgbClr val="F3F4F1"/>
                </a:solidFill>
                <a:latin typeface="Arial" pitchFamily="34" charset="0"/>
                <a:ea typeface="Arial" pitchFamily="34" charset="-122"/>
                <a:cs typeface="Arial" pitchFamily="34" charset="-120"/>
              </a:rPr>
              <a:t>AI features when entitled </a:t>
            </a:r>
            <a:r>
              <a:rPr lang="en-US" sz="1500" dirty="0">
                <a:solidFill>
                  <a:srgbClr val="C4C8C0"/>
                </a:solidFill>
                <a:latin typeface="Arial" pitchFamily="34" charset="0"/>
                <a:ea typeface="Arial" pitchFamily="34" charset="-122"/>
                <a:cs typeface="Arial" pitchFamily="34" charset="-120"/>
              </a:rPr>
              <a:t>— Einstein / Agentforce / Data Cloud</a:t>
            </a:r>
            <a:endParaRPr lang="en-US" sz="1500" dirty="0"/>
          </a:p>
          <a:p>
            <a:pPr marL="203200" indent="-203200">
              <a:lnSpc>
                <a:spcPct val="112000"/>
              </a:lnSpc>
              <a:spcAft>
                <a:spcPts val="1400"/>
              </a:spcAft>
              <a:buSzPct val="100000"/>
              <a:buChar char="▪"/>
            </a:pPr>
            <a:r>
              <a:rPr lang="en-US" sz="1500" b="1" dirty="0">
                <a:solidFill>
                  <a:srgbClr val="F3F4F1"/>
                </a:solidFill>
                <a:latin typeface="Arial" pitchFamily="34" charset="0"/>
                <a:ea typeface="Arial" pitchFamily="34" charset="-122"/>
                <a:cs typeface="Arial" pitchFamily="34" charset="-120"/>
              </a:rPr>
              <a:t>More locales &amp; channels</a:t>
            </a:r>
            <a:endParaRPr lang="en-US" sz="1500" dirty="0"/>
          </a:p>
          <a:p>
            <a:pPr marL="203200" indent="-203200">
              <a:lnSpc>
                <a:spcPct val="112000"/>
              </a:lnSpc>
              <a:spcAft>
                <a:spcPts val="1400"/>
              </a:spcAft>
              <a:buSzPct val="100000"/>
              <a:buChar char="▪"/>
            </a:pPr>
            <a:r>
              <a:rPr lang="en-US" sz="1500" b="1" dirty="0">
                <a:solidFill>
                  <a:srgbClr val="F3F4F1"/>
                </a:solidFill>
                <a:latin typeface="Arial" pitchFamily="34" charset="0"/>
                <a:ea typeface="Arial" pitchFamily="34" charset="-122"/>
                <a:cs typeface="Arial" pitchFamily="34" charset="-120"/>
              </a:rPr>
              <a:t>Hardened payments </a:t>
            </a:r>
            <a:r>
              <a:rPr lang="en-US" sz="1500" dirty="0">
                <a:solidFill>
                  <a:srgbClr val="C4C8C0"/>
                </a:solidFill>
                <a:latin typeface="Arial" pitchFamily="34" charset="0"/>
                <a:ea typeface="Arial" pitchFamily="34" charset="-122"/>
                <a:cs typeface="Arial" pitchFamily="34" charset="-120"/>
              </a:rPr>
              <a:t>(live Stripe)</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ea60d57e-af5b-4752-ac57-3e4f28ca11dc}" enabled="1" method="Standard" siteId="{36da45f1-dd2c-4d1f-af13-5abe46b99921}" contentBits="0" removed="0"/>
</clbl:labelList>
</file>

<file path=docProps/app.xml><?xml version="1.0" encoding="utf-8"?>
<Properties xmlns="http://schemas.openxmlformats.org/officeDocument/2006/extended-properties" xmlns:vt="http://schemas.openxmlformats.org/officeDocument/2006/docPropsVTypes">
  <TotalTime>10</TotalTime>
  <Words>2362</Words>
  <Application>Microsoft Office PowerPoint</Application>
  <PresentationFormat>Widescreen</PresentationFormat>
  <Paragraphs>191</Paragraphs>
  <Slides>12</Slides>
  <Notes>12</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12</vt:i4>
      </vt:variant>
    </vt:vector>
  </HeadingPairs>
  <TitlesOfParts>
    <vt:vector size="14"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Deloitte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Meridian — Salesforce Commerce, Built with Claude</dc:title>
  <dc:subject>PptxGenJS Presentation</dc:subject>
  <dc:creator>Meridian demo</dc:creator>
  <cp:lastModifiedBy>Kumar, Vikas</cp:lastModifiedBy>
  <cp:revision>3</cp:revision>
  <dcterms:created xsi:type="dcterms:W3CDTF">2026-07-26T11:14:13Z</dcterms:created>
  <dcterms:modified xsi:type="dcterms:W3CDTF">2026-07-28T10:58:09Z</dcterms:modified>
</cp:coreProperties>
</file>