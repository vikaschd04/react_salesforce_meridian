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Meridian — a working storefront we built on top of Salesforce, using Claude. The point of the demo is the PATTERN, not the coffee: Salesforce stays the system of record, the storefront is a fast modern web app, and a thin middleware connects them securely. Everything you'll see was built and verified against a real Salesforce org." Keep it to ~30 seconds,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about 15 minutes of context, then a live demo where you can ask questions. Tell them the demo is the payoff — they'll see an order move through Salesforce and update the storefront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"headless/decoupled" in plain words: normally people think Salesforce commerce = Commerce Cloud. This shows you don't need that to start — you keep Salesforce as the brain, and put a best-of-breed experience in front of it. Meridian (a single-origin coffee DTC store) is just our reference build to make it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Browser: the UI, no secrets, one data module. Middleware (the "BFF" — backend-for-frontend): the only thing that knows the Salesforce credentials; it validates and computes money server-side so the client can't be trusted with prices. Salesforce: the Connected App uses OAuth Client Credentials — a server-to-server login, no user password. Key line: the same code runs fully offline in "mock" mode, so we can develop and demo without a live org, and flip one switch to go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audience cares this isn't a bolt-on schema — and the standard-first story only gets stronger. Almost everything is STANDARD Salesforce: Product2/Pricebook, Order/OrderItem, and now a standard OrderSummary (Order Management) per order that rolls up shipping and sales tax; Person Accounts for B2C identity; Case/CaseComment for support. Even things we once kept custom are standard now — Wishlist/WishlistItem, ContactPointAddress, and Coupon/Promotion. The ONLY custom object left is Product Reviews (no standard fit), plus a few justified Order fields. One script, one permission set provisions it 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Stakeholders always ask about security, so lead with it. The pattern is "secure by construction": secrets never leave the server, the browser holds no tokens it can leak, and anything that involves money or trust is decided server-side against Salesforce. Call out the two customer-facing privacy guards: guest order tracking can't be brute-forced, and support ticket internal notes never reach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Narrate the lifecycle. When a shopper pays, we compute totals — including sales tax — server-side, take payment, then create a real Order in Salesforce (Draft, immediately Activated = paid) AND a standard OrderSummary that rolls up the product, shipping and tax amounts. From there the MERCHANT drives it in Salesforce — Status to Shipped, then Completed — and the storefront just reads Status back. The three chips are the trust points: money and stock are server-side, and payment is taken before the order is ever written.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are the "wow" of the demo. Person Accounts: the native Salesforce B2C model — one record that is both Account and Contact — so each shopper is a first-class customer. Live tracking: we enabled Change Data Capture on Order; when a merchant changes the status in Salesforce, that event streams to the browser over SSE and the page updates in real time. You'll literally watch it happen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Don't read every tile — scan a few and say 'sixteen features, each standard-first and each tested.' Call out the Salesforce depth: a standard OrderSummary per order (Order Management) with sales tax; live order tracking (CDC to SSE); support (Case + CaseComment); and the standard-first wins — Wishlist, saved addresses (ContactPointAddress) and promo codes (Coupon/Promotion) are all standard objects now, with Product Reviews the one custom object. Fully keyboard/screen-reader accessible, SEO, and a green end-to-end suite.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reframes "AI-built" from a risk into a strength. The workflow has guardrails a senior engineer would recognise: plans are approved up front, everything is verified against a REAL Salesforce org (not mocked-and-hoped), and nothing is committed unless tests, lint and build pass. The result is speed WITH an audit trail — plans, tests, docs and one clean commit per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stakeholder pitch. The value isn't "a coffee site" — it's a repeatable way to put a great experience in front of Salesforce for many scenarios (storefront, self-service portal, partner ordering, internal catalog), for B2C or B2B, without committing to Commerce Cloud on day one. And AI makes delivering it dramatically faster. Read the four tags as "front doors onto the same Salesforce back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live demo (use the demo script for the click-by-click). The one moment to nail: change an order's status in Salesforce and let the audience watch the storefront update on its own. Close on "next": this is a foundation — subscriptions, generative AI when the org is entitled, more channels, and production payments are all natural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F11"/>
        </a:solidFill>
      </p:bgPr>
    </p:bg>
    <p:spTree>
      <p:nvGrpSpPr>
        <p:cNvPr id="1" name=""/>
        <p:cNvGrpSpPr/>
        <p:nvPr/>
      </p:nvGrpSpPr>
      <p:grpSpPr>
        <a:xfrm>
          <a:off x="0" y="0"/>
          <a:ext cx="0" cy="0"/>
          <a:chOff x="0" y="0"/>
          <a:chExt cx="0" cy="0"/>
        </a:xfrm>
      </p:grpSpPr>
      <p:sp>
        <p:nvSpPr>
          <p:cNvPr id="2" name="Shape 0"/>
          <p:cNvSpPr/>
          <p:nvPr/>
        </p:nvSpPr>
        <p:spPr>
          <a:xfrm>
            <a:off x="0" y="0"/>
            <a:ext cx="4754880" cy="6858000"/>
          </a:xfrm>
          <a:prstGeom prst="rect">
            <a:avLst/>
          </a:prstGeom>
          <a:solidFill>
            <a:srgbClr val="111611"/>
          </a:solidFill>
          <a:ln/>
        </p:spPr>
      </p:sp>
      <p:sp>
        <p:nvSpPr>
          <p:cNvPr id="3" name="Text 1"/>
          <p:cNvSpPr/>
          <p:nvPr/>
        </p:nvSpPr>
        <p:spPr>
          <a:xfrm>
            <a:off x="566928" y="1371600"/>
            <a:ext cx="10058400" cy="365760"/>
          </a:xfrm>
          <a:prstGeom prst="rect">
            <a:avLst/>
          </a:prstGeom>
          <a:noFill/>
          <a:ln/>
        </p:spPr>
        <p:txBody>
          <a:bodyPr wrap="square" rtlCol="0" anchor="ctr"/>
          <a:lstStyle/>
          <a:p>
            <a:pPr indent="0" marL="0">
              <a:buNone/>
            </a:pPr>
            <a:r>
              <a:rPr lang="en-US" sz="1200" b="1" spc="300" kern="0" dirty="0">
                <a:solidFill>
                  <a:srgbClr val="86BC25"/>
                </a:solidFill>
                <a:latin typeface="Arial" pitchFamily="34" charset="0"/>
                <a:ea typeface="Arial" pitchFamily="34" charset="-122"/>
                <a:cs typeface="Arial" pitchFamily="34" charset="-120"/>
              </a:rPr>
              <a:t>SALESFORCE-POWERED COMMERCE · BUILT WITH CLAUDE</a:t>
            </a:r>
            <a:endParaRPr lang="en-US" sz="1200" dirty="0"/>
          </a:p>
        </p:txBody>
      </p:sp>
      <p:sp>
        <p:nvSpPr>
          <p:cNvPr id="4" name="Text 2"/>
          <p:cNvSpPr/>
          <p:nvPr/>
        </p:nvSpPr>
        <p:spPr>
          <a:xfrm>
            <a:off x="566928" y="1828800"/>
            <a:ext cx="10058400" cy="1737360"/>
          </a:xfrm>
          <a:prstGeom prst="rect">
            <a:avLst/>
          </a:prstGeom>
          <a:noFill/>
          <a:ln/>
        </p:spPr>
        <p:txBody>
          <a:bodyPr wrap="square" rtlCol="0" anchor="ctr"/>
          <a:lstStyle/>
          <a:p>
            <a:pPr indent="0" marL="0">
              <a:buNone/>
            </a:pPr>
            <a:r>
              <a:rPr lang="en-US" sz="8400" b="1" dirty="0">
                <a:solidFill>
                  <a:srgbClr val="F3F4F1"/>
                </a:solidFill>
                <a:latin typeface="Arial" pitchFamily="34" charset="0"/>
                <a:ea typeface="Arial" pitchFamily="34" charset="-122"/>
                <a:cs typeface="Arial" pitchFamily="34" charset="-120"/>
              </a:rPr>
              <a:t>Meridian</a:t>
            </a:r>
            <a:pPr indent="0" marL="0">
              <a:buNone/>
            </a:pPr>
            <a:r>
              <a:rPr lang="en-US" sz="8400" b="1" dirty="0">
                <a:solidFill>
                  <a:srgbClr val="86BC25"/>
                </a:solidFill>
                <a:latin typeface="Arial" pitchFamily="34" charset="0"/>
                <a:ea typeface="Arial" pitchFamily="34" charset="-122"/>
                <a:cs typeface="Arial" pitchFamily="34" charset="-120"/>
              </a:rPr>
              <a:t>.</a:t>
            </a:r>
            <a:endParaRPr lang="en-US" sz="8400" dirty="0"/>
          </a:p>
        </p:txBody>
      </p:sp>
      <p:sp>
        <p:nvSpPr>
          <p:cNvPr id="5" name="Text 3"/>
          <p:cNvSpPr/>
          <p:nvPr/>
        </p:nvSpPr>
        <p:spPr>
          <a:xfrm>
            <a:off x="566928" y="3611880"/>
            <a:ext cx="8778240" cy="914400"/>
          </a:xfrm>
          <a:prstGeom prst="rect">
            <a:avLst/>
          </a:prstGeom>
          <a:noFill/>
          <a:ln/>
        </p:spPr>
        <p:txBody>
          <a:bodyPr wrap="square" rtlCol="0" anchor="t"/>
          <a:lstStyle/>
          <a:p>
            <a:pPr indent="0" marL="0">
              <a:lnSpc>
                <a:spcPct val="120000"/>
              </a:lnSpc>
              <a:buNone/>
            </a:pPr>
            <a:r>
              <a:rPr lang="en-US" sz="2200" dirty="0">
                <a:solidFill>
                  <a:srgbClr val="C4C8C0"/>
                </a:solidFill>
                <a:latin typeface="Arial" pitchFamily="34" charset="0"/>
                <a:ea typeface="Arial" pitchFamily="34" charset="-122"/>
                <a:cs typeface="Arial" pitchFamily="34" charset="-120"/>
              </a:rPr>
              <a:t>A modern storefront with </a:t>
            </a:r>
            <a:pPr indent="0" marL="0">
              <a:lnSpc>
                <a:spcPct val="120000"/>
              </a:lnSpc>
              <a:buNone/>
            </a:pPr>
            <a:r>
              <a:rPr lang="en-US" sz="2200" b="1" dirty="0">
                <a:solidFill>
                  <a:srgbClr val="F3F4F1"/>
                </a:solidFill>
                <a:latin typeface="Arial" pitchFamily="34" charset="0"/>
                <a:ea typeface="Arial" pitchFamily="34" charset="-122"/>
                <a:cs typeface="Arial" pitchFamily="34" charset="-120"/>
              </a:rPr>
              <a:t>Salesforce as the system of record</a:t>
            </a:r>
            <a:pPr indent="0" marL="0">
              <a:lnSpc>
                <a:spcPct val="120000"/>
              </a:lnSpc>
              <a:buNone/>
            </a:pPr>
            <a:r>
              <a:rPr lang="en-US" sz="2200" dirty="0">
                <a:solidFill>
                  <a:srgbClr val="C4C8C0"/>
                </a:solidFill>
                <a:latin typeface="Arial" pitchFamily="34" charset="0"/>
                <a:ea typeface="Arial" pitchFamily="34" charset="-122"/>
                <a:cs typeface="Arial" pitchFamily="34" charset="-120"/>
              </a:rPr>
              <a:t> — a decoupled commerce pattern.</a:t>
            </a:r>
            <a:endParaRPr lang="en-US" sz="2200" dirty="0"/>
          </a:p>
        </p:txBody>
      </p:sp>
      <p:sp>
        <p:nvSpPr>
          <p:cNvPr id="6" name="Text 4"/>
          <p:cNvSpPr/>
          <p:nvPr/>
        </p:nvSpPr>
        <p:spPr>
          <a:xfrm>
            <a:off x="566928" y="4526280"/>
            <a:ext cx="8229600" cy="365760"/>
          </a:xfrm>
          <a:prstGeom prst="rect">
            <a:avLst/>
          </a:prstGeom>
          <a:noFill/>
          <a:ln/>
        </p:spPr>
        <p:txBody>
          <a:bodyPr wrap="square" rtlCol="0" anchor="ctr"/>
          <a:lstStyle/>
          <a:p>
            <a:pPr indent="0" marL="0">
              <a:buNone/>
            </a:pPr>
            <a:r>
              <a:rPr lang="en-US" sz="1400" i="1" dirty="0">
                <a:solidFill>
                  <a:srgbClr val="8E948B"/>
                </a:solidFill>
                <a:latin typeface="Arial" pitchFamily="34" charset="0"/>
                <a:ea typeface="Arial" pitchFamily="34" charset="-122"/>
                <a:cs typeface="Arial" pitchFamily="34" charset="-120"/>
              </a:rPr>
              <a:t>“Single-origin coffee, roasted to its coordinates.”</a:t>
            </a:r>
            <a:endParaRPr lang="en-US" sz="1400" dirty="0"/>
          </a:p>
        </p:txBody>
      </p:sp>
      <p:sp>
        <p:nvSpPr>
          <p:cNvPr id="7" name="Shape 5"/>
          <p:cNvSpPr/>
          <p:nvPr/>
        </p:nvSpPr>
        <p:spPr>
          <a:xfrm>
            <a:off x="566928" y="5623560"/>
            <a:ext cx="11057839" cy="0"/>
          </a:xfrm>
          <a:prstGeom prst="line">
            <a:avLst/>
          </a:prstGeom>
          <a:noFill/>
          <a:ln w="12700">
            <a:solidFill>
              <a:srgbClr val="2C2F34"/>
            </a:solidFill>
            <a:prstDash val="solid"/>
          </a:ln>
        </p:spPr>
      </p:sp>
      <p:sp>
        <p:nvSpPr>
          <p:cNvPr id="8" name="Text 6"/>
          <p:cNvSpPr/>
          <p:nvPr/>
        </p:nvSpPr>
        <p:spPr>
          <a:xfrm>
            <a:off x="566928" y="5806440"/>
            <a:ext cx="2743200" cy="365760"/>
          </a:xfrm>
          <a:prstGeom prst="rect">
            <a:avLst/>
          </a:prstGeom>
          <a:noFill/>
          <a:ln/>
        </p:spPr>
        <p:txBody>
          <a:bodyPr wrap="square" rtlCol="0" anchor="ctr"/>
          <a:lstStyle/>
          <a:p>
            <a:pPr algn="r" indent="0" marL="0">
              <a:buNone/>
            </a:pPr>
            <a:r>
              <a:rPr lang="en-US" sz="2200" b="1" dirty="0">
                <a:solidFill>
                  <a:srgbClr val="F3F4F1"/>
                </a:solidFill>
                <a:latin typeface="Arial" pitchFamily="34" charset="0"/>
                <a:ea typeface="Arial" pitchFamily="34" charset="-122"/>
                <a:cs typeface="Arial" pitchFamily="34" charset="-120"/>
              </a:rPr>
              <a:t>Deloitte</a:t>
            </a:r>
            <a:pPr algn="r" indent="0" marL="0">
              <a:buNone/>
            </a:pPr>
            <a:r>
              <a:rPr lang="en-US" sz="2200" b="1" dirty="0">
                <a:solidFill>
                  <a:srgbClr val="86BC25"/>
                </a:solidFill>
                <a:latin typeface="Arial" pitchFamily="34" charset="0"/>
                <a:ea typeface="Arial" pitchFamily="34" charset="-122"/>
                <a:cs typeface="Arial" pitchFamily="34" charset="-120"/>
              </a:rPr>
              <a:t>.</a:t>
            </a:r>
            <a:endParaRPr lang="en-US" sz="2200" dirty="0"/>
          </a:p>
        </p:txBody>
      </p:sp>
      <p:sp>
        <p:nvSpPr>
          <p:cNvPr id="9" name="Text 7"/>
          <p:cNvSpPr/>
          <p:nvPr/>
        </p:nvSpPr>
        <p:spPr>
          <a:xfrm>
            <a:off x="7052767" y="5760720"/>
            <a:ext cx="4572000" cy="640080"/>
          </a:xfrm>
          <a:prstGeom prst="rect">
            <a:avLst/>
          </a:prstGeom>
          <a:noFill/>
          <a:ln/>
        </p:spPr>
        <p:txBody>
          <a:bodyPr wrap="square" rtlCol="0" anchor="ctr"/>
          <a:lstStyle/>
          <a:p>
            <a:pPr algn="r" indent="0" marL="0">
              <a:lnSpc>
                <a:spcPct val="120000"/>
              </a:lnSpc>
              <a:buNone/>
            </a:pPr>
            <a:r>
              <a:rPr lang="en-US" sz="1100" dirty="0">
                <a:solidFill>
                  <a:srgbClr val="8E948B"/>
                </a:solidFill>
                <a:latin typeface="Arial" pitchFamily="34" charset="0"/>
                <a:ea typeface="Arial" pitchFamily="34" charset="-122"/>
                <a:cs typeface="Arial" pitchFamily="34" charset="-120"/>
              </a:rPr>
              <a:t>Internal enablement demo</a:t>
            </a:r>
            <a:endParaRPr lang="en-US" sz="1100" dirty="0"/>
          </a:p>
          <a:p>
            <a:pPr algn="r" indent="0" marL="0">
              <a:lnSpc>
                <a:spcPct val="120000"/>
              </a:lnSpc>
              <a:buNone/>
            </a:pPr>
            <a:r>
              <a:rPr lang="en-US" sz="1100" dirty="0">
                <a:solidFill>
                  <a:srgbClr val="8E948B"/>
                </a:solidFill>
                <a:latin typeface="Arial" pitchFamily="34" charset="0"/>
                <a:ea typeface="Arial" pitchFamily="34" charset="-122"/>
                <a:cs typeface="Arial" pitchFamily="34" charset="-120"/>
              </a:rPr>
              <a:t>Storefront · Connected App · AI-built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AGENDA</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3000" b="1" dirty="0">
                <a:solidFill>
                  <a:srgbClr val="F3F4F1"/>
                </a:solidFill>
                <a:latin typeface="Arial" pitchFamily="34" charset="0"/>
                <a:ea typeface="Arial" pitchFamily="34" charset="-122"/>
                <a:cs typeface="Arial" pitchFamily="34" charset="-120"/>
              </a:rPr>
              <a:t>What we’ll cover</a:t>
            </a:r>
            <a:endParaRPr lang="en-US" sz="30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~15 min walkthrough + live demo</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2 / 12</a:t>
            </a:r>
            <a:endParaRPr lang="en-US" sz="950" dirty="0"/>
          </a:p>
        </p:txBody>
      </p:sp>
      <p:sp>
        <p:nvSpPr>
          <p:cNvPr id="9" name="Shape 7"/>
          <p:cNvSpPr/>
          <p:nvPr/>
        </p:nvSpPr>
        <p:spPr>
          <a:xfrm>
            <a:off x="566928" y="6748272"/>
            <a:ext cx="1842973" cy="45720"/>
          </a:xfrm>
          <a:prstGeom prst="rect">
            <a:avLst/>
          </a:prstGeom>
          <a:solidFill>
            <a:srgbClr val="86BC25"/>
          </a:solidFill>
          <a:ln/>
        </p:spPr>
      </p:sp>
      <p:sp>
        <p:nvSpPr>
          <p:cNvPr id="10" name="Shape 8"/>
          <p:cNvSpPr/>
          <p:nvPr/>
        </p:nvSpPr>
        <p:spPr>
          <a:xfrm>
            <a:off x="566928" y="2148840"/>
            <a:ext cx="5486400" cy="1051560"/>
          </a:xfrm>
          <a:prstGeom prst="roundRect">
            <a:avLst>
              <a:gd name="adj" fmla="val 5217"/>
            </a:avLst>
          </a:prstGeom>
          <a:solidFill>
            <a:srgbClr val="16181C"/>
          </a:solidFill>
          <a:ln w="12700">
            <a:solidFill>
              <a:srgbClr val="2C2F34"/>
            </a:solidFill>
            <a:prstDash val="solid"/>
          </a:ln>
        </p:spPr>
      </p:sp>
      <p:sp>
        <p:nvSpPr>
          <p:cNvPr id="11" name="Text 9"/>
          <p:cNvSpPr/>
          <p:nvPr/>
        </p:nvSpPr>
        <p:spPr>
          <a:xfrm>
            <a:off x="768096" y="2313432"/>
            <a:ext cx="5084064" cy="72237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01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The idea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Commerce on Salesforce, without Commerce Cloud</a:t>
            </a:r>
            <a:endParaRPr lang="en-US" sz="1000" dirty="0"/>
          </a:p>
        </p:txBody>
      </p:sp>
      <p:sp>
        <p:nvSpPr>
          <p:cNvPr id="12" name="Shape 10"/>
          <p:cNvSpPr/>
          <p:nvPr/>
        </p:nvSpPr>
        <p:spPr>
          <a:xfrm>
            <a:off x="6144768" y="2148840"/>
            <a:ext cx="5486400" cy="1051560"/>
          </a:xfrm>
          <a:prstGeom prst="roundRect">
            <a:avLst>
              <a:gd name="adj" fmla="val 5217"/>
            </a:avLst>
          </a:prstGeom>
          <a:solidFill>
            <a:srgbClr val="16181C"/>
          </a:solidFill>
          <a:ln w="12700">
            <a:solidFill>
              <a:srgbClr val="2C2F34"/>
            </a:solidFill>
            <a:prstDash val="solid"/>
          </a:ln>
        </p:spPr>
      </p:sp>
      <p:sp>
        <p:nvSpPr>
          <p:cNvPr id="13" name="Text 11"/>
          <p:cNvSpPr/>
          <p:nvPr/>
        </p:nvSpPr>
        <p:spPr>
          <a:xfrm>
            <a:off x="6345936" y="2313432"/>
            <a:ext cx="5084064" cy="72237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02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Architecture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Three tiers — SPA, middleware, Salesforce</a:t>
            </a:r>
            <a:endParaRPr lang="en-US" sz="1000" dirty="0"/>
          </a:p>
        </p:txBody>
      </p:sp>
      <p:sp>
        <p:nvSpPr>
          <p:cNvPr id="14" name="Shape 12"/>
          <p:cNvSpPr/>
          <p:nvPr/>
        </p:nvSpPr>
        <p:spPr>
          <a:xfrm>
            <a:off x="566928" y="3383280"/>
            <a:ext cx="5486400" cy="1051560"/>
          </a:xfrm>
          <a:prstGeom prst="roundRect">
            <a:avLst>
              <a:gd name="adj" fmla="val 5217"/>
            </a:avLst>
          </a:prstGeom>
          <a:solidFill>
            <a:srgbClr val="16181C"/>
          </a:solidFill>
          <a:ln w="12700">
            <a:solidFill>
              <a:srgbClr val="2C2F34"/>
            </a:solidFill>
            <a:prstDash val="solid"/>
          </a:ln>
        </p:spPr>
      </p:sp>
      <p:sp>
        <p:nvSpPr>
          <p:cNvPr id="15" name="Text 13"/>
          <p:cNvSpPr/>
          <p:nvPr/>
        </p:nvSpPr>
        <p:spPr>
          <a:xfrm>
            <a:off x="768096" y="3547872"/>
            <a:ext cx="5084064" cy="72237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03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The Salesforce side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Standard-first data model + Connected App</a:t>
            </a:r>
            <a:endParaRPr lang="en-US" sz="1000" dirty="0"/>
          </a:p>
        </p:txBody>
      </p:sp>
      <p:sp>
        <p:nvSpPr>
          <p:cNvPr id="16" name="Shape 14"/>
          <p:cNvSpPr/>
          <p:nvPr/>
        </p:nvSpPr>
        <p:spPr>
          <a:xfrm>
            <a:off x="6144768" y="3383280"/>
            <a:ext cx="5486400" cy="1051560"/>
          </a:xfrm>
          <a:prstGeom prst="roundRect">
            <a:avLst>
              <a:gd name="adj" fmla="val 5217"/>
            </a:avLst>
          </a:prstGeom>
          <a:solidFill>
            <a:srgbClr val="16181C"/>
          </a:solidFill>
          <a:ln w="12700">
            <a:solidFill>
              <a:srgbClr val="2C2F34"/>
            </a:solidFill>
            <a:prstDash val="solid"/>
          </a:ln>
        </p:spPr>
      </p:sp>
      <p:sp>
        <p:nvSpPr>
          <p:cNvPr id="17" name="Text 15"/>
          <p:cNvSpPr/>
          <p:nvPr/>
        </p:nvSpPr>
        <p:spPr>
          <a:xfrm>
            <a:off x="6345936" y="3547872"/>
            <a:ext cx="5084064" cy="72237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04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Security &amp; governance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Where the guardrails live</a:t>
            </a:r>
            <a:endParaRPr lang="en-US" sz="1000" dirty="0"/>
          </a:p>
        </p:txBody>
      </p:sp>
      <p:sp>
        <p:nvSpPr>
          <p:cNvPr id="18" name="Shape 16"/>
          <p:cNvSpPr/>
          <p:nvPr/>
        </p:nvSpPr>
        <p:spPr>
          <a:xfrm>
            <a:off x="566928" y="4617720"/>
            <a:ext cx="5486400" cy="1051560"/>
          </a:xfrm>
          <a:prstGeom prst="roundRect">
            <a:avLst>
              <a:gd name="adj" fmla="val 5217"/>
            </a:avLst>
          </a:prstGeom>
          <a:solidFill>
            <a:srgbClr val="16181C"/>
          </a:solidFill>
          <a:ln w="12700">
            <a:solidFill>
              <a:srgbClr val="2C2F34"/>
            </a:solidFill>
            <a:prstDash val="solid"/>
          </a:ln>
        </p:spPr>
      </p:sp>
      <p:sp>
        <p:nvSpPr>
          <p:cNvPr id="19" name="Text 17"/>
          <p:cNvSpPr/>
          <p:nvPr/>
        </p:nvSpPr>
        <p:spPr>
          <a:xfrm>
            <a:off x="768096" y="4782312"/>
            <a:ext cx="5084064" cy="72237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05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Flows &amp; features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Order lifecycle, real-time, what it does</a:t>
            </a:r>
            <a:endParaRPr lang="en-US" sz="1000" dirty="0"/>
          </a:p>
        </p:txBody>
      </p:sp>
      <p:sp>
        <p:nvSpPr>
          <p:cNvPr id="20" name="Shape 18"/>
          <p:cNvSpPr/>
          <p:nvPr/>
        </p:nvSpPr>
        <p:spPr>
          <a:xfrm>
            <a:off x="6144768" y="4617720"/>
            <a:ext cx="5486400" cy="1051560"/>
          </a:xfrm>
          <a:prstGeom prst="roundRect">
            <a:avLst>
              <a:gd name="adj" fmla="val 5217"/>
            </a:avLst>
          </a:prstGeom>
          <a:solidFill>
            <a:srgbClr val="16181C"/>
          </a:solidFill>
          <a:ln w="12700">
            <a:solidFill>
              <a:srgbClr val="2C2F34"/>
            </a:solidFill>
            <a:prstDash val="solid"/>
          </a:ln>
        </p:spPr>
      </p:sp>
      <p:sp>
        <p:nvSpPr>
          <p:cNvPr id="21" name="Text 19"/>
          <p:cNvSpPr/>
          <p:nvPr/>
        </p:nvSpPr>
        <p:spPr>
          <a:xfrm>
            <a:off x="6345936" y="4782312"/>
            <a:ext cx="5084064" cy="72237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06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Built with AI + why it matters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The process, then a live demo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THE IDEA</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3000" b="1" dirty="0">
                <a:solidFill>
                  <a:srgbClr val="F3F4F1"/>
                </a:solidFill>
                <a:latin typeface="Arial" pitchFamily="34" charset="0"/>
                <a:ea typeface="Arial" pitchFamily="34" charset="-122"/>
                <a:cs typeface="Arial" pitchFamily="34" charset="-120"/>
              </a:rPr>
              <a:t>Commerce on Salesforce — without Commerce Cloud</a:t>
            </a:r>
            <a:endParaRPr lang="en-US" sz="30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Decoupled / “headless” commerce</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3 / 12</a:t>
            </a:r>
            <a:endParaRPr lang="en-US" sz="950" dirty="0"/>
          </a:p>
        </p:txBody>
      </p:sp>
      <p:sp>
        <p:nvSpPr>
          <p:cNvPr id="9" name="Shape 7"/>
          <p:cNvSpPr/>
          <p:nvPr/>
        </p:nvSpPr>
        <p:spPr>
          <a:xfrm>
            <a:off x="566928" y="6748272"/>
            <a:ext cx="2764460" cy="45720"/>
          </a:xfrm>
          <a:prstGeom prst="rect">
            <a:avLst/>
          </a:prstGeom>
          <a:solidFill>
            <a:srgbClr val="86BC25"/>
          </a:solidFill>
          <a:ln/>
        </p:spPr>
      </p:sp>
      <p:sp>
        <p:nvSpPr>
          <p:cNvPr id="10" name="Text 8"/>
          <p:cNvSpPr/>
          <p:nvPr/>
        </p:nvSpPr>
        <p:spPr>
          <a:xfrm>
            <a:off x="566928" y="1965960"/>
            <a:ext cx="10058400" cy="731520"/>
          </a:xfrm>
          <a:prstGeom prst="rect">
            <a:avLst/>
          </a:prstGeom>
          <a:noFill/>
          <a:ln/>
        </p:spPr>
        <p:txBody>
          <a:bodyPr wrap="square" rtlCol="0" anchor="t"/>
          <a:lstStyle/>
          <a:p>
            <a:pPr indent="0" marL="0">
              <a:lnSpc>
                <a:spcPct val="120000"/>
              </a:lnSpc>
              <a:buNone/>
            </a:pPr>
            <a:r>
              <a:rPr lang="en-US" sz="1500" dirty="0">
                <a:solidFill>
                  <a:srgbClr val="C4C8C0"/>
                </a:solidFill>
                <a:latin typeface="Arial" pitchFamily="34" charset="0"/>
                <a:ea typeface="Arial" pitchFamily="34" charset="-122"/>
                <a:cs typeface="Arial" pitchFamily="34" charset="-120"/>
              </a:rPr>
              <a:t>Real orders, customers and cases live in Salesforce. The storefront is a fast, on-brand web app on any stack. A thin middleware brokers the two — securely.</a:t>
            </a:r>
            <a:endParaRPr lang="en-US" sz="1500" dirty="0"/>
          </a:p>
        </p:txBody>
      </p:sp>
      <p:sp>
        <p:nvSpPr>
          <p:cNvPr id="11" name="Shape 9"/>
          <p:cNvSpPr/>
          <p:nvPr/>
        </p:nvSpPr>
        <p:spPr>
          <a:xfrm>
            <a:off x="566928" y="2926080"/>
            <a:ext cx="3566160" cy="2468880"/>
          </a:xfrm>
          <a:prstGeom prst="roundRect">
            <a:avLst>
              <a:gd name="adj" fmla="val 2222"/>
            </a:avLst>
          </a:prstGeom>
          <a:solidFill>
            <a:srgbClr val="16181C"/>
          </a:solidFill>
          <a:ln w="12700">
            <a:solidFill>
              <a:srgbClr val="2C2F34"/>
            </a:solidFill>
            <a:prstDash val="solid"/>
          </a:ln>
        </p:spPr>
      </p:sp>
      <p:sp>
        <p:nvSpPr>
          <p:cNvPr id="12" name="Text 10"/>
          <p:cNvSpPr/>
          <p:nvPr/>
        </p:nvSpPr>
        <p:spPr>
          <a:xfrm>
            <a:off x="768096" y="3090672"/>
            <a:ext cx="3163824" cy="213969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01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Salesforce is the source of truth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Products, pricing, orders, customers and support are all standard Salesforce objects — one place, no data silo.</a:t>
            </a:r>
            <a:endParaRPr lang="en-US" sz="1000" dirty="0"/>
          </a:p>
        </p:txBody>
      </p:sp>
      <p:sp>
        <p:nvSpPr>
          <p:cNvPr id="13" name="Shape 11"/>
          <p:cNvSpPr/>
          <p:nvPr/>
        </p:nvSpPr>
        <p:spPr>
          <a:xfrm>
            <a:off x="4297680" y="2926080"/>
            <a:ext cx="3566160" cy="2468880"/>
          </a:xfrm>
          <a:prstGeom prst="roundRect">
            <a:avLst>
              <a:gd name="adj" fmla="val 2222"/>
            </a:avLst>
          </a:prstGeom>
          <a:solidFill>
            <a:srgbClr val="16181C"/>
          </a:solidFill>
          <a:ln w="12700">
            <a:solidFill>
              <a:srgbClr val="2C2F34"/>
            </a:solidFill>
            <a:prstDash val="solid"/>
          </a:ln>
        </p:spPr>
      </p:sp>
      <p:sp>
        <p:nvSpPr>
          <p:cNvPr id="14" name="Text 12"/>
          <p:cNvSpPr/>
          <p:nvPr/>
        </p:nvSpPr>
        <p:spPr>
          <a:xfrm>
            <a:off x="4498848" y="3090672"/>
            <a:ext cx="3163824" cy="213969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02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Any modern frontend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Here a React + Vite SPA — but the pattern works with any framework, and the same middleware can feed other channels.</a:t>
            </a:r>
            <a:endParaRPr lang="en-US" sz="1000" dirty="0"/>
          </a:p>
        </p:txBody>
      </p:sp>
      <p:sp>
        <p:nvSpPr>
          <p:cNvPr id="15" name="Shape 13"/>
          <p:cNvSpPr/>
          <p:nvPr/>
        </p:nvSpPr>
        <p:spPr>
          <a:xfrm>
            <a:off x="8028432" y="2926080"/>
            <a:ext cx="3566160" cy="2468880"/>
          </a:xfrm>
          <a:prstGeom prst="roundRect">
            <a:avLst>
              <a:gd name="adj" fmla="val 2222"/>
            </a:avLst>
          </a:prstGeom>
          <a:solidFill>
            <a:srgbClr val="16181C"/>
          </a:solidFill>
          <a:ln w="12700">
            <a:solidFill>
              <a:srgbClr val="2C2F34"/>
            </a:solidFill>
            <a:prstDash val="solid"/>
          </a:ln>
        </p:spPr>
      </p:sp>
      <p:sp>
        <p:nvSpPr>
          <p:cNvPr id="16" name="Text 14"/>
          <p:cNvSpPr/>
          <p:nvPr/>
        </p:nvSpPr>
        <p:spPr>
          <a:xfrm>
            <a:off x="8229600" y="3090672"/>
            <a:ext cx="3163824" cy="213969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03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A thin, secure middleware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A small Node service holds the credentials and talks to Salesforce. Nothing secret ever reaches the browser.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ARCHITECTURE</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2600" b="1" dirty="0">
                <a:solidFill>
                  <a:srgbClr val="F3F4F1"/>
                </a:solidFill>
                <a:latin typeface="Arial" pitchFamily="34" charset="0"/>
                <a:ea typeface="Arial" pitchFamily="34" charset="-122"/>
                <a:cs typeface="Arial" pitchFamily="34" charset="-120"/>
              </a:rPr>
              <a:t>Three tiers, one clean seam between each</a:t>
            </a:r>
            <a:endParaRPr lang="en-US" sz="26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Connected App · OAuth Client Credentials · jsforce</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4 / 12</a:t>
            </a:r>
            <a:endParaRPr lang="en-US" sz="950" dirty="0"/>
          </a:p>
        </p:txBody>
      </p:sp>
      <p:sp>
        <p:nvSpPr>
          <p:cNvPr id="9" name="Shape 7"/>
          <p:cNvSpPr/>
          <p:nvPr/>
        </p:nvSpPr>
        <p:spPr>
          <a:xfrm>
            <a:off x="566928" y="6748272"/>
            <a:ext cx="3685946" cy="45720"/>
          </a:xfrm>
          <a:prstGeom prst="rect">
            <a:avLst/>
          </a:prstGeom>
          <a:solidFill>
            <a:srgbClr val="86BC25"/>
          </a:solidFill>
          <a:ln/>
        </p:spPr>
      </p:sp>
      <p:sp>
        <p:nvSpPr>
          <p:cNvPr id="10" name="Shape 8"/>
          <p:cNvSpPr/>
          <p:nvPr/>
        </p:nvSpPr>
        <p:spPr>
          <a:xfrm>
            <a:off x="566928" y="2286000"/>
            <a:ext cx="3383280" cy="1965960"/>
          </a:xfrm>
          <a:prstGeom prst="roundRect">
            <a:avLst>
              <a:gd name="adj" fmla="val 2791"/>
            </a:avLst>
          </a:prstGeom>
          <a:solidFill>
            <a:srgbClr val="16181C"/>
          </a:solidFill>
          <a:ln w="12700">
            <a:solidFill>
              <a:srgbClr val="2C2F34"/>
            </a:solidFill>
            <a:prstDash val="solid"/>
          </a:ln>
        </p:spPr>
      </p:sp>
      <p:sp>
        <p:nvSpPr>
          <p:cNvPr id="11" name="Text 9"/>
          <p:cNvSpPr/>
          <p:nvPr/>
        </p:nvSpPr>
        <p:spPr>
          <a:xfrm>
            <a:off x="768096" y="2450592"/>
            <a:ext cx="2980944" cy="163677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BROWSER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React SPA (Vite)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Storefront UI. Every data call goes through one module — it never talks to Salesforce directly.</a:t>
            </a:r>
            <a:endParaRPr lang="en-US" sz="1000" dirty="0"/>
          </a:p>
        </p:txBody>
      </p:sp>
      <p:sp>
        <p:nvSpPr>
          <p:cNvPr id="12" name="Text 10"/>
          <p:cNvSpPr/>
          <p:nvPr/>
        </p:nvSpPr>
        <p:spPr>
          <a:xfrm>
            <a:off x="3968496" y="2994660"/>
            <a:ext cx="530352" cy="548640"/>
          </a:xfrm>
          <a:prstGeom prst="rect">
            <a:avLst/>
          </a:prstGeom>
          <a:noFill/>
          <a:ln/>
        </p:spPr>
        <p:txBody>
          <a:bodyPr wrap="square" rtlCol="0" anchor="ctr"/>
          <a:lstStyle/>
          <a:p>
            <a:pPr algn="ctr" indent="0" marL="0">
              <a:buNone/>
            </a:pPr>
            <a:r>
              <a:rPr lang="en-US" sz="1800" dirty="0">
                <a:solidFill>
                  <a:srgbClr val="86BC25"/>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4517136" y="2286000"/>
            <a:ext cx="3383280" cy="1965960"/>
          </a:xfrm>
          <a:prstGeom prst="roundRect">
            <a:avLst>
              <a:gd name="adj" fmla="val 2791"/>
            </a:avLst>
          </a:prstGeom>
          <a:solidFill>
            <a:srgbClr val="16181C"/>
          </a:solidFill>
          <a:ln w="12700">
            <a:solidFill>
              <a:srgbClr val="2C2F34"/>
            </a:solidFill>
            <a:prstDash val="solid"/>
          </a:ln>
        </p:spPr>
      </p:sp>
      <p:sp>
        <p:nvSpPr>
          <p:cNvPr id="14" name="Text 12"/>
          <p:cNvSpPr/>
          <p:nvPr/>
        </p:nvSpPr>
        <p:spPr>
          <a:xfrm>
            <a:off x="4718304" y="2450592"/>
            <a:ext cx="2980944" cy="163677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MIDDLEWARE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Node / Express BFF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Validates input, computes totals, holds the session. One swap seam: mock data ⇄ live Salesforce.</a:t>
            </a:r>
            <a:endParaRPr lang="en-US" sz="1000" dirty="0"/>
          </a:p>
        </p:txBody>
      </p:sp>
      <p:sp>
        <p:nvSpPr>
          <p:cNvPr id="15" name="Text 13"/>
          <p:cNvSpPr/>
          <p:nvPr/>
        </p:nvSpPr>
        <p:spPr>
          <a:xfrm>
            <a:off x="7918704" y="2994660"/>
            <a:ext cx="530352" cy="548640"/>
          </a:xfrm>
          <a:prstGeom prst="rect">
            <a:avLst/>
          </a:prstGeom>
          <a:noFill/>
          <a:ln/>
        </p:spPr>
        <p:txBody>
          <a:bodyPr wrap="square" rtlCol="0" anchor="ctr"/>
          <a:lstStyle/>
          <a:p>
            <a:pPr algn="ctr" indent="0" marL="0">
              <a:buNone/>
            </a:pPr>
            <a:r>
              <a:rPr lang="en-US" sz="1800" dirty="0">
                <a:solidFill>
                  <a:srgbClr val="86BC25"/>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8467344" y="2286000"/>
            <a:ext cx="3383280" cy="1965960"/>
          </a:xfrm>
          <a:prstGeom prst="roundRect">
            <a:avLst>
              <a:gd name="adj" fmla="val 2791"/>
            </a:avLst>
          </a:prstGeom>
          <a:solidFill>
            <a:srgbClr val="1A2410"/>
          </a:solidFill>
          <a:ln w="12700">
            <a:solidFill>
              <a:srgbClr val="86BC25"/>
            </a:solidFill>
            <a:prstDash val="solid"/>
          </a:ln>
        </p:spPr>
      </p:sp>
      <p:sp>
        <p:nvSpPr>
          <p:cNvPr id="17" name="Text 15"/>
          <p:cNvSpPr/>
          <p:nvPr/>
        </p:nvSpPr>
        <p:spPr>
          <a:xfrm>
            <a:off x="8668512" y="2450592"/>
            <a:ext cx="2980944" cy="163677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SYSTEM OF RECORD
</a:t>
            </a:r>
            <a:pPr indent="0" marL="0">
              <a:lnSpc>
                <a:spcPct val="106000"/>
              </a:lnSpc>
              <a:buNone/>
            </a:pPr>
            <a:r>
              <a:rPr lang="en-US" sz="1500" b="1" dirty="0">
                <a:solidFill>
                  <a:srgbClr val="F3F4F1"/>
                </a:solidFill>
                <a:latin typeface="Arial" pitchFamily="34" charset="0"/>
                <a:ea typeface="Arial" pitchFamily="34" charset="-122"/>
                <a:cs typeface="Arial" pitchFamily="34" charset="-120"/>
              </a:rPr>
              <a:t>Salesforce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Connected App with OAuth Client Credentials. Product2, Order, Person Accounts, Case…</a:t>
            </a:r>
            <a:endParaRPr lang="en-US" sz="1000" dirty="0"/>
          </a:p>
        </p:txBody>
      </p:sp>
      <p:sp>
        <p:nvSpPr>
          <p:cNvPr id="18" name="Text 16"/>
          <p:cNvSpPr/>
          <p:nvPr/>
        </p:nvSpPr>
        <p:spPr>
          <a:xfrm>
            <a:off x="3968496" y="4270248"/>
            <a:ext cx="530352" cy="457200"/>
          </a:xfrm>
          <a:prstGeom prst="rect">
            <a:avLst/>
          </a:prstGeom>
          <a:noFill/>
          <a:ln/>
        </p:spPr>
        <p:txBody>
          <a:bodyPr wrap="square" rtlCol="0" anchor="ctr"/>
          <a:lstStyle/>
          <a:p>
            <a:pPr algn="ctr" indent="0" marL="0">
              <a:buNone/>
            </a:pPr>
            <a:r>
              <a:rPr lang="en-US" sz="800" dirty="0">
                <a:solidFill>
                  <a:srgbClr val="8E948B"/>
                </a:solidFill>
                <a:latin typeface="Arial" pitchFamily="34" charset="0"/>
                <a:ea typeface="Arial" pitchFamily="34" charset="-122"/>
                <a:cs typeface="Arial" pitchFamily="34" charset="-120"/>
              </a:rPr>
              <a:t>same-origin /api + httpOnly cookie</a:t>
            </a:r>
            <a:endParaRPr lang="en-US" sz="800" dirty="0"/>
          </a:p>
        </p:txBody>
      </p:sp>
      <p:sp>
        <p:nvSpPr>
          <p:cNvPr id="19" name="Text 17"/>
          <p:cNvSpPr/>
          <p:nvPr/>
        </p:nvSpPr>
        <p:spPr>
          <a:xfrm>
            <a:off x="7918704" y="4270248"/>
            <a:ext cx="530352" cy="457200"/>
          </a:xfrm>
          <a:prstGeom prst="rect">
            <a:avLst/>
          </a:prstGeom>
          <a:noFill/>
          <a:ln/>
        </p:spPr>
        <p:txBody>
          <a:bodyPr wrap="square" rtlCol="0" anchor="ctr"/>
          <a:lstStyle/>
          <a:p>
            <a:pPr algn="ctr" indent="0" marL="0">
              <a:buNone/>
            </a:pPr>
            <a:r>
              <a:rPr lang="en-US" sz="800" dirty="0">
                <a:solidFill>
                  <a:srgbClr val="8E948B"/>
                </a:solidFill>
                <a:latin typeface="Arial" pitchFamily="34" charset="0"/>
                <a:ea typeface="Arial" pitchFamily="34" charset="-122"/>
                <a:cs typeface="Arial" pitchFamily="34" charset="-120"/>
              </a:rPr>
              <a:t>OAuth token + jsforce</a:t>
            </a:r>
            <a:endParaRPr lang="en-US" sz="800" dirty="0"/>
          </a:p>
        </p:txBody>
      </p:sp>
      <p:sp>
        <p:nvSpPr>
          <p:cNvPr id="20" name="Shape 18"/>
          <p:cNvSpPr/>
          <p:nvPr/>
        </p:nvSpPr>
        <p:spPr>
          <a:xfrm>
            <a:off x="566928" y="4892040"/>
            <a:ext cx="2697480" cy="566928"/>
          </a:xfrm>
          <a:prstGeom prst="roundRect">
            <a:avLst>
              <a:gd name="adj" fmla="val 50000"/>
            </a:avLst>
          </a:prstGeom>
          <a:solidFill>
            <a:srgbClr val="1C1F24"/>
          </a:solidFill>
          <a:ln w="12700">
            <a:solidFill>
              <a:srgbClr val="2C2F34"/>
            </a:solidFill>
            <a:prstDash val="solid"/>
          </a:ln>
        </p:spPr>
      </p:sp>
      <p:sp>
        <p:nvSpPr>
          <p:cNvPr id="21" name="Text 19"/>
          <p:cNvSpPr/>
          <p:nvPr/>
        </p:nvSpPr>
        <p:spPr>
          <a:xfrm>
            <a:off x="658368" y="4892040"/>
            <a:ext cx="2514600" cy="566928"/>
          </a:xfrm>
          <a:prstGeom prst="rect">
            <a:avLst/>
          </a:prstGeom>
          <a:noFill/>
          <a:ln/>
        </p:spPr>
        <p:txBody>
          <a:bodyPr wrap="square" rtlCol="0" anchor="ctr"/>
          <a:lstStyle/>
          <a:p>
            <a:pPr algn="ctr" indent="0" marL="0">
              <a:buNone/>
            </a:pPr>
            <a:r>
              <a:rPr lang="en-US" sz="1000" dirty="0">
                <a:solidFill>
                  <a:srgbClr val="C4C8C0"/>
                </a:solidFill>
                <a:latin typeface="Arial" pitchFamily="34" charset="0"/>
                <a:ea typeface="Arial" pitchFamily="34" charset="-122"/>
                <a:cs typeface="Arial" pitchFamily="34" charset="-120"/>
              </a:rPr>
              <a:t>Secrets stay server-side</a:t>
            </a:r>
            <a:endParaRPr lang="en-US" sz="1000" dirty="0"/>
          </a:p>
        </p:txBody>
      </p:sp>
      <p:sp>
        <p:nvSpPr>
          <p:cNvPr id="22" name="Shape 20"/>
          <p:cNvSpPr/>
          <p:nvPr/>
        </p:nvSpPr>
        <p:spPr>
          <a:xfrm>
            <a:off x="3374136" y="4892040"/>
            <a:ext cx="2697480" cy="566928"/>
          </a:xfrm>
          <a:prstGeom prst="roundRect">
            <a:avLst>
              <a:gd name="adj" fmla="val 50000"/>
            </a:avLst>
          </a:prstGeom>
          <a:solidFill>
            <a:srgbClr val="1C1F24"/>
          </a:solidFill>
          <a:ln w="12700">
            <a:solidFill>
              <a:srgbClr val="2C2F34"/>
            </a:solidFill>
            <a:prstDash val="solid"/>
          </a:ln>
        </p:spPr>
      </p:sp>
      <p:sp>
        <p:nvSpPr>
          <p:cNvPr id="23" name="Text 21"/>
          <p:cNvSpPr/>
          <p:nvPr/>
        </p:nvSpPr>
        <p:spPr>
          <a:xfrm>
            <a:off x="3465576" y="4892040"/>
            <a:ext cx="2514600" cy="566928"/>
          </a:xfrm>
          <a:prstGeom prst="rect">
            <a:avLst/>
          </a:prstGeom>
          <a:noFill/>
          <a:ln/>
        </p:spPr>
        <p:txBody>
          <a:bodyPr wrap="square" rtlCol="0" anchor="ctr"/>
          <a:lstStyle/>
          <a:p>
            <a:pPr algn="ctr" indent="0" marL="0">
              <a:buNone/>
            </a:pPr>
            <a:r>
              <a:rPr lang="en-US" sz="1000" dirty="0">
                <a:solidFill>
                  <a:srgbClr val="C4C8C0"/>
                </a:solidFill>
                <a:latin typeface="Arial" pitchFamily="34" charset="0"/>
                <a:ea typeface="Arial" pitchFamily="34" charset="-122"/>
                <a:cs typeface="Arial" pitchFamily="34" charset="-120"/>
              </a:rPr>
              <a:t>httpOnly session cookie</a:t>
            </a:r>
            <a:endParaRPr lang="en-US" sz="1000" dirty="0"/>
          </a:p>
        </p:txBody>
      </p:sp>
      <p:sp>
        <p:nvSpPr>
          <p:cNvPr id="24" name="Shape 22"/>
          <p:cNvSpPr/>
          <p:nvPr/>
        </p:nvSpPr>
        <p:spPr>
          <a:xfrm>
            <a:off x="6181344" y="4892040"/>
            <a:ext cx="2697480" cy="566928"/>
          </a:xfrm>
          <a:prstGeom prst="roundRect">
            <a:avLst>
              <a:gd name="adj" fmla="val 50000"/>
            </a:avLst>
          </a:prstGeom>
          <a:solidFill>
            <a:srgbClr val="1C1F24"/>
          </a:solidFill>
          <a:ln w="12700">
            <a:solidFill>
              <a:srgbClr val="2C2F34"/>
            </a:solidFill>
            <a:prstDash val="solid"/>
          </a:ln>
        </p:spPr>
      </p:sp>
      <p:sp>
        <p:nvSpPr>
          <p:cNvPr id="25" name="Text 23"/>
          <p:cNvSpPr/>
          <p:nvPr/>
        </p:nvSpPr>
        <p:spPr>
          <a:xfrm>
            <a:off x="6272784" y="4892040"/>
            <a:ext cx="2514600" cy="566928"/>
          </a:xfrm>
          <a:prstGeom prst="rect">
            <a:avLst/>
          </a:prstGeom>
          <a:noFill/>
          <a:ln/>
        </p:spPr>
        <p:txBody>
          <a:bodyPr wrap="square" rtlCol="0" anchor="ctr"/>
          <a:lstStyle/>
          <a:p>
            <a:pPr algn="ctr" indent="0" marL="0">
              <a:buNone/>
            </a:pPr>
            <a:r>
              <a:rPr lang="en-US" sz="1000" dirty="0">
                <a:solidFill>
                  <a:srgbClr val="C4C8C0"/>
                </a:solidFill>
                <a:latin typeface="Arial" pitchFamily="34" charset="0"/>
                <a:ea typeface="Arial" pitchFamily="34" charset="-122"/>
                <a:cs typeface="Arial" pitchFamily="34" charset="-120"/>
              </a:rPr>
              <a:t>Runs fully offline in mock mode</a:t>
            </a:r>
            <a:endParaRPr lang="en-US" sz="1000" dirty="0"/>
          </a:p>
        </p:txBody>
      </p:sp>
      <p:sp>
        <p:nvSpPr>
          <p:cNvPr id="26" name="Shape 24"/>
          <p:cNvSpPr/>
          <p:nvPr/>
        </p:nvSpPr>
        <p:spPr>
          <a:xfrm>
            <a:off x="8988552" y="4892040"/>
            <a:ext cx="2697480" cy="566928"/>
          </a:xfrm>
          <a:prstGeom prst="roundRect">
            <a:avLst>
              <a:gd name="adj" fmla="val 50000"/>
            </a:avLst>
          </a:prstGeom>
          <a:solidFill>
            <a:srgbClr val="1C1F24"/>
          </a:solidFill>
          <a:ln w="12700">
            <a:solidFill>
              <a:srgbClr val="2C2F34"/>
            </a:solidFill>
            <a:prstDash val="solid"/>
          </a:ln>
        </p:spPr>
      </p:sp>
      <p:sp>
        <p:nvSpPr>
          <p:cNvPr id="27" name="Text 25"/>
          <p:cNvSpPr/>
          <p:nvPr/>
        </p:nvSpPr>
        <p:spPr>
          <a:xfrm>
            <a:off x="9079992" y="4892040"/>
            <a:ext cx="2514600" cy="566928"/>
          </a:xfrm>
          <a:prstGeom prst="rect">
            <a:avLst/>
          </a:prstGeom>
          <a:noFill/>
          <a:ln/>
        </p:spPr>
        <p:txBody>
          <a:bodyPr wrap="square" rtlCol="0" anchor="ctr"/>
          <a:lstStyle/>
          <a:p>
            <a:pPr algn="ctr" indent="0" marL="0">
              <a:buNone/>
            </a:pPr>
            <a:r>
              <a:rPr lang="en-US" sz="1000" dirty="0">
                <a:solidFill>
                  <a:srgbClr val="C4C8C0"/>
                </a:solidFill>
                <a:latin typeface="Arial" pitchFamily="34" charset="0"/>
                <a:ea typeface="Arial" pitchFamily="34" charset="-122"/>
                <a:cs typeface="Arial" pitchFamily="34" charset="-120"/>
              </a:rPr>
              <a:t>Identical business rules in both modes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THE SALESFORCE SIDE</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3000" b="1" dirty="0">
                <a:solidFill>
                  <a:srgbClr val="F3F4F1"/>
                </a:solidFill>
                <a:latin typeface="Arial" pitchFamily="34" charset="0"/>
                <a:ea typeface="Arial" pitchFamily="34" charset="-122"/>
                <a:cs typeface="Arial" pitchFamily="34" charset="-120"/>
              </a:rPr>
              <a:t>Standard-first data model</a:t>
            </a:r>
            <a:endParaRPr lang="en-US" sz="30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Provisioned in one command — npm run sf:setup</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5 / 12</a:t>
            </a:r>
            <a:endParaRPr lang="en-US" sz="950" dirty="0"/>
          </a:p>
        </p:txBody>
      </p:sp>
      <p:sp>
        <p:nvSpPr>
          <p:cNvPr id="9" name="Shape 7"/>
          <p:cNvSpPr/>
          <p:nvPr/>
        </p:nvSpPr>
        <p:spPr>
          <a:xfrm>
            <a:off x="566928" y="6748272"/>
            <a:ext cx="4607433" cy="45720"/>
          </a:xfrm>
          <a:prstGeom prst="rect">
            <a:avLst/>
          </a:prstGeom>
          <a:solidFill>
            <a:srgbClr val="86BC25"/>
          </a:solidFill>
          <a:ln/>
        </p:spPr>
      </p:sp>
      <p:sp>
        <p:nvSpPr>
          <p:cNvPr id="10" name="Text 8"/>
          <p:cNvSpPr/>
          <p:nvPr/>
        </p:nvSpPr>
        <p:spPr>
          <a:xfrm>
            <a:off x="566928" y="2011680"/>
            <a:ext cx="5486400" cy="274320"/>
          </a:xfrm>
          <a:prstGeom prst="rect">
            <a:avLst/>
          </a:prstGeom>
          <a:noFill/>
          <a:ln/>
        </p:spPr>
        <p:txBody>
          <a:bodyPr wrap="square" rtlCol="0" anchor="ctr"/>
          <a:lstStyle/>
          <a:p>
            <a:pPr indent="0" marL="0">
              <a:buNone/>
            </a:pPr>
            <a:r>
              <a:rPr lang="en-US" sz="1100" b="1" spc="200" kern="0" dirty="0">
                <a:solidFill>
                  <a:srgbClr val="86BC25"/>
                </a:solidFill>
                <a:latin typeface="Arial" pitchFamily="34" charset="0"/>
                <a:ea typeface="Arial" pitchFamily="34" charset="-122"/>
                <a:cs typeface="Arial" pitchFamily="34" charset="-120"/>
              </a:rPr>
              <a:t>STANDARD OBJECTS (NO LICENSE ADD-ONS)</a:t>
            </a:r>
            <a:endParaRPr lang="en-US" sz="1100" dirty="0"/>
          </a:p>
        </p:txBody>
      </p:sp>
      <p:sp>
        <p:nvSpPr>
          <p:cNvPr id="11" name="Text 9"/>
          <p:cNvSpPr/>
          <p:nvPr/>
        </p:nvSpPr>
        <p:spPr>
          <a:xfrm>
            <a:off x="566928" y="2423160"/>
            <a:ext cx="5394960" cy="2926080"/>
          </a:xfrm>
          <a:prstGeom prst="rect">
            <a:avLst/>
          </a:prstGeom>
          <a:noFill/>
          <a:ln/>
        </p:spPr>
        <p:txBody>
          <a:bodyPr wrap="square" rtlCol="0" anchor="t"/>
          <a:lstStyle/>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Product2 + Pricebook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 catalog &amp; pricing</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Order + OrderItem + OrderSummary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 orders &amp; OMS</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Person Accounts · Wishlist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 ContactPointAddress</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Case + CaseComment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 Coupon + Promotion</a:t>
            </a:r>
            <a:endParaRPr lang="en-US" sz="1500" dirty="0"/>
          </a:p>
        </p:txBody>
      </p:sp>
      <p:sp>
        <p:nvSpPr>
          <p:cNvPr id="12" name="Text 10"/>
          <p:cNvSpPr/>
          <p:nvPr/>
        </p:nvSpPr>
        <p:spPr>
          <a:xfrm>
            <a:off x="6419088" y="2011680"/>
            <a:ext cx="5486400" cy="274320"/>
          </a:xfrm>
          <a:prstGeom prst="rect">
            <a:avLst/>
          </a:prstGeom>
          <a:noFill/>
          <a:ln/>
        </p:spPr>
        <p:txBody>
          <a:bodyPr wrap="square" rtlCol="0" anchor="ctr"/>
          <a:lstStyle/>
          <a:p>
            <a:pPr indent="0" marL="0">
              <a:buNone/>
            </a:pPr>
            <a:r>
              <a:rPr lang="en-US" sz="1100" b="1" spc="200" kern="0" dirty="0">
                <a:solidFill>
                  <a:srgbClr val="86BC25"/>
                </a:solidFill>
                <a:latin typeface="Arial" pitchFamily="34" charset="0"/>
                <a:ea typeface="Arial" pitchFamily="34" charset="-122"/>
                <a:cs typeface="Arial" pitchFamily="34" charset="-120"/>
              </a:rPr>
              <a:t>MINIMAL CUSTOM (ONLY WHERE NO STANDARD FITS)</a:t>
            </a:r>
            <a:endParaRPr lang="en-US" sz="1100" dirty="0"/>
          </a:p>
        </p:txBody>
      </p:sp>
      <p:sp>
        <p:nvSpPr>
          <p:cNvPr id="13" name="Text 11"/>
          <p:cNvSpPr/>
          <p:nvPr/>
        </p:nvSpPr>
        <p:spPr>
          <a:xfrm>
            <a:off x="6419088" y="2423160"/>
            <a:ext cx="5394960" cy="2926080"/>
          </a:xfrm>
          <a:prstGeom prst="rect">
            <a:avLst/>
          </a:prstGeom>
          <a:noFill/>
          <a:ln/>
        </p:spPr>
        <p:txBody>
          <a:bodyPr wrap="square" rtlCol="0" anchor="t"/>
          <a:lstStyle/>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Order fields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 discount, shipping, promo, tracking</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Product Reviews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 the one custom object left</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One command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 npm run sf:setup provisions it all</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One permission set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 governs field &amp; object access</a:t>
            </a:r>
            <a:endParaRPr lang="en-US" sz="1500" dirty="0"/>
          </a:p>
        </p:txBody>
      </p:sp>
      <p:sp>
        <p:nvSpPr>
          <p:cNvPr id="14" name="Shape 12"/>
          <p:cNvSpPr/>
          <p:nvPr/>
        </p:nvSpPr>
        <p:spPr>
          <a:xfrm>
            <a:off x="566928" y="5532120"/>
            <a:ext cx="11057839" cy="502920"/>
          </a:xfrm>
          <a:prstGeom prst="roundRect">
            <a:avLst>
              <a:gd name="adj" fmla="val 14545"/>
            </a:avLst>
          </a:prstGeom>
          <a:solidFill>
            <a:srgbClr val="1A2410"/>
          </a:solidFill>
          <a:ln w="12700">
            <a:solidFill>
              <a:srgbClr val="86BC25"/>
            </a:solidFill>
            <a:prstDash val="solid"/>
          </a:ln>
        </p:spPr>
      </p:sp>
      <p:sp>
        <p:nvSpPr>
          <p:cNvPr id="15" name="Text 13"/>
          <p:cNvSpPr/>
          <p:nvPr/>
        </p:nvSpPr>
        <p:spPr>
          <a:xfrm>
            <a:off x="749808" y="5532120"/>
            <a:ext cx="10692079" cy="502920"/>
          </a:xfrm>
          <a:prstGeom prst="rect">
            <a:avLst/>
          </a:prstGeom>
          <a:noFill/>
          <a:ln/>
        </p:spPr>
        <p:txBody>
          <a:bodyPr wrap="square" rtlCol="0" anchor="ctr"/>
          <a:lstStyle/>
          <a:p>
            <a:pPr indent="0" marL="0">
              <a:buNone/>
            </a:pPr>
            <a:r>
              <a:rPr lang="en-US" sz="1200" b="1" dirty="0">
                <a:solidFill>
                  <a:srgbClr val="A6DD3B"/>
                </a:solidFill>
                <a:latin typeface="Arial" pitchFamily="34" charset="0"/>
                <a:ea typeface="Arial" pitchFamily="34" charset="-122"/>
                <a:cs typeface="Arial" pitchFamily="34" charset="-120"/>
              </a:rPr>
              <a:t>Governance principle:  </a:t>
            </a:r>
            <a:pPr indent="0" marL="0">
              <a:buNone/>
            </a:pPr>
            <a:r>
              <a:rPr lang="en-US" sz="1200" dirty="0">
                <a:solidFill>
                  <a:srgbClr val="C4C8C0"/>
                </a:solidFill>
                <a:latin typeface="Arial" pitchFamily="34" charset="0"/>
                <a:ea typeface="Arial" pitchFamily="34" charset="-122"/>
                <a:cs typeface="Arial" pitchFamily="34" charset="-120"/>
              </a:rPr>
              <a:t>use a standard object/field wherever one exists; add custom only when nothing standard fits — and document why.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SECURITY &amp; GOVERNANCE</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3000" b="1" dirty="0">
                <a:solidFill>
                  <a:srgbClr val="F3F4F1"/>
                </a:solidFill>
                <a:latin typeface="Arial" pitchFamily="34" charset="0"/>
                <a:ea typeface="Arial" pitchFamily="34" charset="-122"/>
                <a:cs typeface="Arial" pitchFamily="34" charset="-120"/>
              </a:rPr>
              <a:t>Trust is built into the seams</a:t>
            </a:r>
            <a:endParaRPr lang="en-US" sz="30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Secure by construction, not by convention</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6 / 12</a:t>
            </a:r>
            <a:endParaRPr lang="en-US" sz="950" dirty="0"/>
          </a:p>
        </p:txBody>
      </p:sp>
      <p:sp>
        <p:nvSpPr>
          <p:cNvPr id="9" name="Shape 7"/>
          <p:cNvSpPr/>
          <p:nvPr/>
        </p:nvSpPr>
        <p:spPr>
          <a:xfrm>
            <a:off x="566928" y="6748272"/>
            <a:ext cx="5528920" cy="45720"/>
          </a:xfrm>
          <a:prstGeom prst="rect">
            <a:avLst/>
          </a:prstGeom>
          <a:solidFill>
            <a:srgbClr val="86BC25"/>
          </a:solidFill>
          <a:ln/>
        </p:spPr>
      </p:sp>
      <p:sp>
        <p:nvSpPr>
          <p:cNvPr id="10" name="Shape 8"/>
          <p:cNvSpPr/>
          <p:nvPr/>
        </p:nvSpPr>
        <p:spPr>
          <a:xfrm>
            <a:off x="566928" y="2194560"/>
            <a:ext cx="3566160" cy="1645920"/>
          </a:xfrm>
          <a:prstGeom prst="roundRect">
            <a:avLst>
              <a:gd name="adj" fmla="val 3333"/>
            </a:avLst>
          </a:prstGeom>
          <a:solidFill>
            <a:srgbClr val="16181C"/>
          </a:solidFill>
          <a:ln w="12700">
            <a:solidFill>
              <a:srgbClr val="2C2F34"/>
            </a:solidFill>
            <a:prstDash val="solid"/>
          </a:ln>
        </p:spPr>
      </p:sp>
      <p:sp>
        <p:nvSpPr>
          <p:cNvPr id="11" name="Text 9"/>
          <p:cNvSpPr/>
          <p:nvPr/>
        </p:nvSpPr>
        <p:spPr>
          <a:xfrm>
            <a:off x="768096" y="2359152"/>
            <a:ext cx="3163824" cy="131673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CREDENTIALS
</a:t>
            </a:r>
            <a:pPr indent="0" marL="0">
              <a:lnSpc>
                <a:spcPct val="106000"/>
              </a:lnSpc>
              <a:buNone/>
            </a:pPr>
            <a:r>
              <a:rPr lang="en-US" sz="1400" b="1" dirty="0">
                <a:solidFill>
                  <a:srgbClr val="F3F4F1"/>
                </a:solidFill>
                <a:latin typeface="Arial" pitchFamily="34" charset="0"/>
                <a:ea typeface="Arial" pitchFamily="34" charset="-122"/>
                <a:cs typeface="Arial" pitchFamily="34" charset="-120"/>
              </a:rPr>
              <a:t>Server-side only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The Connected App secret lives in the middleware. It is never shipped to, or reachable from, the browser.</a:t>
            </a:r>
            <a:endParaRPr lang="en-US" sz="1000" dirty="0"/>
          </a:p>
        </p:txBody>
      </p:sp>
      <p:sp>
        <p:nvSpPr>
          <p:cNvPr id="12" name="Shape 10"/>
          <p:cNvSpPr/>
          <p:nvPr/>
        </p:nvSpPr>
        <p:spPr>
          <a:xfrm>
            <a:off x="4297680" y="2194560"/>
            <a:ext cx="3566160" cy="1645920"/>
          </a:xfrm>
          <a:prstGeom prst="roundRect">
            <a:avLst>
              <a:gd name="adj" fmla="val 3333"/>
            </a:avLst>
          </a:prstGeom>
          <a:solidFill>
            <a:srgbClr val="16181C"/>
          </a:solidFill>
          <a:ln w="12700">
            <a:solidFill>
              <a:srgbClr val="2C2F34"/>
            </a:solidFill>
            <a:prstDash val="solid"/>
          </a:ln>
        </p:spPr>
      </p:sp>
      <p:sp>
        <p:nvSpPr>
          <p:cNvPr id="13" name="Text 11"/>
          <p:cNvSpPr/>
          <p:nvPr/>
        </p:nvSpPr>
        <p:spPr>
          <a:xfrm>
            <a:off x="4498848" y="2359152"/>
            <a:ext cx="3163824" cy="131673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SESSIONS
</a:t>
            </a:r>
            <a:pPr indent="0" marL="0">
              <a:lnSpc>
                <a:spcPct val="106000"/>
              </a:lnSpc>
              <a:buNone/>
            </a:pPr>
            <a:r>
              <a:rPr lang="en-US" sz="1400" b="1" dirty="0">
                <a:solidFill>
                  <a:srgbClr val="F3F4F1"/>
                </a:solidFill>
                <a:latin typeface="Arial" pitchFamily="34" charset="0"/>
                <a:ea typeface="Arial" pitchFamily="34" charset="-122"/>
                <a:cs typeface="Arial" pitchFamily="34" charset="-120"/>
              </a:rPr>
              <a:t>httpOnly cookie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Login state is a signed, httpOnly cookie — unreadable by page scripts; no tokens in local storage.</a:t>
            </a:r>
            <a:endParaRPr lang="en-US" sz="1000" dirty="0"/>
          </a:p>
        </p:txBody>
      </p:sp>
      <p:sp>
        <p:nvSpPr>
          <p:cNvPr id="14" name="Shape 12"/>
          <p:cNvSpPr/>
          <p:nvPr/>
        </p:nvSpPr>
        <p:spPr>
          <a:xfrm>
            <a:off x="8028432" y="2194560"/>
            <a:ext cx="3566160" cy="1645920"/>
          </a:xfrm>
          <a:prstGeom prst="roundRect">
            <a:avLst>
              <a:gd name="adj" fmla="val 3333"/>
            </a:avLst>
          </a:prstGeom>
          <a:solidFill>
            <a:srgbClr val="16181C"/>
          </a:solidFill>
          <a:ln w="12700">
            <a:solidFill>
              <a:srgbClr val="2C2F34"/>
            </a:solidFill>
            <a:prstDash val="solid"/>
          </a:ln>
        </p:spPr>
      </p:sp>
      <p:sp>
        <p:nvSpPr>
          <p:cNvPr id="15" name="Text 13"/>
          <p:cNvSpPr/>
          <p:nvPr/>
        </p:nvSpPr>
        <p:spPr>
          <a:xfrm>
            <a:off x="8229600" y="2359152"/>
            <a:ext cx="3163824" cy="131673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MONEY &amp; STOCK
</a:t>
            </a:r>
            <a:pPr indent="0" marL="0">
              <a:lnSpc>
                <a:spcPct val="106000"/>
              </a:lnSpc>
              <a:buNone/>
            </a:pPr>
            <a:r>
              <a:rPr lang="en-US" sz="1400" b="1" dirty="0">
                <a:solidFill>
                  <a:srgbClr val="F3F4F1"/>
                </a:solidFill>
                <a:latin typeface="Arial" pitchFamily="34" charset="0"/>
                <a:ea typeface="Arial" pitchFamily="34" charset="-122"/>
                <a:cs typeface="Arial" pitchFamily="34" charset="-120"/>
              </a:rPr>
              <a:t>Server-computed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Totals, discounts and stock are validated server-side against Salesforce. The client is never trusted with price.</a:t>
            </a:r>
            <a:endParaRPr lang="en-US" sz="1000" dirty="0"/>
          </a:p>
        </p:txBody>
      </p:sp>
      <p:sp>
        <p:nvSpPr>
          <p:cNvPr id="16" name="Shape 14"/>
          <p:cNvSpPr/>
          <p:nvPr/>
        </p:nvSpPr>
        <p:spPr>
          <a:xfrm>
            <a:off x="566928" y="4023360"/>
            <a:ext cx="3566160" cy="1645920"/>
          </a:xfrm>
          <a:prstGeom prst="roundRect">
            <a:avLst>
              <a:gd name="adj" fmla="val 3333"/>
            </a:avLst>
          </a:prstGeom>
          <a:solidFill>
            <a:srgbClr val="16181C"/>
          </a:solidFill>
          <a:ln w="12700">
            <a:solidFill>
              <a:srgbClr val="2C2F34"/>
            </a:solidFill>
            <a:prstDash val="solid"/>
          </a:ln>
        </p:spPr>
      </p:sp>
      <p:sp>
        <p:nvSpPr>
          <p:cNvPr id="17" name="Text 15"/>
          <p:cNvSpPr/>
          <p:nvPr/>
        </p:nvSpPr>
        <p:spPr>
          <a:xfrm>
            <a:off x="768096" y="4187952"/>
            <a:ext cx="3163824" cy="131673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ACCESS
</a:t>
            </a:r>
            <a:pPr indent="0" marL="0">
              <a:lnSpc>
                <a:spcPct val="106000"/>
              </a:lnSpc>
              <a:buNone/>
            </a:pPr>
            <a:r>
              <a:rPr lang="en-US" sz="1400" b="1" dirty="0">
                <a:solidFill>
                  <a:srgbClr val="F3F4F1"/>
                </a:solidFill>
                <a:latin typeface="Arial" pitchFamily="34" charset="0"/>
                <a:ea typeface="Arial" pitchFamily="34" charset="-122"/>
                <a:cs typeface="Arial" pitchFamily="34" charset="-120"/>
              </a:rPr>
              <a:t>One permission set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Every custom field/object is granted through a single, reviewable permission set for the integration user.</a:t>
            </a:r>
            <a:endParaRPr lang="en-US" sz="1000" dirty="0"/>
          </a:p>
        </p:txBody>
      </p:sp>
      <p:sp>
        <p:nvSpPr>
          <p:cNvPr id="18" name="Shape 16"/>
          <p:cNvSpPr/>
          <p:nvPr/>
        </p:nvSpPr>
        <p:spPr>
          <a:xfrm>
            <a:off x="4297680" y="4023360"/>
            <a:ext cx="3566160" cy="1645920"/>
          </a:xfrm>
          <a:prstGeom prst="roundRect">
            <a:avLst>
              <a:gd name="adj" fmla="val 3333"/>
            </a:avLst>
          </a:prstGeom>
          <a:solidFill>
            <a:srgbClr val="16181C"/>
          </a:solidFill>
          <a:ln w="12700">
            <a:solidFill>
              <a:srgbClr val="2C2F34"/>
            </a:solidFill>
            <a:prstDash val="solid"/>
          </a:ln>
        </p:spPr>
      </p:sp>
      <p:sp>
        <p:nvSpPr>
          <p:cNvPr id="19" name="Text 17"/>
          <p:cNvSpPr/>
          <p:nvPr/>
        </p:nvSpPr>
        <p:spPr>
          <a:xfrm>
            <a:off x="4498848" y="4187952"/>
            <a:ext cx="3163824" cy="131673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GUEST TRACKING
</a:t>
            </a:r>
            <a:pPr indent="0" marL="0">
              <a:lnSpc>
                <a:spcPct val="106000"/>
              </a:lnSpc>
              <a:buNone/>
            </a:pPr>
            <a:r>
              <a:rPr lang="en-US" sz="1400" b="1" dirty="0">
                <a:solidFill>
                  <a:srgbClr val="F3F4F1"/>
                </a:solidFill>
                <a:latin typeface="Arial" pitchFamily="34" charset="0"/>
                <a:ea typeface="Arial" pitchFamily="34" charset="-122"/>
                <a:cs typeface="Arial" pitchFamily="34" charset="-120"/>
              </a:rPr>
              <a:t>No enumeration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Order tracking requires order # AND the matching email; a mismatch returns a generic “not found”.</a:t>
            </a:r>
            <a:endParaRPr lang="en-US" sz="1000" dirty="0"/>
          </a:p>
        </p:txBody>
      </p:sp>
      <p:sp>
        <p:nvSpPr>
          <p:cNvPr id="20" name="Shape 18"/>
          <p:cNvSpPr/>
          <p:nvPr/>
        </p:nvSpPr>
        <p:spPr>
          <a:xfrm>
            <a:off x="8028432" y="4023360"/>
            <a:ext cx="3566160" cy="1645920"/>
          </a:xfrm>
          <a:prstGeom prst="roundRect">
            <a:avLst>
              <a:gd name="adj" fmla="val 3333"/>
            </a:avLst>
          </a:prstGeom>
          <a:solidFill>
            <a:srgbClr val="16181C"/>
          </a:solidFill>
          <a:ln w="12700">
            <a:solidFill>
              <a:srgbClr val="2C2F34"/>
            </a:solidFill>
            <a:prstDash val="solid"/>
          </a:ln>
        </p:spPr>
      </p:sp>
      <p:sp>
        <p:nvSpPr>
          <p:cNvPr id="21" name="Text 19"/>
          <p:cNvSpPr/>
          <p:nvPr/>
        </p:nvSpPr>
        <p:spPr>
          <a:xfrm>
            <a:off x="8229600" y="4187952"/>
            <a:ext cx="3163824" cy="131673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SUPPORT PRIVACY
</a:t>
            </a:r>
            <a:pPr indent="0" marL="0">
              <a:lnSpc>
                <a:spcPct val="106000"/>
              </a:lnSpc>
              <a:buNone/>
            </a:pPr>
            <a:r>
              <a:rPr lang="en-US" sz="1400" b="1" dirty="0">
                <a:solidFill>
                  <a:srgbClr val="F3F4F1"/>
                </a:solidFill>
                <a:latin typeface="Arial" pitchFamily="34" charset="0"/>
                <a:ea typeface="Arial" pitchFamily="34" charset="-122"/>
                <a:cs typeface="Arial" pitchFamily="34" charset="-120"/>
              </a:rPr>
              <a:t>Public replies only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Customers see only public case comments — internal notes never leak to the storefront.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CORE FLOW</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3000" b="1" dirty="0">
                <a:solidFill>
                  <a:srgbClr val="F3F4F1"/>
                </a:solidFill>
                <a:latin typeface="Arial" pitchFamily="34" charset="0"/>
                <a:ea typeface="Arial" pitchFamily="34" charset="-122"/>
                <a:cs typeface="Arial" pitchFamily="34" charset="-120"/>
              </a:rPr>
              <a:t>From cart to a real Salesforce order</a:t>
            </a:r>
            <a:endParaRPr lang="en-US" sz="30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The merchant runs fulfilment in Salesforce — the UI just reads Status</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7 / 12</a:t>
            </a:r>
            <a:endParaRPr lang="en-US" sz="950" dirty="0"/>
          </a:p>
        </p:txBody>
      </p:sp>
      <p:sp>
        <p:nvSpPr>
          <p:cNvPr id="9" name="Shape 7"/>
          <p:cNvSpPr/>
          <p:nvPr/>
        </p:nvSpPr>
        <p:spPr>
          <a:xfrm>
            <a:off x="566928" y="6748272"/>
            <a:ext cx="6450406" cy="45720"/>
          </a:xfrm>
          <a:prstGeom prst="rect">
            <a:avLst/>
          </a:prstGeom>
          <a:solidFill>
            <a:srgbClr val="86BC25"/>
          </a:solidFill>
          <a:ln/>
        </p:spPr>
      </p:sp>
      <p:sp>
        <p:nvSpPr>
          <p:cNvPr id="10" name="Shape 8"/>
          <p:cNvSpPr/>
          <p:nvPr/>
        </p:nvSpPr>
        <p:spPr>
          <a:xfrm>
            <a:off x="566928" y="2468880"/>
            <a:ext cx="2103120" cy="1828800"/>
          </a:xfrm>
          <a:prstGeom prst="roundRect">
            <a:avLst>
              <a:gd name="adj" fmla="val 3000"/>
            </a:avLst>
          </a:prstGeom>
          <a:solidFill>
            <a:srgbClr val="16181C"/>
          </a:solidFill>
          <a:ln w="12700">
            <a:solidFill>
              <a:srgbClr val="2C2F34"/>
            </a:solidFill>
            <a:prstDash val="solid"/>
          </a:ln>
        </p:spPr>
      </p:sp>
      <p:sp>
        <p:nvSpPr>
          <p:cNvPr id="11" name="Text 9"/>
          <p:cNvSpPr/>
          <p:nvPr/>
        </p:nvSpPr>
        <p:spPr>
          <a:xfrm>
            <a:off x="768096" y="2633472"/>
            <a:ext cx="1700784" cy="149961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01
</a:t>
            </a:r>
            <a:pPr indent="0" marL="0">
              <a:lnSpc>
                <a:spcPct val="106000"/>
              </a:lnSpc>
              <a:buNone/>
            </a:pPr>
            <a:r>
              <a:rPr lang="en-US" sz="1300" b="1" dirty="0">
                <a:solidFill>
                  <a:srgbClr val="F3F4F1"/>
                </a:solidFill>
                <a:latin typeface="Arial" pitchFamily="34" charset="0"/>
                <a:ea typeface="Arial" pitchFamily="34" charset="-122"/>
                <a:cs typeface="Arial" pitchFamily="34" charset="-120"/>
              </a:rPr>
              <a:t>Browse &amp; search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Filter, sort, discover</a:t>
            </a:r>
            <a:endParaRPr lang="en-US" sz="1000" dirty="0"/>
          </a:p>
        </p:txBody>
      </p:sp>
      <p:sp>
        <p:nvSpPr>
          <p:cNvPr id="12" name="Text 10"/>
          <p:cNvSpPr/>
          <p:nvPr/>
        </p:nvSpPr>
        <p:spPr>
          <a:xfrm>
            <a:off x="2651760" y="3108960"/>
            <a:ext cx="146304" cy="548640"/>
          </a:xfrm>
          <a:prstGeom prst="rect">
            <a:avLst/>
          </a:prstGeom>
          <a:noFill/>
          <a:ln/>
        </p:spPr>
        <p:txBody>
          <a:bodyPr wrap="square" rtlCol="0" anchor="ctr"/>
          <a:lstStyle/>
          <a:p>
            <a:pPr algn="ctr" indent="0" marL="0">
              <a:buNone/>
            </a:pPr>
            <a:r>
              <a:rPr lang="en-US" sz="1400" dirty="0">
                <a:solidFill>
                  <a:srgbClr val="8E948B"/>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2798064" y="2468880"/>
            <a:ext cx="2103120" cy="1828800"/>
          </a:xfrm>
          <a:prstGeom prst="roundRect">
            <a:avLst>
              <a:gd name="adj" fmla="val 3000"/>
            </a:avLst>
          </a:prstGeom>
          <a:solidFill>
            <a:srgbClr val="16181C"/>
          </a:solidFill>
          <a:ln w="12700">
            <a:solidFill>
              <a:srgbClr val="2C2F34"/>
            </a:solidFill>
            <a:prstDash val="solid"/>
          </a:ln>
        </p:spPr>
      </p:sp>
      <p:sp>
        <p:nvSpPr>
          <p:cNvPr id="14" name="Text 12"/>
          <p:cNvSpPr/>
          <p:nvPr/>
        </p:nvSpPr>
        <p:spPr>
          <a:xfrm>
            <a:off x="2999232" y="2633472"/>
            <a:ext cx="1700784" cy="149961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02
</a:t>
            </a:r>
            <a:pPr indent="0" marL="0">
              <a:lnSpc>
                <a:spcPct val="106000"/>
              </a:lnSpc>
              <a:buNone/>
            </a:pPr>
            <a:r>
              <a:rPr lang="en-US" sz="1300" b="1" dirty="0">
                <a:solidFill>
                  <a:srgbClr val="F3F4F1"/>
                </a:solidFill>
                <a:latin typeface="Arial" pitchFamily="34" charset="0"/>
                <a:ea typeface="Arial" pitchFamily="34" charset="-122"/>
                <a:cs typeface="Arial" pitchFamily="34" charset="-120"/>
              </a:rPr>
              <a:t>Cart &amp; checkout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Promo, tax + payment</a:t>
            </a:r>
            <a:endParaRPr lang="en-US" sz="1000" dirty="0"/>
          </a:p>
        </p:txBody>
      </p:sp>
      <p:sp>
        <p:nvSpPr>
          <p:cNvPr id="15" name="Text 13"/>
          <p:cNvSpPr/>
          <p:nvPr/>
        </p:nvSpPr>
        <p:spPr>
          <a:xfrm>
            <a:off x="4882896" y="3108960"/>
            <a:ext cx="146304" cy="548640"/>
          </a:xfrm>
          <a:prstGeom prst="rect">
            <a:avLst/>
          </a:prstGeom>
          <a:noFill/>
          <a:ln/>
        </p:spPr>
        <p:txBody>
          <a:bodyPr wrap="square" rtlCol="0" anchor="ctr"/>
          <a:lstStyle/>
          <a:p>
            <a:pPr algn="ctr" indent="0" marL="0">
              <a:buNone/>
            </a:pPr>
            <a:r>
              <a:rPr lang="en-US" sz="1400" dirty="0">
                <a:solidFill>
                  <a:srgbClr val="8E948B"/>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5029200" y="2468880"/>
            <a:ext cx="2103120" cy="1828800"/>
          </a:xfrm>
          <a:prstGeom prst="roundRect">
            <a:avLst>
              <a:gd name="adj" fmla="val 3000"/>
            </a:avLst>
          </a:prstGeom>
          <a:solidFill>
            <a:srgbClr val="1A2410"/>
          </a:solidFill>
          <a:ln w="12700">
            <a:solidFill>
              <a:srgbClr val="86BC25"/>
            </a:solidFill>
            <a:prstDash val="solid"/>
          </a:ln>
        </p:spPr>
      </p:sp>
      <p:sp>
        <p:nvSpPr>
          <p:cNvPr id="17" name="Text 15"/>
          <p:cNvSpPr/>
          <p:nvPr/>
        </p:nvSpPr>
        <p:spPr>
          <a:xfrm>
            <a:off x="5230368" y="2633472"/>
            <a:ext cx="1700784" cy="149961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03
</a:t>
            </a:r>
            <a:pPr indent="0" marL="0">
              <a:lnSpc>
                <a:spcPct val="106000"/>
              </a:lnSpc>
              <a:buNone/>
            </a:pPr>
            <a:r>
              <a:rPr lang="en-US" sz="1300" b="1" dirty="0">
                <a:solidFill>
                  <a:srgbClr val="F3F4F1"/>
                </a:solidFill>
                <a:latin typeface="Arial" pitchFamily="34" charset="0"/>
                <a:ea typeface="Arial" pitchFamily="34" charset="-122"/>
                <a:cs typeface="Arial" pitchFamily="34" charset="-120"/>
              </a:rPr>
              <a:t>Order in Salesforce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Order + OrderSummary on pay</a:t>
            </a:r>
            <a:endParaRPr lang="en-US" sz="1000" dirty="0"/>
          </a:p>
        </p:txBody>
      </p:sp>
      <p:sp>
        <p:nvSpPr>
          <p:cNvPr id="18" name="Text 16"/>
          <p:cNvSpPr/>
          <p:nvPr/>
        </p:nvSpPr>
        <p:spPr>
          <a:xfrm>
            <a:off x="7114032" y="3108960"/>
            <a:ext cx="146304" cy="548640"/>
          </a:xfrm>
          <a:prstGeom prst="rect">
            <a:avLst/>
          </a:prstGeom>
          <a:noFill/>
          <a:ln/>
        </p:spPr>
        <p:txBody>
          <a:bodyPr wrap="square" rtlCol="0" anchor="ctr"/>
          <a:lstStyle/>
          <a:p>
            <a:pPr algn="ctr" indent="0" marL="0">
              <a:buNone/>
            </a:pPr>
            <a:r>
              <a:rPr lang="en-US" sz="1400" dirty="0">
                <a:solidFill>
                  <a:srgbClr val="8E948B"/>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7260336" y="2468880"/>
            <a:ext cx="2103120" cy="1828800"/>
          </a:xfrm>
          <a:prstGeom prst="roundRect">
            <a:avLst>
              <a:gd name="adj" fmla="val 3000"/>
            </a:avLst>
          </a:prstGeom>
          <a:solidFill>
            <a:srgbClr val="1A2410"/>
          </a:solidFill>
          <a:ln w="12700">
            <a:solidFill>
              <a:srgbClr val="86BC25"/>
            </a:solidFill>
            <a:prstDash val="solid"/>
          </a:ln>
        </p:spPr>
      </p:sp>
      <p:sp>
        <p:nvSpPr>
          <p:cNvPr id="20" name="Text 18"/>
          <p:cNvSpPr/>
          <p:nvPr/>
        </p:nvSpPr>
        <p:spPr>
          <a:xfrm>
            <a:off x="7461504" y="2633472"/>
            <a:ext cx="1700784" cy="149961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04
</a:t>
            </a:r>
            <a:pPr indent="0" marL="0">
              <a:lnSpc>
                <a:spcPct val="106000"/>
              </a:lnSpc>
              <a:buNone/>
            </a:pPr>
            <a:r>
              <a:rPr lang="en-US" sz="1300" b="1" dirty="0">
                <a:solidFill>
                  <a:srgbClr val="F3F4F1"/>
                </a:solidFill>
                <a:latin typeface="Arial" pitchFamily="34" charset="0"/>
                <a:ea typeface="Arial" pitchFamily="34" charset="-122"/>
                <a:cs typeface="Arial" pitchFamily="34" charset="-120"/>
              </a:rPr>
              <a:t>Merchant fulfils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Shipped → Completed</a:t>
            </a:r>
            <a:endParaRPr lang="en-US" sz="1000" dirty="0"/>
          </a:p>
        </p:txBody>
      </p:sp>
      <p:sp>
        <p:nvSpPr>
          <p:cNvPr id="21" name="Text 19"/>
          <p:cNvSpPr/>
          <p:nvPr/>
        </p:nvSpPr>
        <p:spPr>
          <a:xfrm>
            <a:off x="9345168" y="3108960"/>
            <a:ext cx="146304" cy="548640"/>
          </a:xfrm>
          <a:prstGeom prst="rect">
            <a:avLst/>
          </a:prstGeom>
          <a:noFill/>
          <a:ln/>
        </p:spPr>
        <p:txBody>
          <a:bodyPr wrap="square" rtlCol="0" anchor="ctr"/>
          <a:lstStyle/>
          <a:p>
            <a:pPr algn="ctr" indent="0" marL="0">
              <a:buNone/>
            </a:pPr>
            <a:r>
              <a:rPr lang="en-US" sz="1400" dirty="0">
                <a:solidFill>
                  <a:srgbClr val="8E948B"/>
                </a:solidFill>
                <a:latin typeface="Arial" pitchFamily="34" charset="0"/>
                <a:ea typeface="Arial" pitchFamily="34" charset="-122"/>
                <a:cs typeface="Arial" pitchFamily="34" charset="-120"/>
              </a:rPr>
              <a:t>→</a:t>
            </a:r>
            <a:endParaRPr lang="en-US" sz="1400" dirty="0"/>
          </a:p>
        </p:txBody>
      </p:sp>
      <p:sp>
        <p:nvSpPr>
          <p:cNvPr id="22" name="Shape 20"/>
          <p:cNvSpPr/>
          <p:nvPr/>
        </p:nvSpPr>
        <p:spPr>
          <a:xfrm>
            <a:off x="9491472" y="2468880"/>
            <a:ext cx="2103120" cy="1828800"/>
          </a:xfrm>
          <a:prstGeom prst="roundRect">
            <a:avLst>
              <a:gd name="adj" fmla="val 3000"/>
            </a:avLst>
          </a:prstGeom>
          <a:solidFill>
            <a:srgbClr val="16181C"/>
          </a:solidFill>
          <a:ln w="12700">
            <a:solidFill>
              <a:srgbClr val="2C2F34"/>
            </a:solidFill>
            <a:prstDash val="solid"/>
          </a:ln>
        </p:spPr>
      </p:sp>
      <p:sp>
        <p:nvSpPr>
          <p:cNvPr id="23" name="Text 21"/>
          <p:cNvSpPr/>
          <p:nvPr/>
        </p:nvSpPr>
        <p:spPr>
          <a:xfrm>
            <a:off x="9692640" y="2633472"/>
            <a:ext cx="1700784" cy="149961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05
</a:t>
            </a:r>
            <a:pPr indent="0" marL="0">
              <a:lnSpc>
                <a:spcPct val="106000"/>
              </a:lnSpc>
              <a:buNone/>
            </a:pPr>
            <a:r>
              <a:rPr lang="en-US" sz="1300" b="1" dirty="0">
                <a:solidFill>
                  <a:srgbClr val="F3F4F1"/>
                </a:solidFill>
                <a:latin typeface="Arial" pitchFamily="34" charset="0"/>
                <a:ea typeface="Arial" pitchFamily="34" charset="-122"/>
                <a:cs typeface="Arial" pitchFamily="34" charset="-120"/>
              </a:rPr>
              <a:t>Storefront reflects it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Status streams back live</a:t>
            </a:r>
            <a:endParaRPr lang="en-US" sz="1000" dirty="0"/>
          </a:p>
        </p:txBody>
      </p:sp>
      <p:sp>
        <p:nvSpPr>
          <p:cNvPr id="24" name="Shape 22"/>
          <p:cNvSpPr/>
          <p:nvPr/>
        </p:nvSpPr>
        <p:spPr>
          <a:xfrm>
            <a:off x="566928" y="5029200"/>
            <a:ext cx="3611880" cy="548640"/>
          </a:xfrm>
          <a:prstGeom prst="roundRect">
            <a:avLst>
              <a:gd name="adj" fmla="val 50000"/>
            </a:avLst>
          </a:prstGeom>
          <a:solidFill>
            <a:srgbClr val="1C1F24"/>
          </a:solidFill>
          <a:ln w="12700">
            <a:solidFill>
              <a:srgbClr val="2C2F34"/>
            </a:solidFill>
            <a:prstDash val="solid"/>
          </a:ln>
        </p:spPr>
      </p:sp>
      <p:sp>
        <p:nvSpPr>
          <p:cNvPr id="25" name="Text 23"/>
          <p:cNvSpPr/>
          <p:nvPr/>
        </p:nvSpPr>
        <p:spPr>
          <a:xfrm>
            <a:off x="658368" y="5029200"/>
            <a:ext cx="3429000" cy="548640"/>
          </a:xfrm>
          <a:prstGeom prst="rect">
            <a:avLst/>
          </a:prstGeom>
          <a:noFill/>
          <a:ln/>
        </p:spPr>
        <p:txBody>
          <a:bodyPr wrap="square" rtlCol="0" anchor="ctr"/>
          <a:lstStyle/>
          <a:p>
            <a:pPr algn="ctr" indent="0" marL="0">
              <a:buNone/>
            </a:pPr>
            <a:r>
              <a:rPr lang="en-US" sz="1050" dirty="0">
                <a:solidFill>
                  <a:srgbClr val="C4C8C0"/>
                </a:solidFill>
                <a:latin typeface="Arial" pitchFamily="34" charset="0"/>
                <a:ea typeface="Arial" pitchFamily="34" charset="-122"/>
                <a:cs typeface="Arial" pitchFamily="34" charset="-120"/>
              </a:rPr>
              <a:t>Totals computed server-side</a:t>
            </a:r>
            <a:endParaRPr lang="en-US" sz="1050" dirty="0"/>
          </a:p>
        </p:txBody>
      </p:sp>
      <p:sp>
        <p:nvSpPr>
          <p:cNvPr id="26" name="Shape 24"/>
          <p:cNvSpPr/>
          <p:nvPr/>
        </p:nvSpPr>
        <p:spPr>
          <a:xfrm>
            <a:off x="4306824" y="5029200"/>
            <a:ext cx="3611880" cy="548640"/>
          </a:xfrm>
          <a:prstGeom prst="roundRect">
            <a:avLst>
              <a:gd name="adj" fmla="val 50000"/>
            </a:avLst>
          </a:prstGeom>
          <a:solidFill>
            <a:srgbClr val="1C1F24"/>
          </a:solidFill>
          <a:ln w="12700">
            <a:solidFill>
              <a:srgbClr val="2C2F34"/>
            </a:solidFill>
            <a:prstDash val="solid"/>
          </a:ln>
        </p:spPr>
      </p:sp>
      <p:sp>
        <p:nvSpPr>
          <p:cNvPr id="27" name="Text 25"/>
          <p:cNvSpPr/>
          <p:nvPr/>
        </p:nvSpPr>
        <p:spPr>
          <a:xfrm>
            <a:off x="4398264" y="5029200"/>
            <a:ext cx="3429000" cy="548640"/>
          </a:xfrm>
          <a:prstGeom prst="rect">
            <a:avLst/>
          </a:prstGeom>
          <a:noFill/>
          <a:ln/>
        </p:spPr>
        <p:txBody>
          <a:bodyPr wrap="square" rtlCol="0" anchor="ctr"/>
          <a:lstStyle/>
          <a:p>
            <a:pPr algn="ctr" indent="0" marL="0">
              <a:buNone/>
            </a:pPr>
            <a:r>
              <a:rPr lang="en-US" sz="1050" dirty="0">
                <a:solidFill>
                  <a:srgbClr val="C4C8C0"/>
                </a:solidFill>
                <a:latin typeface="Arial" pitchFamily="34" charset="0"/>
                <a:ea typeface="Arial" pitchFamily="34" charset="-122"/>
                <a:cs typeface="Arial" pitchFamily="34" charset="-120"/>
              </a:rPr>
              <a:t>Live stock check against Salesforce</a:t>
            </a:r>
            <a:endParaRPr lang="en-US" sz="1050" dirty="0"/>
          </a:p>
        </p:txBody>
      </p:sp>
      <p:sp>
        <p:nvSpPr>
          <p:cNvPr id="28" name="Shape 26"/>
          <p:cNvSpPr/>
          <p:nvPr/>
        </p:nvSpPr>
        <p:spPr>
          <a:xfrm>
            <a:off x="8046720" y="5029200"/>
            <a:ext cx="3611880" cy="548640"/>
          </a:xfrm>
          <a:prstGeom prst="roundRect">
            <a:avLst>
              <a:gd name="adj" fmla="val 50000"/>
            </a:avLst>
          </a:prstGeom>
          <a:solidFill>
            <a:srgbClr val="1C1F24"/>
          </a:solidFill>
          <a:ln w="12700">
            <a:solidFill>
              <a:srgbClr val="2C2F34"/>
            </a:solidFill>
            <a:prstDash val="solid"/>
          </a:ln>
        </p:spPr>
      </p:sp>
      <p:sp>
        <p:nvSpPr>
          <p:cNvPr id="29" name="Text 27"/>
          <p:cNvSpPr/>
          <p:nvPr/>
        </p:nvSpPr>
        <p:spPr>
          <a:xfrm>
            <a:off x="8138160" y="5029200"/>
            <a:ext cx="3429000" cy="548640"/>
          </a:xfrm>
          <a:prstGeom prst="rect">
            <a:avLst/>
          </a:prstGeom>
          <a:noFill/>
          <a:ln/>
        </p:spPr>
        <p:txBody>
          <a:bodyPr wrap="square" rtlCol="0" anchor="ctr"/>
          <a:lstStyle/>
          <a:p>
            <a:pPr algn="ctr" indent="0" marL="0">
              <a:buNone/>
            </a:pPr>
            <a:r>
              <a:rPr lang="en-US" sz="1050" dirty="0">
                <a:solidFill>
                  <a:srgbClr val="C4C8C0"/>
                </a:solidFill>
                <a:latin typeface="Arial" pitchFamily="34" charset="0"/>
                <a:ea typeface="Arial" pitchFamily="34" charset="-122"/>
                <a:cs typeface="Arial" pitchFamily="34" charset="-120"/>
              </a:rPr>
              <a:t>Payment taken before the order is written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REAL-TIME &amp; IDENTITY</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3000" b="1" dirty="0">
                <a:solidFill>
                  <a:srgbClr val="F3F4F1"/>
                </a:solidFill>
                <a:latin typeface="Arial" pitchFamily="34" charset="0"/>
                <a:ea typeface="Arial" pitchFamily="34" charset="-122"/>
                <a:cs typeface="Arial" pitchFamily="34" charset="-120"/>
              </a:rPr>
              <a:t>A live, customer-aware storefront</a:t>
            </a:r>
            <a:endParaRPr lang="en-US" sz="30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Advanced platform tech — verified live on the org</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8 / 12</a:t>
            </a:r>
            <a:endParaRPr lang="en-US" sz="950" dirty="0"/>
          </a:p>
        </p:txBody>
      </p:sp>
      <p:sp>
        <p:nvSpPr>
          <p:cNvPr id="9" name="Shape 7"/>
          <p:cNvSpPr/>
          <p:nvPr/>
        </p:nvSpPr>
        <p:spPr>
          <a:xfrm>
            <a:off x="566928" y="6748272"/>
            <a:ext cx="7371893" cy="45720"/>
          </a:xfrm>
          <a:prstGeom prst="rect">
            <a:avLst/>
          </a:prstGeom>
          <a:solidFill>
            <a:srgbClr val="86BC25"/>
          </a:solidFill>
          <a:ln/>
        </p:spPr>
      </p:sp>
      <p:sp>
        <p:nvSpPr>
          <p:cNvPr id="10" name="Shape 8"/>
          <p:cNvSpPr/>
          <p:nvPr/>
        </p:nvSpPr>
        <p:spPr>
          <a:xfrm>
            <a:off x="566928" y="2194560"/>
            <a:ext cx="5440680" cy="3017520"/>
          </a:xfrm>
          <a:prstGeom prst="roundRect">
            <a:avLst>
              <a:gd name="adj" fmla="val 1818"/>
            </a:avLst>
          </a:prstGeom>
          <a:solidFill>
            <a:srgbClr val="16181C"/>
          </a:solidFill>
          <a:ln w="12700">
            <a:solidFill>
              <a:srgbClr val="2C2F34"/>
            </a:solidFill>
            <a:prstDash val="solid"/>
          </a:ln>
        </p:spPr>
      </p:sp>
      <p:sp>
        <p:nvSpPr>
          <p:cNvPr id="11" name="Text 9"/>
          <p:cNvSpPr/>
          <p:nvPr/>
        </p:nvSpPr>
        <p:spPr>
          <a:xfrm>
            <a:off x="768096" y="2359152"/>
            <a:ext cx="5038344" cy="268833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CUSTOMERS
</a:t>
            </a:r>
            <a:pPr indent="0" marL="0">
              <a:lnSpc>
                <a:spcPct val="106000"/>
              </a:lnSpc>
              <a:buNone/>
            </a:pPr>
            <a:r>
              <a:rPr lang="en-US" sz="2000" b="1" dirty="0">
                <a:solidFill>
                  <a:srgbClr val="F3F4F1"/>
                </a:solidFill>
                <a:latin typeface="Arial" pitchFamily="34" charset="0"/>
                <a:ea typeface="Arial" pitchFamily="34" charset="-122"/>
                <a:cs typeface="Arial" pitchFamily="34" charset="-120"/>
              </a:rPr>
              <a:t>Person Accounts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Registering creates a Salesforce Person Account — Account + Contact in one record. Every order rolls up to that customer’s own account, so the business sees a real customer, not an anonymous row. Guests still check out; their orders use a shared account.</a:t>
            </a:r>
            <a:endParaRPr lang="en-US" sz="1000" dirty="0"/>
          </a:p>
        </p:txBody>
      </p:sp>
      <p:sp>
        <p:nvSpPr>
          <p:cNvPr id="12" name="Shape 10"/>
          <p:cNvSpPr/>
          <p:nvPr/>
        </p:nvSpPr>
        <p:spPr>
          <a:xfrm>
            <a:off x="6190488" y="2194560"/>
            <a:ext cx="5440680" cy="3017520"/>
          </a:xfrm>
          <a:prstGeom prst="roundRect">
            <a:avLst>
              <a:gd name="adj" fmla="val 1818"/>
            </a:avLst>
          </a:prstGeom>
          <a:solidFill>
            <a:srgbClr val="1A2410"/>
          </a:solidFill>
          <a:ln w="12700">
            <a:solidFill>
              <a:srgbClr val="86BC25"/>
            </a:solidFill>
            <a:prstDash val="solid"/>
          </a:ln>
        </p:spPr>
      </p:sp>
      <p:sp>
        <p:nvSpPr>
          <p:cNvPr id="13" name="Text 11"/>
          <p:cNvSpPr/>
          <p:nvPr/>
        </p:nvSpPr>
        <p:spPr>
          <a:xfrm>
            <a:off x="6391656" y="2359152"/>
            <a:ext cx="5038344" cy="2688336"/>
          </a:xfrm>
          <a:prstGeom prst="rect">
            <a:avLst/>
          </a:prstGeom>
          <a:noFill/>
          <a:ln/>
        </p:spPr>
        <p:txBody>
          <a:bodyPr wrap="square" rtlCol="0" anchor="t"/>
          <a:lstStyle/>
          <a:p>
            <a:pPr indent="0" marL="0">
              <a:lnSpc>
                <a:spcPct val="106000"/>
              </a:lnSpc>
              <a:buNone/>
            </a:pPr>
            <a:r>
              <a:rPr lang="en-US" sz="1000" b="1" spc="200" kern="0" dirty="0">
                <a:solidFill>
                  <a:srgbClr val="86BC25"/>
                </a:solidFill>
                <a:latin typeface="Arial" pitchFamily="34" charset="0"/>
                <a:ea typeface="Arial" pitchFamily="34" charset="-122"/>
                <a:cs typeface="Arial" pitchFamily="34" charset="-120"/>
              </a:rPr>
              <a:t>LIVE UPDATES
</a:t>
            </a:r>
            <a:pPr indent="0" marL="0">
              <a:lnSpc>
                <a:spcPct val="106000"/>
              </a:lnSpc>
              <a:buNone/>
            </a:pPr>
            <a:r>
              <a:rPr lang="en-US" sz="2000" b="1" dirty="0">
                <a:solidFill>
                  <a:srgbClr val="F3F4F1"/>
                </a:solidFill>
                <a:latin typeface="Arial" pitchFamily="34" charset="0"/>
                <a:ea typeface="Arial" pitchFamily="34" charset="-122"/>
                <a:cs typeface="Arial" pitchFamily="34" charset="-120"/>
              </a:rPr>
              <a:t>Change Data Capture → the browser
</a:t>
            </a:r>
            <a:pPr indent="0" marL="0">
              <a:lnSpc>
                <a:spcPct val="106000"/>
              </a:lnSpc>
              <a:buNone/>
            </a:pPr>
            <a:r>
              <a:rPr lang="en-US" sz="1150" dirty="0">
                <a:solidFill>
                  <a:srgbClr val="8E948B"/>
                </a:solidFill>
                <a:latin typeface="Arial" pitchFamily="34" charset="0"/>
                <a:ea typeface="Arial" pitchFamily="34" charset="-122"/>
                <a:cs typeface="Arial" pitchFamily="34" charset="-120"/>
              </a:rPr>
              <a:t>A status change in Salesforce streams over Change Data Capture → Server-Sent Events, and the order page updates instantly — no refresh, no polling. The status tag even glows while live. Guests get the same live tracking by order # + email.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WHAT IT DOES</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3000" b="1" dirty="0">
                <a:solidFill>
                  <a:srgbClr val="F3F4F1"/>
                </a:solidFill>
                <a:latin typeface="Arial" pitchFamily="34" charset="0"/>
                <a:ea typeface="Arial" pitchFamily="34" charset="-122"/>
                <a:cs typeface="Arial" pitchFamily="34" charset="-120"/>
              </a:rPr>
              <a:t>Shipped functionality</a:t>
            </a:r>
            <a:endParaRPr lang="en-US" sz="30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Each feature: standard-first, tested, documented</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9 / 12</a:t>
            </a:r>
            <a:endParaRPr lang="en-US" sz="950" dirty="0"/>
          </a:p>
        </p:txBody>
      </p:sp>
      <p:sp>
        <p:nvSpPr>
          <p:cNvPr id="9" name="Shape 7"/>
          <p:cNvSpPr/>
          <p:nvPr/>
        </p:nvSpPr>
        <p:spPr>
          <a:xfrm>
            <a:off x="566928" y="6748272"/>
            <a:ext cx="8293379" cy="45720"/>
          </a:xfrm>
          <a:prstGeom prst="rect">
            <a:avLst/>
          </a:prstGeom>
          <a:solidFill>
            <a:srgbClr val="86BC25"/>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103120"/>
          <a:ext cx="11057839" cy="914400"/>
        </p:xfrm>
        <a:graphic>
          <a:graphicData uri="http://schemas.openxmlformats.org/drawingml/2006/table">
            <a:tbl>
              <a:tblPr/>
              <a:tblGrid>
                <a:gridCol w="2764460"/>
                <a:gridCol w="2764460"/>
                <a:gridCol w="2764460"/>
                <a:gridCol w="2764460"/>
              </a:tblGrid>
              <a:tr h="868680">
                <a:tc>
                  <a:txBody>
                    <a:bodyPr/>
                    <a:lstStyle/>
                    <a:p>
                      <a:pPr indent="0" marL="0">
                        <a:buNone/>
                      </a:pPr>
                      <a:r>
                        <a:rPr lang="en-US" sz="1250" b="1" dirty="0">
                          <a:solidFill>
                            <a:srgbClr val="F3F4F1"/>
                          </a:solidFill>
                          <a:latin typeface="Arial" pitchFamily="34" charset="0"/>
                          <a:ea typeface="Arial" pitchFamily="34" charset="-122"/>
                          <a:cs typeface="Arial" pitchFamily="34" charset="-120"/>
                        </a:rPr>
                        <a:t>▸ Discovery &amp; search
</a:t>
                      </a:r>
                      <a:pPr indent="0" marL="0">
                        <a:buNone/>
                      </a:pPr>
                      <a:r>
                        <a:rPr lang="en-US" sz="950" dirty="0">
                          <a:solidFill>
                            <a:srgbClr val="8E948B"/>
                          </a:solidFill>
                          <a:latin typeface="Arial" pitchFamily="34" charset="0"/>
                          <a:ea typeface="Arial" pitchFamily="34" charset="-122"/>
                          <a:cs typeface="Arial" pitchFamily="34" charset="-120"/>
                        </a:rPr>
                        <a:t>Filter, sort, shareable URLs</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Cart &amp; checkout
</a:t>
                      </a:r>
                      <a:pPr indent="0" marL="0">
                        <a:buNone/>
                      </a:pPr>
                      <a:r>
                        <a:rPr lang="en-US" sz="950" dirty="0">
                          <a:solidFill>
                            <a:srgbClr val="8E948B"/>
                          </a:solidFill>
                          <a:latin typeface="Arial" pitchFamily="34" charset="0"/>
                          <a:ea typeface="Arial" pitchFamily="34" charset="-122"/>
                          <a:cs typeface="Arial" pitchFamily="34" charset="-120"/>
                        </a:rPr>
                        <a:t>Tax + resilient</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Promo codes
</a:t>
                      </a:r>
                      <a:pPr indent="0" marL="0">
                        <a:buNone/>
                      </a:pPr>
                      <a:r>
                        <a:rPr lang="en-US" sz="950" dirty="0">
                          <a:solidFill>
                            <a:srgbClr val="8E948B"/>
                          </a:solidFill>
                          <a:latin typeface="Arial" pitchFamily="34" charset="0"/>
                          <a:ea typeface="Arial" pitchFamily="34" charset="-122"/>
                          <a:cs typeface="Arial" pitchFamily="34" charset="-120"/>
                        </a:rPr>
                        <a:t>Coupon + Promotion</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Payments
</a:t>
                      </a:r>
                      <a:pPr indent="0" marL="0">
                        <a:buNone/>
                      </a:pPr>
                      <a:r>
                        <a:rPr lang="en-US" sz="950" dirty="0">
                          <a:solidFill>
                            <a:srgbClr val="8E948B"/>
                          </a:solidFill>
                          <a:latin typeface="Arial" pitchFamily="34" charset="0"/>
                          <a:ea typeface="Arial" pitchFamily="34" charset="-122"/>
                          <a:cs typeface="Arial" pitchFamily="34" charset="-120"/>
                        </a:rPr>
                        <a:t>Stripe-ready (mock)</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r>
              <a:tr h="868680">
                <a:tc>
                  <a:txBody>
                    <a:bodyPr/>
                    <a:lstStyle/>
                    <a:p>
                      <a:pPr indent="0" marL="0">
                        <a:buNone/>
                      </a:pPr>
                      <a:r>
                        <a:rPr lang="en-US" sz="1250" b="1" dirty="0">
                          <a:solidFill>
                            <a:srgbClr val="F3F4F1"/>
                          </a:solidFill>
                          <a:latin typeface="Arial" pitchFamily="34" charset="0"/>
                          <a:ea typeface="Arial" pitchFamily="34" charset="-122"/>
                          <a:cs typeface="Arial" pitchFamily="34" charset="-120"/>
                        </a:rPr>
                        <a:t>▸ Order history
</a:t>
                      </a:r>
                      <a:pPr indent="0" marL="0">
                        <a:buNone/>
                      </a:pPr>
                      <a:r>
                        <a:rPr lang="en-US" sz="950" dirty="0">
                          <a:solidFill>
                            <a:srgbClr val="8E948B"/>
                          </a:solidFill>
                          <a:latin typeface="Arial" pitchFamily="34" charset="0"/>
                          <a:ea typeface="Arial" pitchFamily="34" charset="-122"/>
                          <a:cs typeface="Arial" pitchFamily="34" charset="-120"/>
                        </a:rPr>
                        <a:t>Per customer · OMS</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One-click reorder
</a:t>
                      </a:r>
                      <a:pPr indent="0" marL="0">
                        <a:buNone/>
                      </a:pPr>
                      <a:r>
                        <a:rPr lang="en-US" sz="950" dirty="0">
                          <a:solidFill>
                            <a:srgbClr val="8E948B"/>
                          </a:solidFill>
                          <a:latin typeface="Arial" pitchFamily="34" charset="0"/>
                          <a:ea typeface="Arial" pitchFamily="34" charset="-122"/>
                          <a:cs typeface="Arial" pitchFamily="34" charset="-120"/>
                        </a:rPr>
                        <a:t>Past order → cart</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Reviews &amp; ratings
</a:t>
                      </a:r>
                      <a:pPr indent="0" marL="0">
                        <a:buNone/>
                      </a:pPr>
                      <a:r>
                        <a:rPr lang="en-US" sz="950" dirty="0">
                          <a:solidFill>
                            <a:srgbClr val="8E948B"/>
                          </a:solidFill>
                          <a:latin typeface="Arial" pitchFamily="34" charset="0"/>
                          <a:ea typeface="Arial" pitchFamily="34" charset="-122"/>
                          <a:cs typeface="Arial" pitchFamily="34" charset="-120"/>
                        </a:rPr>
                        <a:t>Custom object</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Wishlist
</a:t>
                      </a:r>
                      <a:pPr indent="0" marL="0">
                        <a:buNone/>
                      </a:pPr>
                      <a:r>
                        <a:rPr lang="en-US" sz="950" dirty="0">
                          <a:solidFill>
                            <a:srgbClr val="8E948B"/>
                          </a:solidFill>
                          <a:latin typeface="Arial" pitchFamily="34" charset="0"/>
                          <a:ea typeface="Arial" pitchFamily="34" charset="-122"/>
                          <a:cs typeface="Arial" pitchFamily="34" charset="-120"/>
                        </a:rPr>
                        <a:t>Standard Wishlist object</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r>
              <a:tr h="868680">
                <a:tc>
                  <a:txBody>
                    <a:bodyPr/>
                    <a:lstStyle/>
                    <a:p>
                      <a:pPr indent="0" marL="0">
                        <a:buNone/>
                      </a:pPr>
                      <a:r>
                        <a:rPr lang="en-US" sz="1250" b="1" dirty="0">
                          <a:solidFill>
                            <a:srgbClr val="F3F4F1"/>
                          </a:solidFill>
                          <a:latin typeface="Arial" pitchFamily="34" charset="0"/>
                          <a:ea typeface="Arial" pitchFamily="34" charset="-122"/>
                          <a:cs typeface="Arial" pitchFamily="34" charset="-120"/>
                        </a:rPr>
                        <a:t>▸ Saved addresses
</a:t>
                      </a:r>
                      <a:pPr indent="0" marL="0">
                        <a:buNone/>
                      </a:pPr>
                      <a:r>
                        <a:rPr lang="en-US" sz="950" dirty="0">
                          <a:solidFill>
                            <a:srgbClr val="8E948B"/>
                          </a:solidFill>
                          <a:latin typeface="Arial" pitchFamily="34" charset="0"/>
                          <a:ea typeface="Arial" pitchFamily="34" charset="-122"/>
                          <a:cs typeface="Arial" pitchFamily="34" charset="-120"/>
                        </a:rPr>
                        <a:t>ContactPointAddress</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Live order tracking
</a:t>
                      </a:r>
                      <a:pPr indent="0" marL="0">
                        <a:buNone/>
                      </a:pPr>
                      <a:r>
                        <a:rPr lang="en-US" sz="950" dirty="0">
                          <a:solidFill>
                            <a:srgbClr val="8E948B"/>
                          </a:solidFill>
                          <a:latin typeface="Arial" pitchFamily="34" charset="0"/>
                          <a:ea typeface="Arial" pitchFamily="34" charset="-122"/>
                          <a:cs typeface="Arial" pitchFamily="34" charset="-120"/>
                        </a:rPr>
                        <a:t>CDC → SSE</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Support tickets
</a:t>
                      </a:r>
                      <a:pPr indent="0" marL="0">
                        <a:buNone/>
                      </a:pPr>
                      <a:r>
                        <a:rPr lang="en-US" sz="950" dirty="0">
                          <a:solidFill>
                            <a:srgbClr val="8E948B"/>
                          </a:solidFill>
                          <a:latin typeface="Arial" pitchFamily="34" charset="0"/>
                          <a:ea typeface="Arial" pitchFamily="34" charset="-122"/>
                          <a:cs typeface="Arial" pitchFamily="34" charset="-120"/>
                        </a:rPr>
                        <a:t>Case + replies</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Guest tracking
</a:t>
                      </a:r>
                      <a:pPr indent="0" marL="0">
                        <a:buNone/>
                      </a:pPr>
                      <a:r>
                        <a:rPr lang="en-US" sz="950" dirty="0">
                          <a:solidFill>
                            <a:srgbClr val="8E948B"/>
                          </a:solidFill>
                          <a:latin typeface="Arial" pitchFamily="34" charset="0"/>
                          <a:ea typeface="Arial" pitchFamily="34" charset="-122"/>
                          <a:cs typeface="Arial" pitchFamily="34" charset="-120"/>
                        </a:rPr>
                        <a:t>Order # + email</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r>
              <a:tr h="868680">
                <a:tc>
                  <a:txBody>
                    <a:bodyPr/>
                    <a:lstStyle/>
                    <a:p>
                      <a:pPr indent="0" marL="0">
                        <a:buNone/>
                      </a:pPr>
                      <a:r>
                        <a:rPr lang="en-US" sz="1250" b="1" dirty="0">
                          <a:solidFill>
                            <a:srgbClr val="F3F4F1"/>
                          </a:solidFill>
                          <a:latin typeface="Arial" pitchFamily="34" charset="0"/>
                          <a:ea typeface="Arial" pitchFamily="34" charset="-122"/>
                          <a:cs typeface="Arial" pitchFamily="34" charset="-120"/>
                        </a:rPr>
                        <a:t>▸ Light / dark theme
</a:t>
                      </a:r>
                      <a:pPr indent="0" marL="0">
                        <a:buNone/>
                      </a:pPr>
                      <a:r>
                        <a:rPr lang="en-US" sz="950" dirty="0">
                          <a:solidFill>
                            <a:srgbClr val="8E948B"/>
                          </a:solidFill>
                          <a:latin typeface="Arial" pitchFamily="34" charset="0"/>
                          <a:ea typeface="Arial" pitchFamily="34" charset="-122"/>
                          <a:cs typeface="Arial" pitchFamily="34" charset="-120"/>
                        </a:rPr>
                        <a:t>No-flash</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SEO + structured data
</a:t>
                      </a:r>
                      <a:pPr indent="0" marL="0">
                        <a:buNone/>
                      </a:pPr>
                      <a:r>
                        <a:rPr lang="en-US" sz="950" dirty="0">
                          <a:solidFill>
                            <a:srgbClr val="8E948B"/>
                          </a:solidFill>
                          <a:latin typeface="Arial" pitchFamily="34" charset="0"/>
                          <a:ea typeface="Arial" pitchFamily="34" charset="-122"/>
                          <a:cs typeface="Arial" pitchFamily="34" charset="-120"/>
                        </a:rPr>
                        <a:t>Per route</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Accessibility
</a:t>
                      </a:r>
                      <a:pPr indent="0" marL="0">
                        <a:buNone/>
                      </a:pPr>
                      <a:r>
                        <a:rPr lang="en-US" sz="950" dirty="0">
                          <a:solidFill>
                            <a:srgbClr val="8E948B"/>
                          </a:solidFill>
                          <a:latin typeface="Arial" pitchFamily="34" charset="0"/>
                          <a:ea typeface="Arial" pitchFamily="34" charset="-122"/>
                          <a:cs typeface="Arial" pitchFamily="34" charset="-120"/>
                        </a:rPr>
                        <a:t>Keyboard / SR-safe</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c>
                  <a:txBody>
                    <a:bodyPr/>
                    <a:lstStyle/>
                    <a:p>
                      <a:pPr indent="0" marL="0">
                        <a:buNone/>
                      </a:pPr>
                      <a:r>
                        <a:rPr lang="en-US" sz="1250" b="1" dirty="0">
                          <a:solidFill>
                            <a:srgbClr val="F3F4F1"/>
                          </a:solidFill>
                          <a:latin typeface="Arial" pitchFamily="34" charset="0"/>
                          <a:ea typeface="Arial" pitchFamily="34" charset="-122"/>
                          <a:cs typeface="Arial" pitchFamily="34" charset="-120"/>
                        </a:rPr>
                        <a:t>▸ End-to-end tests
</a:t>
                      </a:r>
                      <a:pPr indent="0" marL="0">
                        <a:buNone/>
                      </a:pPr>
                      <a:r>
                        <a:rPr lang="en-US" sz="950" dirty="0">
                          <a:solidFill>
                            <a:srgbClr val="8E948B"/>
                          </a:solidFill>
                          <a:latin typeface="Arial" pitchFamily="34" charset="0"/>
                          <a:ea typeface="Arial" pitchFamily="34" charset="-122"/>
                          <a:cs typeface="Arial" pitchFamily="34" charset="-120"/>
                        </a:rPr>
                        <a:t>Playwright in CI</a:t>
                      </a:r>
                      <a:endParaRPr lang="en-US" sz="1200" dirty="0">
                        <a:latin typeface="Arial" charset="0"/>
                        <a:ea typeface="Arial" charset="0"/>
                        <a:cs typeface="Arial" charset="0"/>
                      </a:endParaRPr>
                    </a:p>
                  </a:txBody>
                  <a:tcPr marL="76200" marR="76200" marT="76200" marB="76200" anchor="ctr">
                    <a:lnL w="38100" cap="flat" cmpd="sng" algn="ctr">
                      <a:solidFill>
                        <a:srgbClr val="0E0F11"/>
                      </a:solidFill>
                      <a:prstDash val="solid"/>
                      <a:round/>
                      <a:headEnd type="none" w="med" len="med"/>
                      <a:tailEnd type="none" w="med" len="med"/>
                    </a:lnL>
                    <a:lnR w="38100" cap="flat" cmpd="sng" algn="ctr">
                      <a:solidFill>
                        <a:srgbClr val="0E0F11"/>
                      </a:solidFill>
                      <a:prstDash val="solid"/>
                      <a:round/>
                      <a:headEnd type="none" w="med" len="med"/>
                      <a:tailEnd type="none" w="med" len="med"/>
                    </a:lnR>
                    <a:lnT w="38100" cap="flat" cmpd="sng" algn="ctr">
                      <a:solidFill>
                        <a:srgbClr val="0E0F11"/>
                      </a:solidFill>
                      <a:prstDash val="solid"/>
                      <a:round/>
                      <a:headEnd type="none" w="med" len="med"/>
                      <a:tailEnd type="none" w="med" len="med"/>
                    </a:lnT>
                    <a:lnB w="38100" cap="flat" cmpd="sng" algn="ctr">
                      <a:solidFill>
                        <a:srgbClr val="0E0F11"/>
                      </a:solidFill>
                      <a:prstDash val="solid"/>
                      <a:round/>
                      <a:headEnd type="none" w="med" len="med"/>
                      <a:tailEnd type="none" w="med" len="med"/>
                    </a:lnB>
                    <a:solidFill>
                      <a:srgbClr val="16181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HOW IT WAS BUILT</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2700" b="1" dirty="0">
                <a:solidFill>
                  <a:srgbClr val="F3F4F1"/>
                </a:solidFill>
                <a:latin typeface="Arial" pitchFamily="34" charset="0"/>
                <a:ea typeface="Arial" pitchFamily="34" charset="-122"/>
                <a:cs typeface="Arial" pitchFamily="34" charset="-120"/>
              </a:rPr>
              <a:t>Claude, in a plan → build → verify loop</a:t>
            </a:r>
            <a:endParaRPr lang="en-US" sz="27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Velocity with an audit trail — plans, tests, commits, docs</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10 / 12</a:t>
            </a:r>
            <a:endParaRPr lang="en-US" sz="950" dirty="0"/>
          </a:p>
        </p:txBody>
      </p:sp>
      <p:sp>
        <p:nvSpPr>
          <p:cNvPr id="9" name="Shape 7"/>
          <p:cNvSpPr/>
          <p:nvPr/>
        </p:nvSpPr>
        <p:spPr>
          <a:xfrm>
            <a:off x="566928" y="6748272"/>
            <a:ext cx="9214866" cy="45720"/>
          </a:xfrm>
          <a:prstGeom prst="rect">
            <a:avLst/>
          </a:prstGeom>
          <a:solidFill>
            <a:srgbClr val="86BC25"/>
          </a:solidFill>
          <a:ln/>
        </p:spPr>
      </p:sp>
      <p:sp>
        <p:nvSpPr>
          <p:cNvPr id="10" name="Text 8"/>
          <p:cNvSpPr/>
          <p:nvPr/>
        </p:nvSpPr>
        <p:spPr>
          <a:xfrm>
            <a:off x="566928" y="2057400"/>
            <a:ext cx="11064240" cy="2468880"/>
          </a:xfrm>
          <a:prstGeom prst="rect">
            <a:avLst/>
          </a:prstGeom>
          <a:noFill/>
          <a:ln/>
        </p:spPr>
        <p:txBody>
          <a:bodyPr wrap="square" rtlCol="0" anchor="t"/>
          <a:lstStyle/>
          <a:p>
            <a:pPr marL="203200" indent="-203200">
              <a:lnSpc>
                <a:spcPct val="112000"/>
              </a:lnSpc>
              <a:spcAft>
                <a:spcPts val="1200"/>
              </a:spcAft>
              <a:buSzPct val="100000"/>
              <a:buChar char="▪"/>
            </a:pPr>
            <a:r>
              <a:rPr lang="en-US" sz="1500" b="1" dirty="0">
                <a:solidFill>
                  <a:srgbClr val="F3F4F1"/>
                </a:solidFill>
                <a:latin typeface="Arial" pitchFamily="34" charset="0"/>
                <a:ea typeface="Arial" pitchFamily="34" charset="-122"/>
                <a:cs typeface="Arial" pitchFamily="34" charset="-120"/>
              </a:rPr>
              <a:t>Plan first.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Every feature is designed and approved before a line of code.</a:t>
            </a:r>
            <a:endParaRPr lang="en-US" sz="1500" dirty="0"/>
          </a:p>
          <a:p>
            <a:pPr marL="203200" indent="-203200">
              <a:lnSpc>
                <a:spcPct val="112000"/>
              </a:lnSpc>
              <a:spcAft>
                <a:spcPts val="1200"/>
              </a:spcAft>
              <a:buSzPct val="100000"/>
              <a:buChar char="▪"/>
            </a:pPr>
            <a:r>
              <a:rPr lang="en-US" sz="1500" b="1" dirty="0">
                <a:solidFill>
                  <a:srgbClr val="F3F4F1"/>
                </a:solidFill>
                <a:latin typeface="Arial" pitchFamily="34" charset="0"/>
                <a:ea typeface="Arial" pitchFamily="34" charset="-122"/>
                <a:cs typeface="Arial" pitchFamily="34" charset="-120"/>
              </a:rPr>
              <a:t>Build the full stack.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Frontend, middleware and Salesforce schema together, in one workflow.</a:t>
            </a:r>
            <a:endParaRPr lang="en-US" sz="1500" dirty="0"/>
          </a:p>
          <a:p>
            <a:pPr marL="203200" indent="-203200">
              <a:lnSpc>
                <a:spcPct val="112000"/>
              </a:lnSpc>
              <a:spcAft>
                <a:spcPts val="1200"/>
              </a:spcAft>
              <a:buSzPct val="100000"/>
              <a:buChar char="▪"/>
            </a:pPr>
            <a:r>
              <a:rPr lang="en-US" sz="1500" b="1" dirty="0">
                <a:solidFill>
                  <a:srgbClr val="F3F4F1"/>
                </a:solidFill>
                <a:latin typeface="Arial" pitchFamily="34" charset="0"/>
                <a:ea typeface="Arial" pitchFamily="34" charset="-122"/>
                <a:cs typeface="Arial" pitchFamily="34" charset="-120"/>
              </a:rPr>
              <a:t>Verify against a real org.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Live round-trips + headless-browser screenshots every step — not assumptions.</a:t>
            </a:r>
            <a:endParaRPr lang="en-US" sz="1500" dirty="0"/>
          </a:p>
          <a:p>
            <a:pPr marL="203200" indent="-203200">
              <a:lnSpc>
                <a:spcPct val="112000"/>
              </a:lnSpc>
              <a:spcAft>
                <a:spcPts val="1200"/>
              </a:spcAft>
              <a:buSzPct val="100000"/>
              <a:buChar char="▪"/>
            </a:pPr>
            <a:r>
              <a:rPr lang="en-US" sz="1500" b="1" dirty="0">
                <a:solidFill>
                  <a:srgbClr val="F3F4F1"/>
                </a:solidFill>
                <a:latin typeface="Arial" pitchFamily="34" charset="0"/>
                <a:ea typeface="Arial" pitchFamily="34" charset="-122"/>
                <a:cs typeface="Arial" pitchFamily="34" charset="-120"/>
              </a:rPr>
              <a:t>Quality gates.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End-to-end tests, lint and build must pass before each commit.</a:t>
            </a:r>
            <a:endParaRPr lang="en-US" sz="1500" dirty="0"/>
          </a:p>
          <a:p>
            <a:pPr marL="203200" indent="-203200">
              <a:lnSpc>
                <a:spcPct val="112000"/>
              </a:lnSpc>
              <a:spcAft>
                <a:spcPts val="1200"/>
              </a:spcAft>
              <a:buSzPct val="100000"/>
              <a:buChar char="▪"/>
            </a:pPr>
            <a:r>
              <a:rPr lang="en-US" sz="1500" b="1" dirty="0">
                <a:solidFill>
                  <a:srgbClr val="F3F4F1"/>
                </a:solidFill>
                <a:latin typeface="Arial" pitchFamily="34" charset="0"/>
                <a:ea typeface="Arial" pitchFamily="34" charset="-122"/>
                <a:cs typeface="Arial" pitchFamily="34" charset="-120"/>
              </a:rPr>
              <a:t>Docs stay in sync,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with one reviewed commit per feature.</a:t>
            </a:r>
            <a:endParaRPr lang="en-US" sz="1500" dirty="0"/>
          </a:p>
        </p:txBody>
      </p:sp>
      <p:sp>
        <p:nvSpPr>
          <p:cNvPr id="11" name="Shape 9"/>
          <p:cNvSpPr/>
          <p:nvPr/>
        </p:nvSpPr>
        <p:spPr>
          <a:xfrm>
            <a:off x="566928" y="4709160"/>
            <a:ext cx="3566160" cy="0"/>
          </a:xfrm>
          <a:prstGeom prst="line">
            <a:avLst/>
          </a:prstGeom>
          <a:noFill/>
          <a:ln w="31750">
            <a:solidFill>
              <a:srgbClr val="86BC25"/>
            </a:solidFill>
            <a:prstDash val="solid"/>
          </a:ln>
        </p:spPr>
      </p:sp>
      <p:sp>
        <p:nvSpPr>
          <p:cNvPr id="12" name="Text 10"/>
          <p:cNvSpPr/>
          <p:nvPr/>
        </p:nvSpPr>
        <p:spPr>
          <a:xfrm>
            <a:off x="566928" y="4818888"/>
            <a:ext cx="3566160" cy="1005840"/>
          </a:xfrm>
          <a:prstGeom prst="rect">
            <a:avLst/>
          </a:prstGeom>
          <a:noFill/>
          <a:ln/>
        </p:spPr>
        <p:txBody>
          <a:bodyPr wrap="square" rtlCol="0" anchor="t"/>
          <a:lstStyle/>
          <a:p>
            <a:pPr indent="0" marL="0">
              <a:lnSpc>
                <a:spcPct val="110000"/>
              </a:lnSpc>
              <a:buNone/>
            </a:pPr>
            <a:r>
              <a:rPr lang="en-US" sz="2000" b="1" dirty="0">
                <a:solidFill>
                  <a:srgbClr val="F3F4F1"/>
                </a:solidFill>
                <a:latin typeface="Arial" pitchFamily="34" charset="0"/>
                <a:ea typeface="Arial" pitchFamily="34" charset="-122"/>
                <a:cs typeface="Arial" pitchFamily="34" charset="-120"/>
              </a:rPr>
              <a:t>Full-stack
</a:t>
            </a:r>
            <a:pPr indent="0" marL="0">
              <a:lnSpc>
                <a:spcPct val="110000"/>
              </a:lnSpc>
              <a:buNone/>
            </a:pPr>
            <a:r>
              <a:rPr lang="en-US" sz="1050" dirty="0">
                <a:solidFill>
                  <a:srgbClr val="8E948B"/>
                </a:solidFill>
                <a:latin typeface="Arial" pitchFamily="34" charset="0"/>
                <a:ea typeface="Arial" pitchFamily="34" charset="-122"/>
                <a:cs typeface="Arial" pitchFamily="34" charset="-120"/>
              </a:rPr>
              <a:t>UI · middleware · Salesforce, one workflow</a:t>
            </a:r>
            <a:endParaRPr lang="en-US" sz="2000" dirty="0"/>
          </a:p>
        </p:txBody>
      </p:sp>
      <p:sp>
        <p:nvSpPr>
          <p:cNvPr id="13" name="Shape 11"/>
          <p:cNvSpPr/>
          <p:nvPr/>
        </p:nvSpPr>
        <p:spPr>
          <a:xfrm>
            <a:off x="4297680" y="4709160"/>
            <a:ext cx="3566160" cy="0"/>
          </a:xfrm>
          <a:prstGeom prst="line">
            <a:avLst/>
          </a:prstGeom>
          <a:noFill/>
          <a:ln w="31750">
            <a:solidFill>
              <a:srgbClr val="86BC25"/>
            </a:solidFill>
            <a:prstDash val="solid"/>
          </a:ln>
        </p:spPr>
      </p:sp>
      <p:sp>
        <p:nvSpPr>
          <p:cNvPr id="14" name="Text 12"/>
          <p:cNvSpPr/>
          <p:nvPr/>
        </p:nvSpPr>
        <p:spPr>
          <a:xfrm>
            <a:off x="4297680" y="4818888"/>
            <a:ext cx="3566160" cy="1005840"/>
          </a:xfrm>
          <a:prstGeom prst="rect">
            <a:avLst/>
          </a:prstGeom>
          <a:noFill/>
          <a:ln/>
        </p:spPr>
        <p:txBody>
          <a:bodyPr wrap="square" rtlCol="0" anchor="t"/>
          <a:lstStyle/>
          <a:p>
            <a:pPr indent="0" marL="0">
              <a:lnSpc>
                <a:spcPct val="110000"/>
              </a:lnSpc>
              <a:buNone/>
            </a:pPr>
            <a:r>
              <a:rPr lang="en-US" sz="2000" b="1" dirty="0">
                <a:solidFill>
                  <a:srgbClr val="F3F4F1"/>
                </a:solidFill>
                <a:latin typeface="Arial" pitchFamily="34" charset="0"/>
                <a:ea typeface="Arial" pitchFamily="34" charset="-122"/>
                <a:cs typeface="Arial" pitchFamily="34" charset="-120"/>
              </a:rPr>
              <a:t>Live-verified
</a:t>
            </a:r>
            <a:pPr indent="0" marL="0">
              <a:lnSpc>
                <a:spcPct val="110000"/>
              </a:lnSpc>
              <a:buNone/>
            </a:pPr>
            <a:r>
              <a:rPr lang="en-US" sz="1050" dirty="0">
                <a:solidFill>
                  <a:srgbClr val="8E948B"/>
                </a:solidFill>
                <a:latin typeface="Arial" pitchFamily="34" charset="0"/>
                <a:ea typeface="Arial" pitchFamily="34" charset="-122"/>
                <a:cs typeface="Arial" pitchFamily="34" charset="-120"/>
              </a:rPr>
              <a:t>Every feature proven on a real org</a:t>
            </a:r>
            <a:endParaRPr lang="en-US" sz="2000" dirty="0"/>
          </a:p>
        </p:txBody>
      </p:sp>
      <p:sp>
        <p:nvSpPr>
          <p:cNvPr id="15" name="Shape 13"/>
          <p:cNvSpPr/>
          <p:nvPr/>
        </p:nvSpPr>
        <p:spPr>
          <a:xfrm>
            <a:off x="8028432" y="4709160"/>
            <a:ext cx="3566160" cy="0"/>
          </a:xfrm>
          <a:prstGeom prst="line">
            <a:avLst/>
          </a:prstGeom>
          <a:noFill/>
          <a:ln w="31750">
            <a:solidFill>
              <a:srgbClr val="86BC25"/>
            </a:solidFill>
            <a:prstDash val="solid"/>
          </a:ln>
        </p:spPr>
      </p:sp>
      <p:sp>
        <p:nvSpPr>
          <p:cNvPr id="16" name="Text 14"/>
          <p:cNvSpPr/>
          <p:nvPr/>
        </p:nvSpPr>
        <p:spPr>
          <a:xfrm>
            <a:off x="8028432" y="4818888"/>
            <a:ext cx="3566160" cy="1005840"/>
          </a:xfrm>
          <a:prstGeom prst="rect">
            <a:avLst/>
          </a:prstGeom>
          <a:noFill/>
          <a:ln/>
        </p:spPr>
        <p:txBody>
          <a:bodyPr wrap="square" rtlCol="0" anchor="t"/>
          <a:lstStyle/>
          <a:p>
            <a:pPr indent="0" marL="0">
              <a:lnSpc>
                <a:spcPct val="110000"/>
              </a:lnSpc>
              <a:buNone/>
            </a:pPr>
            <a:r>
              <a:rPr lang="en-US" sz="2000" b="1" dirty="0">
                <a:solidFill>
                  <a:srgbClr val="F3F4F1"/>
                </a:solidFill>
                <a:latin typeface="Arial" pitchFamily="34" charset="0"/>
                <a:ea typeface="Arial" pitchFamily="34" charset="-122"/>
                <a:cs typeface="Arial" pitchFamily="34" charset="-120"/>
              </a:rPr>
              <a:t>Days, not months
</a:t>
            </a:r>
            <a:pPr indent="0" marL="0">
              <a:lnSpc>
                <a:spcPct val="110000"/>
              </a:lnSpc>
              <a:buNone/>
            </a:pPr>
            <a:r>
              <a:rPr lang="en-US" sz="1050" dirty="0">
                <a:solidFill>
                  <a:srgbClr val="8E948B"/>
                </a:solidFill>
                <a:latin typeface="Arial" pitchFamily="34" charset="0"/>
                <a:ea typeface="Arial" pitchFamily="34" charset="-122"/>
                <a:cs typeface="Arial" pitchFamily="34" charset="-120"/>
              </a:rPr>
              <a:t>AI-accelerated delivery</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WHY IT MATTERS</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2700" b="1" dirty="0">
                <a:solidFill>
                  <a:srgbClr val="F3F4F1"/>
                </a:solidFill>
                <a:latin typeface="Arial" pitchFamily="34" charset="0"/>
                <a:ea typeface="Arial" pitchFamily="34" charset="-122"/>
                <a:cs typeface="Arial" pitchFamily="34" charset="-120"/>
              </a:rPr>
              <a:t>A reusable pattern for Salesforce customers</a:t>
            </a:r>
            <a:endParaRPr lang="en-US" sz="27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One pattern, many front doors onto Salesforce</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11 / 12</a:t>
            </a:r>
            <a:endParaRPr lang="en-US" sz="950" dirty="0"/>
          </a:p>
        </p:txBody>
      </p:sp>
      <p:sp>
        <p:nvSpPr>
          <p:cNvPr id="9" name="Shape 7"/>
          <p:cNvSpPr/>
          <p:nvPr/>
        </p:nvSpPr>
        <p:spPr>
          <a:xfrm>
            <a:off x="566928" y="6748272"/>
            <a:ext cx="10136353" cy="45720"/>
          </a:xfrm>
          <a:prstGeom prst="rect">
            <a:avLst/>
          </a:prstGeom>
          <a:solidFill>
            <a:srgbClr val="86BC25"/>
          </a:solidFill>
          <a:ln/>
        </p:spPr>
      </p:sp>
      <p:sp>
        <p:nvSpPr>
          <p:cNvPr id="10" name="Text 8"/>
          <p:cNvSpPr/>
          <p:nvPr/>
        </p:nvSpPr>
        <p:spPr>
          <a:xfrm>
            <a:off x="566928" y="2103120"/>
            <a:ext cx="11064240" cy="2194560"/>
          </a:xfrm>
          <a:prstGeom prst="rect">
            <a:avLst/>
          </a:prstGeom>
          <a:noFill/>
          <a:ln/>
        </p:spPr>
        <p:txBody>
          <a:bodyPr wrap="square" rtlCol="0" anchor="t"/>
          <a:lstStyle/>
          <a:p>
            <a:pPr marL="203200" indent="-203200">
              <a:lnSpc>
                <a:spcPct val="112000"/>
              </a:lnSpc>
              <a:spcAft>
                <a:spcPts val="1300"/>
              </a:spcAft>
              <a:buSzPct val="100000"/>
              <a:buChar char="▪"/>
            </a:pPr>
            <a:r>
              <a:rPr lang="en-US" sz="1550" b="1" dirty="0">
                <a:solidFill>
                  <a:srgbClr val="F3F4F1"/>
                </a:solidFill>
                <a:latin typeface="Arial" pitchFamily="34" charset="0"/>
                <a:ea typeface="Arial" pitchFamily="34" charset="-122"/>
                <a:cs typeface="Arial" pitchFamily="34" charset="-120"/>
              </a:rPr>
              <a:t>A modern, fast, on-brand experience </a:t>
            </a:r>
            <a:pPr indent="0" marL="0">
              <a:lnSpc>
                <a:spcPct val="112000"/>
              </a:lnSpc>
              <a:buNone/>
            </a:pPr>
            <a:r>
              <a:rPr lang="en-US" sz="1550" dirty="0">
                <a:solidFill>
                  <a:srgbClr val="C4C8C0"/>
                </a:solidFill>
                <a:latin typeface="Arial" pitchFamily="34" charset="0"/>
                <a:ea typeface="Arial" pitchFamily="34" charset="-122"/>
                <a:cs typeface="Arial" pitchFamily="34" charset="-120"/>
              </a:rPr>
              <a:t>— on any frontend stack.</a:t>
            </a:r>
            <a:endParaRPr lang="en-US" sz="1550" dirty="0"/>
          </a:p>
          <a:p>
            <a:pPr marL="203200" indent="-203200">
              <a:lnSpc>
                <a:spcPct val="112000"/>
              </a:lnSpc>
              <a:spcAft>
                <a:spcPts val="1300"/>
              </a:spcAft>
              <a:buSzPct val="100000"/>
              <a:buChar char="▪"/>
            </a:pPr>
            <a:r>
              <a:rPr lang="en-US" sz="1550" b="1" dirty="0">
                <a:solidFill>
                  <a:srgbClr val="F3F4F1"/>
                </a:solidFill>
                <a:latin typeface="Arial" pitchFamily="34" charset="0"/>
                <a:ea typeface="Arial" pitchFamily="34" charset="-122"/>
                <a:cs typeface="Arial" pitchFamily="34" charset="-120"/>
              </a:rPr>
              <a:t>Salesforce stays the single source of truth </a:t>
            </a:r>
            <a:pPr indent="0" marL="0">
              <a:lnSpc>
                <a:spcPct val="112000"/>
              </a:lnSpc>
              <a:buNone/>
            </a:pPr>
            <a:r>
              <a:rPr lang="en-US" sz="1550" dirty="0">
                <a:solidFill>
                  <a:srgbClr val="C4C8C0"/>
                </a:solidFill>
                <a:latin typeface="Arial" pitchFamily="34" charset="0"/>
                <a:ea typeface="Arial" pitchFamily="34" charset="-122"/>
                <a:cs typeface="Arial" pitchFamily="34" charset="-120"/>
              </a:rPr>
              <a:t>— no data silo, no sync headaches.</a:t>
            </a:r>
            <a:endParaRPr lang="en-US" sz="1550" dirty="0"/>
          </a:p>
          <a:p>
            <a:pPr marL="203200" indent="-203200">
              <a:lnSpc>
                <a:spcPct val="112000"/>
              </a:lnSpc>
              <a:spcAft>
                <a:spcPts val="1300"/>
              </a:spcAft>
              <a:buSzPct val="100000"/>
              <a:buChar char="▪"/>
            </a:pPr>
            <a:r>
              <a:rPr lang="en-US" sz="1550" b="1" dirty="0">
                <a:solidFill>
                  <a:srgbClr val="F3F4F1"/>
                </a:solidFill>
                <a:latin typeface="Arial" pitchFamily="34" charset="0"/>
                <a:ea typeface="Arial" pitchFamily="34" charset="-122"/>
                <a:cs typeface="Arial" pitchFamily="34" charset="-120"/>
              </a:rPr>
              <a:t>B2C or B2B </a:t>
            </a:r>
            <a:pPr indent="0" marL="0">
              <a:lnSpc>
                <a:spcPct val="112000"/>
              </a:lnSpc>
              <a:buNone/>
            </a:pPr>
            <a:r>
              <a:rPr lang="en-US" sz="1550" dirty="0">
                <a:solidFill>
                  <a:srgbClr val="C4C8C0"/>
                </a:solidFill>
                <a:latin typeface="Arial" pitchFamily="34" charset="0"/>
                <a:ea typeface="Arial" pitchFamily="34" charset="-122"/>
                <a:cs typeface="Arial" pitchFamily="34" charset="-120"/>
              </a:rPr>
              <a:t>— and you can start without a Commerce Cloud license.</a:t>
            </a:r>
            <a:endParaRPr lang="en-US" sz="1550" dirty="0"/>
          </a:p>
          <a:p>
            <a:pPr marL="203200" indent="-203200">
              <a:lnSpc>
                <a:spcPct val="112000"/>
              </a:lnSpc>
              <a:spcAft>
                <a:spcPts val="1300"/>
              </a:spcAft>
              <a:buSzPct val="100000"/>
              <a:buChar char="▪"/>
            </a:pPr>
            <a:r>
              <a:rPr lang="en-US" sz="1550" b="1" dirty="0">
                <a:solidFill>
                  <a:srgbClr val="F3F4F1"/>
                </a:solidFill>
                <a:latin typeface="Arial" pitchFamily="34" charset="0"/>
                <a:ea typeface="Arial" pitchFamily="34" charset="-122"/>
                <a:cs typeface="Arial" pitchFamily="34" charset="-120"/>
              </a:rPr>
              <a:t>AI-accelerated </a:t>
            </a:r>
            <a:pPr indent="0" marL="0">
              <a:lnSpc>
                <a:spcPct val="112000"/>
              </a:lnSpc>
              <a:buNone/>
            </a:pPr>
            <a:r>
              <a:rPr lang="en-US" sz="1550" dirty="0">
                <a:solidFill>
                  <a:srgbClr val="C4C8C0"/>
                </a:solidFill>
                <a:latin typeface="Arial" pitchFamily="34" charset="0"/>
                <a:ea typeface="Arial" pitchFamily="34" charset="-122"/>
                <a:cs typeface="Arial" pitchFamily="34" charset="-120"/>
              </a:rPr>
              <a:t>— compress weeks of engineering into days, with quality gates.</a:t>
            </a:r>
            <a:endParaRPr lang="en-US" sz="1550" dirty="0"/>
          </a:p>
        </p:txBody>
      </p:sp>
      <p:sp>
        <p:nvSpPr>
          <p:cNvPr id="11" name="Shape 9"/>
          <p:cNvSpPr/>
          <p:nvPr/>
        </p:nvSpPr>
        <p:spPr>
          <a:xfrm>
            <a:off x="566928" y="4754880"/>
            <a:ext cx="1856232" cy="548640"/>
          </a:xfrm>
          <a:prstGeom prst="roundRect">
            <a:avLst>
              <a:gd name="adj" fmla="val 16667"/>
            </a:avLst>
          </a:prstGeom>
          <a:solidFill>
            <a:srgbClr val="1A2410"/>
          </a:solidFill>
          <a:ln w="12700">
            <a:solidFill>
              <a:srgbClr val="86BC25"/>
            </a:solidFill>
            <a:prstDash val="solid"/>
          </a:ln>
        </p:spPr>
      </p:sp>
      <p:sp>
        <p:nvSpPr>
          <p:cNvPr id="12" name="Text 10"/>
          <p:cNvSpPr/>
          <p:nvPr/>
        </p:nvSpPr>
        <p:spPr>
          <a:xfrm>
            <a:off x="566928" y="4754880"/>
            <a:ext cx="1856232" cy="548640"/>
          </a:xfrm>
          <a:prstGeom prst="rect">
            <a:avLst/>
          </a:prstGeom>
          <a:noFill/>
          <a:ln/>
        </p:spPr>
        <p:txBody>
          <a:bodyPr wrap="square" rtlCol="0" anchor="ctr"/>
          <a:lstStyle/>
          <a:p>
            <a:pPr algn="ctr" indent="0" marL="0">
              <a:buNone/>
            </a:pPr>
            <a:r>
              <a:rPr lang="en-US" sz="1200" b="1" dirty="0">
                <a:solidFill>
                  <a:srgbClr val="F3F4F1"/>
                </a:solidFill>
                <a:latin typeface="Arial" pitchFamily="34" charset="0"/>
                <a:ea typeface="Arial" pitchFamily="34" charset="-122"/>
                <a:cs typeface="Arial" pitchFamily="34" charset="-120"/>
              </a:rPr>
              <a:t>DTC storefront</a:t>
            </a:r>
            <a:endParaRPr lang="en-US" sz="1200" dirty="0"/>
          </a:p>
        </p:txBody>
      </p:sp>
      <p:sp>
        <p:nvSpPr>
          <p:cNvPr id="13" name="Shape 11"/>
          <p:cNvSpPr/>
          <p:nvPr/>
        </p:nvSpPr>
        <p:spPr>
          <a:xfrm>
            <a:off x="2606040" y="4754880"/>
            <a:ext cx="3328416" cy="548640"/>
          </a:xfrm>
          <a:prstGeom prst="roundRect">
            <a:avLst>
              <a:gd name="adj" fmla="val 16667"/>
            </a:avLst>
          </a:prstGeom>
          <a:solidFill>
            <a:srgbClr val="1A2410"/>
          </a:solidFill>
          <a:ln w="12700">
            <a:solidFill>
              <a:srgbClr val="86BC25"/>
            </a:solidFill>
            <a:prstDash val="solid"/>
          </a:ln>
        </p:spPr>
      </p:sp>
      <p:sp>
        <p:nvSpPr>
          <p:cNvPr id="14" name="Text 12"/>
          <p:cNvSpPr/>
          <p:nvPr/>
        </p:nvSpPr>
        <p:spPr>
          <a:xfrm>
            <a:off x="2606040" y="4754880"/>
            <a:ext cx="3328416" cy="548640"/>
          </a:xfrm>
          <a:prstGeom prst="rect">
            <a:avLst/>
          </a:prstGeom>
          <a:noFill/>
          <a:ln/>
        </p:spPr>
        <p:txBody>
          <a:bodyPr wrap="square" rtlCol="0" anchor="ctr"/>
          <a:lstStyle/>
          <a:p>
            <a:pPr algn="ctr" indent="0" marL="0">
              <a:buNone/>
            </a:pPr>
            <a:r>
              <a:rPr lang="en-US" sz="1200" b="1" dirty="0">
                <a:solidFill>
                  <a:srgbClr val="F3F4F1"/>
                </a:solidFill>
                <a:latin typeface="Arial" pitchFamily="34" charset="0"/>
                <a:ea typeface="Arial" pitchFamily="34" charset="-122"/>
                <a:cs typeface="Arial" pitchFamily="34" charset="-120"/>
              </a:rPr>
              <a:t>Customer self-service portal</a:t>
            </a:r>
            <a:endParaRPr lang="en-US" sz="1200" dirty="0"/>
          </a:p>
        </p:txBody>
      </p:sp>
      <p:sp>
        <p:nvSpPr>
          <p:cNvPr id="15" name="Shape 13"/>
          <p:cNvSpPr/>
          <p:nvPr/>
        </p:nvSpPr>
        <p:spPr>
          <a:xfrm>
            <a:off x="6117336" y="4754880"/>
            <a:ext cx="2066544" cy="548640"/>
          </a:xfrm>
          <a:prstGeom prst="roundRect">
            <a:avLst>
              <a:gd name="adj" fmla="val 16667"/>
            </a:avLst>
          </a:prstGeom>
          <a:solidFill>
            <a:srgbClr val="1A2410"/>
          </a:solidFill>
          <a:ln w="12700">
            <a:solidFill>
              <a:srgbClr val="86BC25"/>
            </a:solidFill>
            <a:prstDash val="solid"/>
          </a:ln>
        </p:spPr>
      </p:sp>
      <p:sp>
        <p:nvSpPr>
          <p:cNvPr id="16" name="Text 14"/>
          <p:cNvSpPr/>
          <p:nvPr/>
        </p:nvSpPr>
        <p:spPr>
          <a:xfrm>
            <a:off x="6117336" y="4754880"/>
            <a:ext cx="2066544" cy="548640"/>
          </a:xfrm>
          <a:prstGeom prst="rect">
            <a:avLst/>
          </a:prstGeom>
          <a:noFill/>
          <a:ln/>
        </p:spPr>
        <p:txBody>
          <a:bodyPr wrap="square" rtlCol="0" anchor="ctr"/>
          <a:lstStyle/>
          <a:p>
            <a:pPr algn="ctr" indent="0" marL="0">
              <a:buNone/>
            </a:pPr>
            <a:r>
              <a:rPr lang="en-US" sz="1200" b="1" dirty="0">
                <a:solidFill>
                  <a:srgbClr val="F3F4F1"/>
                </a:solidFill>
                <a:latin typeface="Arial" pitchFamily="34" charset="0"/>
                <a:ea typeface="Arial" pitchFamily="34" charset="-122"/>
                <a:cs typeface="Arial" pitchFamily="34" charset="-120"/>
              </a:rPr>
              <a:t>Partner ordering</a:t>
            </a:r>
            <a:endParaRPr lang="en-US" sz="1200" dirty="0"/>
          </a:p>
        </p:txBody>
      </p:sp>
      <p:sp>
        <p:nvSpPr>
          <p:cNvPr id="17" name="Shape 15"/>
          <p:cNvSpPr/>
          <p:nvPr/>
        </p:nvSpPr>
        <p:spPr>
          <a:xfrm>
            <a:off x="8366760" y="4754880"/>
            <a:ext cx="3538728" cy="548640"/>
          </a:xfrm>
          <a:prstGeom prst="roundRect">
            <a:avLst>
              <a:gd name="adj" fmla="val 16667"/>
            </a:avLst>
          </a:prstGeom>
          <a:solidFill>
            <a:srgbClr val="1A2410"/>
          </a:solidFill>
          <a:ln w="12700">
            <a:solidFill>
              <a:srgbClr val="86BC25"/>
            </a:solidFill>
            <a:prstDash val="solid"/>
          </a:ln>
        </p:spPr>
      </p:sp>
      <p:sp>
        <p:nvSpPr>
          <p:cNvPr id="18" name="Text 16"/>
          <p:cNvSpPr/>
          <p:nvPr/>
        </p:nvSpPr>
        <p:spPr>
          <a:xfrm>
            <a:off x="8366760" y="4754880"/>
            <a:ext cx="3538728" cy="548640"/>
          </a:xfrm>
          <a:prstGeom prst="rect">
            <a:avLst/>
          </a:prstGeom>
          <a:noFill/>
          <a:ln/>
        </p:spPr>
        <p:txBody>
          <a:bodyPr wrap="square" rtlCol="0" anchor="ctr"/>
          <a:lstStyle/>
          <a:p>
            <a:pPr algn="ctr" indent="0" marL="0">
              <a:buNone/>
            </a:pPr>
            <a:r>
              <a:rPr lang="en-US" sz="1200" b="1" dirty="0">
                <a:solidFill>
                  <a:srgbClr val="F3F4F1"/>
                </a:solidFill>
                <a:latin typeface="Arial" pitchFamily="34" charset="0"/>
                <a:ea typeface="Arial" pitchFamily="34" charset="-122"/>
                <a:cs typeface="Arial" pitchFamily="34" charset="-120"/>
              </a:rPr>
              <a:t>Internal catalog / procurement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F11"/>
        </a:solidFill>
      </p:bgPr>
    </p:bg>
    <p:spTree>
      <p:nvGrpSpPr>
        <p:cNvPr id="1" name=""/>
        <p:cNvGrpSpPr/>
        <p:nvPr/>
      </p:nvGrpSpPr>
      <p:grpSpPr>
        <a:xfrm>
          <a:off x="0" y="0"/>
          <a:ext cx="0" cy="0"/>
          <a:chOff x="0" y="0"/>
          <a:chExt cx="0" cy="0"/>
        </a:xfrm>
      </p:grpSpPr>
      <p:sp>
        <p:nvSpPr>
          <p:cNvPr id="2" name="Text 0"/>
          <p:cNvSpPr/>
          <p:nvPr/>
        </p:nvSpPr>
        <p:spPr>
          <a:xfrm>
            <a:off x="566928" y="384048"/>
            <a:ext cx="7315200" cy="320040"/>
          </a:xfrm>
          <a:prstGeom prst="rect">
            <a:avLst/>
          </a:prstGeom>
          <a:noFill/>
          <a:ln/>
        </p:spPr>
        <p:txBody>
          <a:bodyPr wrap="square" rtlCol="0" anchor="ctr"/>
          <a:lstStyle/>
          <a:p>
            <a:pPr indent="0" marL="0">
              <a:buNone/>
            </a:pPr>
            <a:r>
              <a:rPr lang="en-US" sz="1100" b="1" spc="300" kern="0" dirty="0">
                <a:solidFill>
                  <a:srgbClr val="86BC25"/>
                </a:solidFill>
                <a:latin typeface="Arial" pitchFamily="34" charset="0"/>
                <a:ea typeface="Arial" pitchFamily="34" charset="-122"/>
                <a:cs typeface="Arial" pitchFamily="34" charset="-120"/>
              </a:rPr>
              <a:t>LET'S SEE IT</a:t>
            </a:r>
            <a:endParaRPr lang="en-US" sz="1100" dirty="0"/>
          </a:p>
        </p:txBody>
      </p:sp>
      <p:sp>
        <p:nvSpPr>
          <p:cNvPr id="3" name="Text 1"/>
          <p:cNvSpPr/>
          <p:nvPr/>
        </p:nvSpPr>
        <p:spPr>
          <a:xfrm>
            <a:off x="8881567" y="365760"/>
            <a:ext cx="2743200" cy="365760"/>
          </a:xfrm>
          <a:prstGeom prst="rect">
            <a:avLst/>
          </a:prstGeom>
          <a:noFill/>
          <a:ln/>
        </p:spPr>
        <p:txBody>
          <a:bodyPr wrap="square" rtlCol="0" anchor="ctr"/>
          <a:lstStyle/>
          <a:p>
            <a:pPr algn="r" indent="0" marL="0">
              <a:buNone/>
            </a:pPr>
            <a:r>
              <a:rPr lang="en-US" sz="1500" b="1" dirty="0">
                <a:solidFill>
                  <a:srgbClr val="F3F4F1"/>
                </a:solidFill>
                <a:latin typeface="Arial" pitchFamily="34" charset="0"/>
                <a:ea typeface="Arial" pitchFamily="34" charset="-122"/>
                <a:cs typeface="Arial" pitchFamily="34" charset="-120"/>
              </a:rPr>
              <a:t>Deloitte</a:t>
            </a:r>
            <a:pPr algn="r" indent="0" marL="0">
              <a:buNone/>
            </a:pPr>
            <a:r>
              <a:rPr lang="en-US" sz="1500" b="1" dirty="0">
                <a:solidFill>
                  <a:srgbClr val="86BC25"/>
                </a:solidFill>
                <a:latin typeface="Arial" pitchFamily="34" charset="0"/>
                <a:ea typeface="Arial" pitchFamily="34" charset="-122"/>
                <a:cs typeface="Arial" pitchFamily="34" charset="-120"/>
              </a:rPr>
              <a:t>.</a:t>
            </a:r>
            <a:endParaRPr lang="en-US" sz="1500" dirty="0"/>
          </a:p>
        </p:txBody>
      </p:sp>
      <p:sp>
        <p:nvSpPr>
          <p:cNvPr id="4" name="Shape 2"/>
          <p:cNvSpPr/>
          <p:nvPr/>
        </p:nvSpPr>
        <p:spPr>
          <a:xfrm>
            <a:off x="566928" y="841248"/>
            <a:ext cx="11057839" cy="0"/>
          </a:xfrm>
          <a:prstGeom prst="line">
            <a:avLst/>
          </a:prstGeom>
          <a:noFill/>
          <a:ln w="12700">
            <a:solidFill>
              <a:srgbClr val="2C2F34"/>
            </a:solidFill>
            <a:prstDash val="solid"/>
          </a:ln>
        </p:spPr>
      </p:sp>
      <p:sp>
        <p:nvSpPr>
          <p:cNvPr id="5" name="Text 3"/>
          <p:cNvSpPr/>
          <p:nvPr/>
        </p:nvSpPr>
        <p:spPr>
          <a:xfrm>
            <a:off x="566928" y="1024128"/>
            <a:ext cx="11057839" cy="914400"/>
          </a:xfrm>
          <a:prstGeom prst="rect">
            <a:avLst/>
          </a:prstGeom>
          <a:noFill/>
          <a:ln/>
        </p:spPr>
        <p:txBody>
          <a:bodyPr wrap="square" rtlCol="0" anchor="t"/>
          <a:lstStyle/>
          <a:p>
            <a:pPr algn="l" indent="0" marL="0">
              <a:buNone/>
            </a:pPr>
            <a:r>
              <a:rPr lang="en-US" sz="4000" b="1" dirty="0">
                <a:solidFill>
                  <a:srgbClr val="F3F4F1"/>
                </a:solidFill>
                <a:latin typeface="Arial" pitchFamily="34" charset="0"/>
                <a:ea typeface="Arial" pitchFamily="34" charset="-122"/>
                <a:cs typeface="Arial" pitchFamily="34" charset="-120"/>
              </a:rPr>
              <a:t>Live demo</a:t>
            </a:r>
            <a:endParaRPr lang="en-US" sz="4000" dirty="0"/>
          </a:p>
        </p:txBody>
      </p:sp>
      <p:sp>
        <p:nvSpPr>
          <p:cNvPr id="6" name="Shape 4"/>
          <p:cNvSpPr/>
          <p:nvPr/>
        </p:nvSpPr>
        <p:spPr>
          <a:xfrm>
            <a:off x="566928" y="6291072"/>
            <a:ext cx="11057839" cy="0"/>
          </a:xfrm>
          <a:prstGeom prst="line">
            <a:avLst/>
          </a:prstGeom>
          <a:noFill/>
          <a:ln w="12700">
            <a:solidFill>
              <a:srgbClr val="2C2F34"/>
            </a:solidFill>
            <a:prstDash val="solid"/>
          </a:ln>
        </p:spPr>
      </p:sp>
      <p:sp>
        <p:nvSpPr>
          <p:cNvPr id="7" name="Text 5"/>
          <p:cNvSpPr/>
          <p:nvPr/>
        </p:nvSpPr>
        <p:spPr>
          <a:xfrm>
            <a:off x="566928" y="6355080"/>
            <a:ext cx="8229600" cy="274320"/>
          </a:xfrm>
          <a:prstGeom prst="rect">
            <a:avLst/>
          </a:prstGeom>
          <a:noFill/>
          <a:ln/>
        </p:spPr>
        <p:txBody>
          <a:bodyPr wrap="square" rtlCol="0" anchor="ctr"/>
          <a:lstStyle/>
          <a:p>
            <a:pPr indent="0" marL="0">
              <a:buNone/>
            </a:pPr>
            <a:r>
              <a:rPr lang="en-US" sz="950" spc="100" kern="0" dirty="0">
                <a:solidFill>
                  <a:srgbClr val="8E948B"/>
                </a:solidFill>
                <a:latin typeface="Arial" pitchFamily="34" charset="0"/>
                <a:ea typeface="Arial" pitchFamily="34" charset="-122"/>
                <a:cs typeface="Arial" pitchFamily="34" charset="-120"/>
              </a:rPr>
              <a:t>Thank you · Meridian × Salesforce</a:t>
            </a:r>
            <a:endParaRPr lang="en-US" sz="950" dirty="0"/>
          </a:p>
        </p:txBody>
      </p:sp>
      <p:sp>
        <p:nvSpPr>
          <p:cNvPr id="8" name="Text 6"/>
          <p:cNvSpPr/>
          <p:nvPr/>
        </p:nvSpPr>
        <p:spPr>
          <a:xfrm>
            <a:off x="9795967" y="6355080"/>
            <a:ext cx="1828800" cy="274320"/>
          </a:xfrm>
          <a:prstGeom prst="rect">
            <a:avLst/>
          </a:prstGeom>
          <a:noFill/>
          <a:ln/>
        </p:spPr>
        <p:txBody>
          <a:bodyPr wrap="square" rtlCol="0" anchor="ctr"/>
          <a:lstStyle/>
          <a:p>
            <a:pPr algn="r" indent="0" marL="0">
              <a:buNone/>
            </a:pPr>
            <a:r>
              <a:rPr lang="en-US" sz="950" dirty="0">
                <a:solidFill>
                  <a:srgbClr val="8E948B"/>
                </a:solidFill>
                <a:latin typeface="Arial" pitchFamily="34" charset="0"/>
                <a:ea typeface="Arial" pitchFamily="34" charset="-122"/>
                <a:cs typeface="Arial" pitchFamily="34" charset="-120"/>
              </a:rPr>
              <a:t>12 / 12</a:t>
            </a:r>
            <a:endParaRPr lang="en-US" sz="950" dirty="0"/>
          </a:p>
        </p:txBody>
      </p:sp>
      <p:sp>
        <p:nvSpPr>
          <p:cNvPr id="9" name="Shape 7"/>
          <p:cNvSpPr/>
          <p:nvPr/>
        </p:nvSpPr>
        <p:spPr>
          <a:xfrm>
            <a:off x="566928" y="6748272"/>
            <a:ext cx="11057839" cy="45720"/>
          </a:xfrm>
          <a:prstGeom prst="rect">
            <a:avLst/>
          </a:prstGeom>
          <a:solidFill>
            <a:srgbClr val="86BC25"/>
          </a:solidFill>
          <a:ln/>
        </p:spPr>
      </p:sp>
      <p:sp>
        <p:nvSpPr>
          <p:cNvPr id="10" name="Text 8"/>
          <p:cNvSpPr/>
          <p:nvPr/>
        </p:nvSpPr>
        <p:spPr>
          <a:xfrm>
            <a:off x="566928" y="2240280"/>
            <a:ext cx="5486400" cy="274320"/>
          </a:xfrm>
          <a:prstGeom prst="rect">
            <a:avLst/>
          </a:prstGeom>
          <a:noFill/>
          <a:ln/>
        </p:spPr>
        <p:txBody>
          <a:bodyPr wrap="square" rtlCol="0" anchor="ctr"/>
          <a:lstStyle/>
          <a:p>
            <a:pPr indent="0" marL="0">
              <a:buNone/>
            </a:pPr>
            <a:r>
              <a:rPr lang="en-US" sz="1100" b="1" spc="200" kern="0" dirty="0">
                <a:solidFill>
                  <a:srgbClr val="86BC25"/>
                </a:solidFill>
                <a:latin typeface="Arial" pitchFamily="34" charset="0"/>
                <a:ea typeface="Arial" pitchFamily="34" charset="-122"/>
                <a:cs typeface="Arial" pitchFamily="34" charset="-120"/>
              </a:rPr>
              <a:t>IN THE WALKTHROUGH</a:t>
            </a:r>
            <a:endParaRPr lang="en-US" sz="1100" dirty="0"/>
          </a:p>
        </p:txBody>
      </p:sp>
      <p:sp>
        <p:nvSpPr>
          <p:cNvPr id="11" name="Text 9"/>
          <p:cNvSpPr/>
          <p:nvPr/>
        </p:nvSpPr>
        <p:spPr>
          <a:xfrm>
            <a:off x="566928" y="2651760"/>
            <a:ext cx="5394960" cy="2743200"/>
          </a:xfrm>
          <a:prstGeom prst="rect">
            <a:avLst/>
          </a:prstGeom>
          <a:noFill/>
          <a:ln/>
        </p:spPr>
        <p:txBody>
          <a:bodyPr wrap="square" rtlCol="0" anchor="t"/>
          <a:lstStyle/>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Browse, add to cart, check out</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Watch an order update live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from Salesforce</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Raise &amp; track a support ticket</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See the records land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in the org</a:t>
            </a:r>
            <a:endParaRPr lang="en-US" sz="1500" dirty="0"/>
          </a:p>
        </p:txBody>
      </p:sp>
      <p:sp>
        <p:nvSpPr>
          <p:cNvPr id="12" name="Text 10"/>
          <p:cNvSpPr/>
          <p:nvPr/>
        </p:nvSpPr>
        <p:spPr>
          <a:xfrm>
            <a:off x="6419088" y="2240280"/>
            <a:ext cx="5486400" cy="274320"/>
          </a:xfrm>
          <a:prstGeom prst="rect">
            <a:avLst/>
          </a:prstGeom>
          <a:noFill/>
          <a:ln/>
        </p:spPr>
        <p:txBody>
          <a:bodyPr wrap="square" rtlCol="0" anchor="ctr"/>
          <a:lstStyle/>
          <a:p>
            <a:pPr indent="0" marL="0">
              <a:buNone/>
            </a:pPr>
            <a:r>
              <a:rPr lang="en-US" sz="1100" b="1" spc="200" kern="0" dirty="0">
                <a:solidFill>
                  <a:srgbClr val="86BC25"/>
                </a:solidFill>
                <a:latin typeface="Arial" pitchFamily="34" charset="0"/>
                <a:ea typeface="Arial" pitchFamily="34" charset="-122"/>
                <a:cs typeface="Arial" pitchFamily="34" charset="-120"/>
              </a:rPr>
              <a:t>WHERE IT CAN GO NEXT</a:t>
            </a:r>
            <a:endParaRPr lang="en-US" sz="1100" dirty="0"/>
          </a:p>
        </p:txBody>
      </p:sp>
      <p:sp>
        <p:nvSpPr>
          <p:cNvPr id="13" name="Text 11"/>
          <p:cNvSpPr/>
          <p:nvPr/>
        </p:nvSpPr>
        <p:spPr>
          <a:xfrm>
            <a:off x="6419088" y="2651760"/>
            <a:ext cx="5394960" cy="2743200"/>
          </a:xfrm>
          <a:prstGeom prst="rect">
            <a:avLst/>
          </a:prstGeom>
          <a:noFill/>
          <a:ln/>
        </p:spPr>
        <p:txBody>
          <a:bodyPr wrap="square" rtlCol="0" anchor="t"/>
          <a:lstStyle/>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Subscriptions (Contracts)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&amp; replenishment</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AI features when entitled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 Einstein / Agentforce / Data Cloud</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More locales &amp; channels</a:t>
            </a:r>
            <a:endParaRPr lang="en-US" sz="1500" dirty="0"/>
          </a:p>
          <a:p>
            <a:pPr marL="203200" indent="-203200">
              <a:lnSpc>
                <a:spcPct val="112000"/>
              </a:lnSpc>
              <a:spcAft>
                <a:spcPts val="1400"/>
              </a:spcAft>
              <a:buSzPct val="100000"/>
              <a:buChar char="▪"/>
            </a:pPr>
            <a:r>
              <a:rPr lang="en-US" sz="1500" b="1" dirty="0">
                <a:solidFill>
                  <a:srgbClr val="F3F4F1"/>
                </a:solidFill>
                <a:latin typeface="Arial" pitchFamily="34" charset="0"/>
                <a:ea typeface="Arial" pitchFamily="34" charset="-122"/>
                <a:cs typeface="Arial" pitchFamily="34" charset="-120"/>
              </a:rPr>
              <a:t>Hardened payments </a:t>
            </a:r>
            <a:pPr indent="0" marL="0">
              <a:lnSpc>
                <a:spcPct val="112000"/>
              </a:lnSpc>
              <a:buNone/>
            </a:pPr>
            <a:r>
              <a:rPr lang="en-US" sz="1500" dirty="0">
                <a:solidFill>
                  <a:srgbClr val="C4C8C0"/>
                </a:solidFill>
                <a:latin typeface="Arial" pitchFamily="34" charset="0"/>
                <a:ea typeface="Arial" pitchFamily="34" charset="-122"/>
                <a:cs typeface="Arial" pitchFamily="34" charset="-120"/>
              </a:rPr>
              <a:t>(live Stripe)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 Salesforce Commerce, Built with Claude</dc:title>
  <dc:subject>PptxGenJS Presentation</dc:subject>
  <dc:creator>Meridian demo</dc:creator>
  <cp:lastModifiedBy>Meridian demo</cp:lastModifiedBy>
  <cp:revision>1</cp:revision>
  <dcterms:created xsi:type="dcterms:W3CDTF">2026-07-26T11:14:13Z</dcterms:created>
  <dcterms:modified xsi:type="dcterms:W3CDTF">2026-07-26T11:14:13Z</dcterms:modified>
</cp:coreProperties>
</file>